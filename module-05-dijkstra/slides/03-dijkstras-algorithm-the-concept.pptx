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74320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058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A0C4E8"/>
                </a:solidFill>
                <a:latin typeface="Calibri"/>
              </a:defRPr>
            </a:pPr>
            <a:r>
              <a:t>Module 5: Dijkstra's Algorithm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FFFFFF"/>
                </a:solidFill>
                <a:latin typeface="Calibri"/>
              </a:defRPr>
            </a:pPr>
            <a:r>
              <a:t>Dijkstra's Algorithm — The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108960"/>
            <a:ext cx="54864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Learning Objectives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Describe the three key data structures used by Dijkstra's algorithm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Trace the algorithm step by step on a small grid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Reconstruct a shortest path from the previous-node dictionary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Compare Dijkstra's output to Manhattan's output with and without obstacles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0" y="3108960"/>
            <a:ext cx="45720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1B3A5C"/>
                </a:solidFill>
                <a:latin typeface="Calibri"/>
              </a:defRPr>
            </a:pPr>
            <a:r>
              <a:t>Agenda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The big idea: exploring outward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Key data structures (10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Step-by-step walkthrough on a 3x3 grid (15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Reconstructing the path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Manhattan vs. Dijkstra comparison (5 min)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Paper tracing exercise (10 min)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Hook — How Does GPS Find the Fastest Route?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Question: "When Google Maps gives you directions, how does it know the shortest route — especially with road closures?"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It doesn't try every possible route. That would take forever on a real map with millions of roads.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Instead it uses an algorithm similar to Dijkstra's: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Start at your location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Explore nearby intersections first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Spread outward, always picking the closest unvisited intersection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Stop when you reach the destination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Edsger Dijkstra invented this algorithm in 1956 — and variations of it still power navigation today.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Three Key Data Structures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Dijkstra's algorithm uses three dictionaries/collections: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Data Structure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distances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dictionary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Shortest known distance from start to each node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previous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dictionary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Which node we came from to reach each node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visited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list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Nodes we've finished processing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Initial setup (starting from (0,0)):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301752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310896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distances = {(0,0): 0}      # Start node is distance 0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previous  = {(0,0): None}   # Start node has no previous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visited   = []               # Nothing visited yet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Every other node starts with no entry — meaning distance is unknown (infinity).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The Algorithm — One Sentence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Repeat: Pick the unvisited node with the smallest distance, visit its neighbors, mark it visited.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In more detail: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From all unvisited nodes that have a known distance, pick the one with the smallest distance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For each of that node's neighbors: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If the neighbor hasn't been visited AND the new distance is shorter (or first time seen):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Update its distance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Record where we came from (previous)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Mark the current node as visited (done with it)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Repeat until the destination is visited (or no nodes left)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Walkthrough —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3x3 grid with (1, 1) blocked. Find shortest path from (0,0) to (2,2).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45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Graph dictionary: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920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Starting state: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194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530352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--- (0,1) --- (0,2)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 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(1,0)               (1,2)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 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(2,0) --- (2,1) --- (2,2)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2468880"/>
            <a:ext cx="530352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2560320"/>
            <a:ext cx="49377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graph = {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(0,0): [(0,1), (1,0)],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(0,1): [(0,0), (0,2)],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(0,2): [(0,1), (1,2)],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(1,0): [(0,0), (2,0)],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(1,2): [(0,2), (2,2)],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(2,0): [(1,0), (2,1)],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(2,1): [(2,0), (2,2)],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(2,2): [(2,1), (1,2)]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516636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525780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distances: {(0,0): 0}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previous:  {(0,0): None}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visited:   []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Walkthrough — Steps 1-3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1: Visit (0,0) — distance 0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Neighbors: (0,1) and (1,0)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(0,1): distance = 0 + 1 = 1, previous = (0,0)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(1,0): distance = 0 + 1 = 1, previous = (0,0)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Mark (0,0) visited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distances: {(0,0): 0, (0,1): 1, (1,0): 1}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previous:  {(0,0): None, (0,1): (0,0), (1,0): (0,0)}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visited:   [(0,0)]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Step 2: Visit (0,1) — distance 1 (pick either node with distance 1)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Neighbors: (0,0) already visited, (0,2) unseen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(0,2): distance = 1 + 1 = 2, previous = (0,1)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Mark (0,1) visited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8" name="Rounded Rectangle 7"/>
          <p:cNvSpPr/>
          <p:nvPr/>
        </p:nvSpPr>
        <p:spPr>
          <a:xfrm>
            <a:off x="548640" y="2468880"/>
            <a:ext cx="109728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distances: {(0,0): 0, (0,1): 1, (1,0): 1, (0,2): 2}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visited:   [(0,0), (0,1)]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3375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Step 3: Visit (1,0) — distance 1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Neighbors: (0,0) already visited, (2,0) unseen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(2,0): distance = 1 + 1 = 2, previous = (1,0)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Mark (1,0) visited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11" name="Rounded Rectangle 10"/>
          <p:cNvSpPr/>
          <p:nvPr/>
        </p:nvSpPr>
        <p:spPr>
          <a:xfrm>
            <a:off x="548640" y="3337560"/>
            <a:ext cx="109728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distances: {..., (0,2): 2, (2,0): 2}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visited:   [(0,0), (0,1), (1,0)]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Walkthrough — Steps 4-6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4: Visit (0,2) — distance 2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Neighbors: (0,1) visited, (1,2) unseen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(1,2): distance = 2 + 1 = 3, previous = (0,2)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Mark (0,2) visited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Step 5: Visit (2,0) — distance 2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Neighbors: (1,0) visited, (2,1) unseen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(2,1): distance = 2 + 1 = 3, previous = (2,0)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Mark (2,0) visited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Step 6: Visit (1,2) — distance 3 (pick either node with distance 3)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Neighbors: (0,2) visited, (2,2) unseen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(2,2): distance = 3 + 1 = 4, previous = (1,2)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Mark (1,2) visited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(2,2) is our destination! We could stop here, but let's see the full result.)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Final distances from (0,0):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5212080"/>
            <a:ext cx="5669280" cy="9601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303520"/>
            <a:ext cx="5303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(0,0): 0    (0,1): 1    (0,2): 2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(1,0): 1                (1,2): 3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(2,0): 2    (2,1): 3    (2,2):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5212080"/>
            <a:ext cx="5029200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Reconstructing the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The previous dictionary tells us how to trace back from destination to start: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sp>
        <p:nvSpPr>
          <p:cNvPr id="5" name="Rounded Rectangle 4"/>
          <p:cNvSpPr/>
          <p:nvPr/>
        </p:nvSpPr>
        <p:spPr>
          <a:xfrm>
            <a:off x="548640" y="1371600"/>
            <a:ext cx="10972800" cy="2560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463040"/>
            <a:ext cx="1060704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previous = {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(0,0): None,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(0,1): (0,0),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(0,2): (0,1),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(1,0): (0,0),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(1,2): (0,2),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(2,0): (1,0),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(2,1): (2,0),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  (2,2): (1,2)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}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069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Trace back from (2,2):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(2,2) came from (1,2)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(1,2) came from (0,2)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(0,2) came from (0,1)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(0,1) came from (0,0)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(0,0) has previous = None — we're at the start!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Reverse it to get the path: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4069080"/>
            <a:ext cx="10972800" cy="7315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4160520"/>
            <a:ext cx="106070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→ (0,1) → (0,2) → (1,2) → (2,2)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This is the shortest path around the blocked node (1,1)! Total: 4 steps.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Manhattan vs. Dijkstra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No obstacles — same result: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914400" y="137160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Manhattan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Dijkstra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 to (2,2)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(0,0)→(1,0)→(2,0)→(2,1)→(2,2)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Could find same or different 4-step path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shortest distance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Same shortest distance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48640" y="30175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With (1,1) blocked — different paths: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14400" y="3017520"/>
          <a:ext cx="1005840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52800"/>
                <a:gridCol w="3352800"/>
                <a:gridCol w="3352800"/>
              </a:tblGrid>
              <a:tr h="365760"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Manhattan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Dijkstra</a:t>
                      </a:r>
                    </a:p>
                  </a:txBody>
                  <a:tcPr>
                    <a:solidFill>
                      <a:srgbClr val="2E75B6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 to (2,2)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(0,0)→(1,0)→ STUCK at (1,1)!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(0,0)→(0,1)→(0,2)→(1,2)→(2,2)</a:t>
                      </a:r>
                    </a:p>
                  </a:txBody>
                  <a:tcPr/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Steps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Cannot complete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E8F0F8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Result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Fails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1300">
                          <a:latin typeface="Calibri"/>
                        </a:defRPr>
                      </a:pPr>
                      <a:r>
                        <a:t>Finds shortest path around obstacle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Key design insight: Dijkstra's compute_path returns a list of tuples — the same format as Manhattan's compute_path. So our Navigator class doesn't need to change!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Your Turn!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Activity: Trace Dijkstra by Hand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Use this 3x3 grid with (0, 1) blocked. Find the shortest path from (0, 0) to (0, 2).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920240"/>
            <a:ext cx="5669280" cy="1417320"/>
          </a:xfrm>
          <a:prstGeom prst="roundRect">
            <a:avLst/>
          </a:prstGeom>
          <a:solidFill>
            <a:srgbClr val="F0F0F0"/>
          </a:solidFill>
          <a:ln w="12700">
            <a:solidFill>
              <a:srgbClr val="9999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011680"/>
            <a:ext cx="53035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(0,0)           (0,2)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(1,0) --- (1,1) --- (1,2)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  |         |       |</a:t>
            </a:r>
          </a:p>
          <a:p>
            <a:pPr>
              <a:spcAft>
                <a:spcPts val="100"/>
              </a:spcAft>
              <a:defRPr sz="1300">
                <a:solidFill>
                  <a:srgbClr val="333333"/>
                </a:solidFill>
                <a:latin typeface="Courier New"/>
              </a:defRPr>
            </a:pPr>
            <a:r>
              <a:t>(2,0) --- (2,1) --- (2,2)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0" y="1920240"/>
            <a:ext cx="50292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B3A5C"/>
                </a:solidFill>
                <a:latin typeface="Calibri"/>
              </a:defRPr>
            </a:pPr>
            <a:r>
              <a:t>Fill in this table as you trace: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Then reconstruct the path using the previous dictionary.</a:t>
            </a:r>
          </a:p>
          <a:p>
            <a:pPr>
              <a:spcAft>
                <a:spcPts val="400"/>
              </a:spcAft>
              <a:defRPr sz="1800" b="1">
                <a:solidFill>
                  <a:srgbClr val="1B3A5C"/>
                </a:solidFill>
                <a:latin typeface="Calibri"/>
              </a:defRPr>
            </a:pPr>
            <a:r>
              <a:t>Checkpoints: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pick the correct next node (smallest distance, unvisited)?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update neighbor distances correctly?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Can you trace back through the previous dictionary to build the path?</a:t>
            </a:r>
          </a:p>
          <a:p>
            <a:pPr>
              <a:spcAft>
                <a:spcPts val="400"/>
              </a:spcAft>
              <a:defRPr sz="1600" b="0">
                <a:solidFill>
                  <a:srgbClr val="000000"/>
                </a:solidFill>
                <a:latin typeface="Calibri"/>
              </a:defRPr>
            </a:pPr>
            <a:r>
              <a:t>How many steps does the path take?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B3A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1371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  <a:latin typeface="Calibri"/>
              </a:defRPr>
            </a:pPr>
            <a:r>
              <a:t>Connection to Next Lesson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What you did today: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Learned the three data structures: distances, previous, visited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Traced Dijkstra's algorithm step by step on a grid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Reconstructed the shortest path from the previous dictionary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Compared Dijkstra to Manhattan pathfinding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Next lesson (Lesson 4):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Implement Dijkstra's algorithm as a Python class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Write compute_path(destination) that returns a list of tuples</a:t>
            </a:r>
          </a:p>
          <a:p>
            <a:pPr>
              <a:spcAft>
                <a:spcPts val="400"/>
              </a:spcAft>
              <a:defRPr sz="1700" b="0">
                <a:solidFill>
                  <a:srgbClr val="000000"/>
                </a:solidFill>
                <a:latin typeface="Calibri"/>
              </a:defRPr>
            </a:pPr>
            <a:r>
              <a:t>Same interface as Manhattan — so Navigator works with both!</a:t>
            </a:r>
          </a:p>
          <a:p>
            <a:pPr>
              <a:spcAft>
                <a:spcPts val="400"/>
              </a:spcAft>
              <a:defRPr sz="400" b="0">
                <a:solidFill>
                  <a:srgbClr val="000000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2000" b="1">
                <a:solidFill>
                  <a:srgbClr val="1B3A5C"/>
                </a:solidFill>
                <a:latin typeface="Calibri"/>
              </a:defRPr>
            </a:pPr>
            <a:r>
              <a:t>Key insight: You traced the algorithm by hand today. Next lesson, you'll teach the computer to do the exact same steps.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