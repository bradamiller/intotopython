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7" r:id="rId4"/>
    <p:sldId id="270" r:id="rId5"/>
    <p:sldId id="271" r:id="rId6"/>
    <p:sldId id="272" r:id="rId7"/>
    <p:sldId id="262" r:id="rId8"/>
    <p:sldId id="27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58"/>
  </p:normalViewPr>
  <p:slideViewPr>
    <p:cSldViewPr snapToGrid="0" snapToObjects="1">
      <p:cViewPr varScale="1">
        <p:scale>
          <a:sx n="99" d="100"/>
          <a:sy n="99" d="100"/>
        </p:scale>
        <p:origin x="192" y="63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A0C4E8"/>
                </a:solidFill>
                <a:latin typeface="Calibri"/>
              </a:defRPr>
            </a:pPr>
            <a:r>
              <a:t>Module 3: Grid Driving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200" b="1">
                <a:solidFill>
                  <a:srgbClr val="FFFFFF"/>
                </a:solidFill>
                <a:latin typeface="Calibri"/>
              </a:defRPr>
            </a:pPr>
            <a:r>
              <a:t>Driving Multiple Intersections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108960"/>
            <a:ext cx="54864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B3A5C"/>
                </a:solidFill>
                <a:latin typeface="Calibri"/>
              </a:defRPr>
            </a:pPr>
            <a:r>
              <a:t>Learning Objectives</a:t>
            </a:r>
          </a:p>
          <a:p>
            <a:pPr>
              <a:spcAft>
                <a:spcPts val="4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Explain why the robot must clear an intersection before continuing</a:t>
            </a:r>
          </a:p>
          <a:p>
            <a:pPr>
              <a:spcAft>
                <a:spcPts val="4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Write code that drives past an intersection to the next one</a:t>
            </a:r>
          </a:p>
          <a:p>
            <a:pPr>
              <a:spcAft>
                <a:spcPts val="4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Use a for loop to drive a specified number of intersections</a:t>
            </a:r>
          </a:p>
          <a:p>
            <a:pPr>
              <a:spcAft>
                <a:spcPts val="4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Count intersections accurately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3108960"/>
            <a:ext cx="45720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B3A5C"/>
                </a:solidFill>
                <a:latin typeface="Calibri"/>
              </a:defRPr>
            </a:pPr>
            <a:r>
              <a:t>Agenda</a:t>
            </a:r>
          </a:p>
          <a:p>
            <a:pPr>
              <a:spcAft>
                <a:spcPts val="4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The clearing problem (10 min)</a:t>
            </a:r>
          </a:p>
          <a:p>
            <a:pPr>
              <a:spcAft>
                <a:spcPts val="4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Driving past an intersection (10 min)</a:t>
            </a:r>
          </a:p>
          <a:p>
            <a:pPr>
              <a:spcAft>
                <a:spcPts val="4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For loops for counting (10 min)</a:t>
            </a:r>
          </a:p>
          <a:p>
            <a:pPr>
              <a:spcAft>
                <a:spcPts val="4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Practice (15 min)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Hook — The Stuck Robot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Demo: Robot drives to first intersection, stops.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  <a:endParaRPr/>
          </a:p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Run track_until_cross() again...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Nothing happens! The robot doesn't move!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  <a:endParaRPr/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Why? The robot is still ON the cross. Both sensors are high. It thinks it's already at an intersection!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  <a:endParaRPr/>
          </a:p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Question: "How do we tell the robot to keep going to the NEXT intersection?"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The Clearing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After track_until_cross(), the robot is AT the cross: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1968500"/>
            <a:ext cx="4953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If we call track_until_cross() again: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Both sensors are already above threshold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is_at_cross() returns True immediately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The robot "detects" the intersection it's already on!</a:t>
            </a:r>
          </a:p>
          <a:p>
            <a:pPr>
              <a:spcAft>
                <a:spcPts val="400"/>
              </a:spcAft>
              <a:defRPr sz="1800" b="1">
                <a:solidFill>
                  <a:srgbClr val="1B3A5C"/>
                </a:solidFill>
                <a:latin typeface="Calibri"/>
              </a:defRPr>
            </a:pPr>
            <a:r>
              <a:t>Solution: Drive forward briefly to move PAST the cross.</a:t>
            </a:r>
          </a:p>
        </p:txBody>
      </p:sp>
      <p:sp>
        <p:nvSpPr>
          <p:cNvPr id="100" name="Road H"/>
          <p:cNvSpPr/>
          <p:nvPr/>
        </p:nvSpPr>
        <p:spPr>
          <a:xfrm>
            <a:off x="1524000" y="3937000"/>
            <a:ext cx="3810000" cy="762000"/>
          </a:xfrm>
          <a:prstGeom prst="rect">
            <a:avLst/>
          </a:prstGeom>
          <a:solidFill>
            <a:srgbClr val="D9D9D9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101" name="Road V"/>
          <p:cNvSpPr/>
          <p:nvPr/>
        </p:nvSpPr>
        <p:spPr>
          <a:xfrm>
            <a:off x="3048000" y="2413000"/>
            <a:ext cx="762000" cy="3810000"/>
          </a:xfrm>
          <a:prstGeom prst="rect">
            <a:avLst/>
          </a:prstGeom>
          <a:solidFill>
            <a:srgbClr val="D9D9D9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cxnSp>
        <p:nvCxnSpPr>
          <p:cNvPr id="102" name="Line Left"/>
          <p:cNvCxnSpPr/>
          <p:nvPr/>
        </p:nvCxnSpPr>
        <p:spPr>
          <a:xfrm>
            <a:off x="1587500" y="4318000"/>
            <a:ext cx="1460500" cy="0"/>
          </a:xfrm>
          <a:prstGeom prst="line">
            <a:avLst/>
          </a:prstGeom>
          <a:ln w="76200" cap="rnd">
            <a:solidFill>
              <a:srgbClr val="1B3A5C"/>
            </a:solidFill>
            <a:round/>
          </a:ln>
        </p:spPr>
      </p:cxnSp>
      <p:cxnSp>
        <p:nvCxnSpPr>
          <p:cNvPr id="103" name="Line Right"/>
          <p:cNvCxnSpPr/>
          <p:nvPr/>
        </p:nvCxnSpPr>
        <p:spPr>
          <a:xfrm>
            <a:off x="3619500" y="4318000"/>
            <a:ext cx="1460500" cy="0"/>
          </a:xfrm>
          <a:prstGeom prst="line">
            <a:avLst/>
          </a:prstGeom>
          <a:ln w="76200" cap="rnd">
            <a:solidFill>
              <a:srgbClr val="1B3A5C"/>
            </a:solidFill>
            <a:round/>
          </a:ln>
        </p:spPr>
      </p:cxnSp>
      <p:cxnSp>
        <p:nvCxnSpPr>
          <p:cNvPr id="104" name="Line Top"/>
          <p:cNvCxnSpPr/>
          <p:nvPr/>
        </p:nvCxnSpPr>
        <p:spPr>
          <a:xfrm>
            <a:off x="3429000" y="2476500"/>
            <a:ext cx="0" cy="1460500"/>
          </a:xfrm>
          <a:prstGeom prst="line">
            <a:avLst/>
          </a:prstGeom>
          <a:ln w="76200" cap="rnd">
            <a:solidFill>
              <a:srgbClr val="1B3A5C"/>
            </a:solidFill>
            <a:round/>
          </a:ln>
        </p:spPr>
      </p:cxnSp>
      <p:cxnSp>
        <p:nvCxnSpPr>
          <p:cNvPr id="105" name="Line Bottom"/>
          <p:cNvCxnSpPr/>
          <p:nvPr/>
        </p:nvCxnSpPr>
        <p:spPr>
          <a:xfrm>
            <a:off x="3429000" y="4508500"/>
            <a:ext cx="0" cy="1460500"/>
          </a:xfrm>
          <a:prstGeom prst="line">
            <a:avLst/>
          </a:prstGeom>
          <a:ln w="76200" cap="rnd">
            <a:solidFill>
              <a:srgbClr val="1B3A5C"/>
            </a:solidFill>
            <a:round/>
          </a:ln>
        </p:spPr>
      </p:cxnSp>
      <p:sp>
        <p:nvSpPr>
          <p:cNvPr id="106" name="Label"/>
          <p:cNvSpPr/>
          <p:nvPr/>
        </p:nvSpPr>
        <p:spPr>
          <a:xfrm>
            <a:off x="863600" y="4140200"/>
            <a:ext cx="508000" cy="355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1400" b="1" dirty="0">
                <a:solidFill>
                  <a:srgbClr val="1B3A5C"/>
                </a:solidFill>
                <a:latin typeface="Calibri"/>
              </a:rPr>
              <a:t>Line</a:t>
            </a:r>
          </a:p>
        </p:txBody>
      </p:sp>
      <p:sp>
        <p:nvSpPr>
          <p:cNvPr id="107" name="Label"/>
          <p:cNvSpPr/>
          <p:nvPr/>
        </p:nvSpPr>
        <p:spPr>
          <a:xfrm>
            <a:off x="5334000" y="4140200"/>
            <a:ext cx="508000" cy="355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1400" b="1" dirty="0">
                <a:solidFill>
                  <a:srgbClr val="1B3A5C"/>
                </a:solidFill>
                <a:latin typeface="Calibri"/>
              </a:rPr>
              <a:t>Line</a:t>
            </a:r>
          </a:p>
        </p:txBody>
      </p:sp>
      <p:sp>
        <p:nvSpPr>
          <p:cNvPr id="108" name="Label"/>
          <p:cNvSpPr/>
          <p:nvPr/>
        </p:nvSpPr>
        <p:spPr>
          <a:xfrm>
            <a:off x="3175000" y="2006600"/>
            <a:ext cx="508000" cy="355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1400" b="1" dirty="0">
                <a:solidFill>
                  <a:srgbClr val="1B3A5C"/>
                </a:solidFill>
                <a:latin typeface="Calibri"/>
              </a:rPr>
              <a:t>Line</a:t>
            </a:r>
          </a:p>
        </p:txBody>
      </p:sp>
      <p:sp>
        <p:nvSpPr>
          <p:cNvPr id="109" name="Label"/>
          <p:cNvSpPr/>
          <p:nvPr/>
        </p:nvSpPr>
        <p:spPr>
          <a:xfrm>
            <a:off x="3175000" y="6248400"/>
            <a:ext cx="508000" cy="355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1400" b="1" dirty="0">
                <a:solidFill>
                  <a:srgbClr val="1B3A5C"/>
                </a:solidFill>
                <a:latin typeface="Calibri"/>
              </a:rPr>
              <a:t>Line</a:t>
            </a:r>
          </a:p>
        </p:txBody>
      </p:sp>
      <p:sp>
        <p:nvSpPr>
          <p:cNvPr id="110" name="Robot"/>
          <p:cNvSpPr/>
          <p:nvPr/>
        </p:nvSpPr>
        <p:spPr>
          <a:xfrm>
            <a:off x="2908300" y="4445000"/>
            <a:ext cx="1041400" cy="533400"/>
          </a:xfrm>
          <a:prstGeom prst="roundRect">
            <a:avLst>
              <a:gd name="adj" fmla="val 16667"/>
            </a:avLst>
          </a:prstGeom>
          <a:solidFill>
            <a:srgbClr val="E74C3C"/>
          </a:solidFill>
          <a:ln w="19050">
            <a:solidFill>
              <a:srgbClr val="C0392B"/>
            </a:solidFill>
          </a:ln>
          <a:effectLst>
            <a:outerShdw blurRad="50800" dist="25400" dir="5400000" algn="t" rotWithShape="0">
              <a:srgbClr val="000000">
                <a:alpha val="30000"/>
              </a:srgbClr>
            </a:outerShdw>
          </a:effectLst>
        </p:spPr>
        <p:txBody>
          <a:bodyPr wrap="none" lIns="0" tIns="0" rIns="0" bIns="0" anchor="ctr"/>
          <a:lstStyle/>
          <a:p>
            <a:pPr algn="ctr"/>
            <a:r>
              <a:rPr lang="en-US" sz="1400" b="1" dirty="0">
                <a:solidFill>
                  <a:srgbClr val="FFFFFF"/>
                </a:solidFill>
                <a:latin typeface="Calibri"/>
              </a:rPr>
              <a:t>ROBOT</a:t>
            </a:r>
          </a:p>
        </p:txBody>
      </p:sp>
      <p:sp>
        <p:nvSpPr>
          <p:cNvPr id="111" name="Sensor L"/>
          <p:cNvSpPr/>
          <p:nvPr/>
        </p:nvSpPr>
        <p:spPr>
          <a:xfrm>
            <a:off x="3162300" y="4216400"/>
            <a:ext cx="203200" cy="203200"/>
          </a:xfrm>
          <a:prstGeom prst="ellipse">
            <a:avLst/>
          </a:prstGeom>
          <a:solidFill>
            <a:srgbClr val="F1C40F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112" name="Sensor R"/>
          <p:cNvSpPr/>
          <p:nvPr/>
        </p:nvSpPr>
        <p:spPr>
          <a:xfrm>
            <a:off x="3492500" y="4216400"/>
            <a:ext cx="203200" cy="203200"/>
          </a:xfrm>
          <a:prstGeom prst="ellipse">
            <a:avLst/>
          </a:prstGeom>
          <a:solidFill>
            <a:srgbClr val="F1C40F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113" name="Callout"/>
          <p:cNvSpPr/>
          <p:nvPr/>
        </p:nvSpPr>
        <p:spPr>
          <a:xfrm>
            <a:off x="4064000" y="3048000"/>
            <a:ext cx="2476500" cy="406400"/>
          </a:xfrm>
          <a:prstGeom prst="wedgeRoundRectCallout">
            <a:avLst>
              <a:gd name="adj1" fmla="val -65000"/>
              <a:gd name="adj2" fmla="val 60000"/>
              <a:gd name="adj3" fmla="val 16667"/>
            </a:avLst>
          </a:prstGeom>
          <a:solidFill>
            <a:srgbClr val="FFF3CD"/>
          </a:solidFill>
          <a:ln w="12700">
            <a:solidFill>
              <a:srgbClr val="E8A317"/>
            </a:solidFill>
          </a:ln>
        </p:spPr>
        <p:txBody>
          <a:bodyPr wrap="square" lIns="36000" tIns="18000" rIns="36000" bIns="18000" anchor="ctr"/>
          <a:lstStyle/>
          <a:p>
            <a:pPr algn="ctr"/>
            <a:r>
              <a:rPr lang="en-US" sz="1400" b="1" dirty="0">
                <a:solidFill>
                  <a:srgbClr val="E74C3C"/>
                </a:solidFill>
                <a:latin typeface="Calibri"/>
              </a:rPr>
              <a:t>Sensors right on the cross!</a:t>
            </a:r>
          </a:p>
        </p:txBody>
      </p:sp>
    </p:spTree>
    <p:extLst>
      <p:ext uri="{BB962C8B-B14F-4D97-AF65-F5344CB8AC3E}">
        <p14:creationId xmlns:p14="http://schemas.microsoft.com/office/powerpoint/2010/main" val="9571511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Clearing the Intersection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The fix: Drive forward a short distance after detecting: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41500"/>
            <a:ext cx="5669280" cy="233172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1932940"/>
            <a:ext cx="530352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# Detect the intersection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tracker.track_until_cross()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endParaRPr/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# Clear the intersection (drive past it)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tracker.drivetrain.straight(3)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endParaRPr/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# Now we can detect the NEXT intersection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tracker.track_until_cross()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1841500"/>
            <a:ext cx="5029200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The clearing drive: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Drives forward a short distance (3 cm)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Just enough to move past the cross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Consistent regardless of battery voltage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Adjust distance for your grid spacing</a:t>
            </a:r>
          </a:p>
        </p:txBody>
      </p:sp>
    </p:spTree>
    <p:extLst>
      <p:ext uri="{BB962C8B-B14F-4D97-AF65-F5344CB8AC3E}">
        <p14:creationId xmlns:p14="http://schemas.microsoft.com/office/powerpoint/2010/main" val="41432199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Driving Two Intersections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Complete program: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48640" y="2011680"/>
            <a:ext cx="10972800" cy="3539114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2103120"/>
            <a:ext cx="1060704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rPr lang="en-US" dirty="0"/>
              <a:t>board.wait_for_button()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endParaRPr lang="en-US" dirty="0"/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rPr lang="en-US" dirty="0"/>
              <a:t># Intersection 1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rPr lang="en-US" dirty="0"/>
              <a:t>print("Driving to intersection 1...")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rPr lang="en-US" dirty="0"/>
              <a:t>tracker.track_until_cross()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rPr lang="en-US" dirty="0"/>
              <a:t>print("Reached intersection 1!")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endParaRPr lang="en-US" dirty="0"/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rPr lang="en-US" dirty="0"/>
              <a:t># Clear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rPr lang="en-US" dirty="0"/>
              <a:t>tracker.drivetrain.straight(3)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endParaRPr lang="en-US" dirty="0"/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rPr lang="en-US" dirty="0"/>
              <a:t># Intersection 2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rPr lang="en-US" dirty="0"/>
              <a:t>print("Driving to intersection 2...")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rPr lang="en-US" dirty="0"/>
              <a:t>tracker.track_until_cross()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rPr lang="en-US" dirty="0"/>
              <a:t>print("Reached intersection 2!")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687954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rPr dirty="0"/>
              <a:t>This works! But what about 5 intersections? 10?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9969512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Using a For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A for loop makes it easy to drive any number of intersections: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48640" y="1841500"/>
            <a:ext cx="10972800" cy="278892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1932939"/>
            <a:ext cx="10607040" cy="2606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rPr lang="en-US" dirty="0"/>
              <a:t>intersections = 3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endParaRPr lang="en-US" dirty="0"/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rPr lang="en-US" dirty="0"/>
              <a:t>for i in range(intersections):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rPr lang="en-US" dirty="0"/>
              <a:t>    print("Driving to intersection", i + 1)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rPr lang="en-US" dirty="0"/>
              <a:t>    tracker.track_until_cross()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rPr lang="en-US" dirty="0"/>
              <a:t>    print("Reached intersection", i + 1)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endParaRPr lang="en-US" dirty="0"/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rPr lang="en-US" dirty="0"/>
              <a:t>    # Clear (except after the last one!)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rPr lang="en-US" dirty="0"/>
              <a:t>    if i &lt; intersections - 1: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rPr lang="en-US" dirty="0"/>
              <a:t>        tracker.drivetrain.straight(3)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7675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Why skip clearing on the last intersection?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We want to STOP at the final intersection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That's where we'll turn or end the program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757648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Tracing the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 b="1">
                <a:solidFill>
                  <a:srgbClr val="1B3A5C"/>
                </a:solidFill>
                <a:latin typeface="Calibri"/>
              </a:defRPr>
            </a:pPr>
            <a:r>
              <a:t>For intersections = 3: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  <a:endParaRPr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07121811"/>
              </p:ext>
            </p:extLst>
          </p:nvPr>
        </p:nvGraphicFramePr>
        <p:xfrm>
          <a:off x="914400" y="1841500"/>
          <a:ext cx="100584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5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52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52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Action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Clear?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Drive to intersection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Yes (0 &lt; 2)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Drive to intersection 2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Yes (1 &lt; 2)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Drive to intersection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No (2 &lt; 2 is False)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34874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 b="1">
                <a:solidFill>
                  <a:srgbClr val="1B3A5C"/>
                </a:solidFill>
                <a:latin typeface="Calibri"/>
              </a:defRPr>
            </a:pPr>
            <a:r>
              <a:t>Result: Robot drives through 3 intersections, stops at the 3rd.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  <a:endParaRPr/>
          </a:p>
          <a:p>
            <a:pPr>
              <a:spcAft>
                <a:spcPts val="400"/>
              </a:spcAft>
              <a:defRPr sz="1800" b="1">
                <a:solidFill>
                  <a:srgbClr val="1B3A5C"/>
                </a:solidFill>
                <a:latin typeface="Calibri"/>
              </a:defRPr>
            </a:pPr>
            <a:r>
              <a:t>Change to any number: Just change intersections = N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Making It a Function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Wrap it in a reusable function: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Usage: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20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This function will be very useful in the final project!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374900"/>
            <a:ext cx="6241100" cy="164592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2463800"/>
            <a:ext cx="6058220" cy="13567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rPr lang="en-US" dirty="0"/>
              <a:t>def drive_intersections(tracker, count):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rPr lang="en-US" dirty="0"/>
              <a:t>    for i in range(count):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rPr lang="en-US" dirty="0"/>
              <a:t>        tracker.track_until_cross()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rPr lang="en-US" dirty="0"/>
              <a:t>        if i &lt; count - 1: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rPr lang="en-US" dirty="0"/>
              <a:t>            tracker.drivetrain.straight(3)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572001"/>
            <a:ext cx="6241100" cy="164592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19" y="4660901"/>
            <a:ext cx="6058221" cy="5052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rPr dirty="0" err="1"/>
              <a:t>drive_intersections</a:t>
            </a:r>
            <a:r>
              <a:rPr dirty="0"/>
              <a:t>(tracker, 2)   # Drive 2 intersections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rPr dirty="0" err="1"/>
              <a:t>drive_intersections</a:t>
            </a:r>
            <a:r>
              <a:rPr dirty="0"/>
              <a:t>(tracker, 4)   # Drive 4 intersections</a:t>
            </a:r>
          </a:p>
        </p:txBody>
      </p:sp>
    </p:spTree>
    <p:extLst>
      <p:ext uri="{BB962C8B-B14F-4D97-AF65-F5344CB8AC3E}">
        <p14:creationId xmlns:p14="http://schemas.microsoft.com/office/powerpoint/2010/main" val="284474063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Your Turn!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Activity: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Write a program that drives exactly 2 intersections and stops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Modify it to drive 3 intersections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Create the drive_intersections(tracker, count) function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Test with different counts (1, 2, 3, 4)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  <a:endParaRPr/>
          </a:p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Debugging: If the robot counts wrong: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Add print statements inside the loop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Check that clearing time is appropriate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Make sure you're not clearing after the last intersection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  <a:endParaRPr/>
          </a:p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Checkpoints: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Does the robot stop at exactly the right intersection?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Does changing the count change the behavior?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Does your function work for any count?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Connection to Next Lesson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What you did today: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Learned why clearing is necessary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Drove multiple intersections with a for loop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Created a reusable drive_intersections function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  <a:endParaRPr/>
          </a:p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Next lesson (Lesson 3):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Add TURNS at intersections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Navigate L-shaped and more complex paths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Combine driving and turning in sequences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  <a:endParaRPr/>
          </a:p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Preview: drive 2 intersections → turn right → drive 2 more = L-shape!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AC45371C-A218-3840-8863-245874005D6B}">
  <we:reference id="WA200010001" version="1.0.0.1" store="Omex" storeType="OMEX"/>
  <we:alternateReferences>
    <we:reference id="WA200010001" version="1.0.0.1" store="WA200010001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27</TotalTime>
  <Words>831</Words>
  <Application>Microsoft Macintosh PowerPoint</Application>
  <PresentationFormat>Widescreen</PresentationFormat>
  <Paragraphs>137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Miller, Bradley</cp:lastModifiedBy>
  <cp:revision>2</cp:revision>
  <dcterms:created xsi:type="dcterms:W3CDTF">2013-01-27T09:14:16Z</dcterms:created>
  <dcterms:modified xsi:type="dcterms:W3CDTF">2026-03-20T17:15:12Z</dcterms:modified>
  <cp:category/>
</cp:coreProperties>
</file>