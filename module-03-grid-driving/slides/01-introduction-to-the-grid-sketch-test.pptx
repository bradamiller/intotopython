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llust-ro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74320"/>
            <a:ext cx="1463040" cy="25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1645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B8FA8"/>
                </a:solidFill>
                <a:latin typeface="Patrick Hand"/>
              </a:defRPr>
            </a:pPr>
            <a:r>
              <a:t>MODULE 3  ·  LESSON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2D3436"/>
                </a:solidFill>
                <a:latin typeface="Caveat"/>
              </a:defRPr>
            </a:pPr>
            <a:r>
              <a:t>Introduction to the Grid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017520"/>
            <a:ext cx="3657600" cy="50800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474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5B8FA8"/>
                </a:solidFill>
                <a:latin typeface="Caveat"/>
              </a:defRPr>
            </a:pPr>
            <a: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319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3436"/>
                </a:solidFill>
                <a:latin typeface="Patrick Hand"/>
              </a:defRPr>
            </a:pPr>
          </a:p>
          <a:p>
            <a:pPr>
              <a:spcAft>
                <a:spcPts val="400"/>
              </a:spcAft>
              <a:defRPr sz="1800" b="0">
                <a:solidFill>
                  <a:srgbClr val="2D3436"/>
                </a:solidFill>
                <a:latin typeface="Patrick Hand"/>
              </a:defRPr>
            </a:pPr>
            <a:r>
              <a:t>Describe the physical grid layout and how intersections are formed</a:t>
            </a:r>
          </a:p>
          <a:p>
            <a:pPr>
              <a:spcAft>
                <a:spcPts val="400"/>
              </a:spcAft>
              <a:defRPr sz="1800" b="0">
                <a:solidFill>
                  <a:srgbClr val="2D3436"/>
                </a:solidFill>
                <a:latin typeface="Patrick Hand"/>
              </a:defRPr>
            </a:pPr>
            <a:r>
              <a:t>Explain how cross detection maps to grid intersections</a:t>
            </a:r>
          </a:p>
          <a:p>
            <a:pPr>
              <a:spcAft>
                <a:spcPts val="400"/>
              </a:spcAft>
              <a:defRPr sz="1800" b="0">
                <a:solidFill>
                  <a:srgbClr val="2D3436"/>
                </a:solidFill>
                <a:latin typeface="Patrick Hand"/>
              </a:defRPr>
            </a:pPr>
            <a:r>
              <a:t>Use LineTrack to drive to the first intersection</a:t>
            </a:r>
          </a:p>
          <a:p>
            <a:pPr>
              <a:spcAft>
                <a:spcPts val="400"/>
              </a:spcAft>
              <a:defRPr sz="1800" b="0">
                <a:solidFill>
                  <a:srgbClr val="2D3436"/>
                </a:solidFill>
                <a:latin typeface="Patrick Hand"/>
              </a:defRPr>
            </a:pPr>
            <a:r>
              <a:t>Reuse existing code on a new surface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3474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5B8FA8"/>
                </a:solidFill>
                <a:latin typeface="Caveat"/>
              </a:defRPr>
            </a:pPr>
            <a:r>
              <a:t>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9319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3436"/>
                </a:solidFill>
                <a:latin typeface="Patrick Hand"/>
              </a:defRPr>
            </a:pPr>
          </a:p>
          <a:p>
            <a:pPr>
              <a:spcAft>
                <a:spcPts val="400"/>
              </a:spcAft>
              <a:defRPr sz="1800" b="0">
                <a:solidFill>
                  <a:srgbClr val="2D3436"/>
                </a:solidFill>
                <a:latin typeface="Patrick Hand"/>
              </a:defRPr>
            </a:pPr>
            <a:r>
              <a:t>From circle to grid (10 min)</a:t>
            </a:r>
          </a:p>
          <a:p>
            <a:pPr>
              <a:spcAft>
                <a:spcPts val="400"/>
              </a:spcAft>
              <a:defRPr sz="1800" b="0">
                <a:solidFill>
                  <a:srgbClr val="2D3436"/>
                </a:solidFill>
                <a:latin typeface="Patrick Hand"/>
              </a:defRPr>
            </a:pPr>
            <a:r>
              <a:t>Review: LineTrack methods (5 min)</a:t>
            </a:r>
          </a:p>
          <a:p>
            <a:pPr>
              <a:spcAft>
                <a:spcPts val="400"/>
              </a:spcAft>
              <a:defRPr sz="1800" b="0">
                <a:solidFill>
                  <a:srgbClr val="2D3436"/>
                </a:solidFill>
                <a:latin typeface="Patrick Hand"/>
              </a:defRPr>
            </a:pPr>
            <a:r>
              <a:t>Guided: Drive to first intersection (15 min)</a:t>
            </a:r>
          </a:p>
          <a:p>
            <a:pPr>
              <a:spcAft>
                <a:spcPts val="400"/>
              </a:spcAft>
              <a:defRPr sz="1800" b="0">
                <a:solidFill>
                  <a:srgbClr val="2D3436"/>
                </a:solidFill>
                <a:latin typeface="Patrick Hand"/>
              </a:defRPr>
            </a:pPr>
            <a:r>
              <a:t>Practice (15 min)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4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5B8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D3436"/>
                </a:solidFill>
                <a:latin typeface="Caveat"/>
              </a:defRPr>
            </a:pPr>
            <a:r>
              <a:t>From Circle to Grid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5B8FA8"/>
                </a:solidFill>
                <a:latin typeface="Caveat"/>
              </a:defRPr>
            </a:pPr>
            <a:r>
              <a:t>Remember Module 2?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3436"/>
                </a:solidFill>
                <a:latin typeface="Patrick Hand"/>
              </a:defRPr>
            </a:pPr>
            <a:r>
              <a:t>You built a LineTrack class that follows lines and detects crosses</a:t>
            </a:r>
          </a:p>
        </p:txBody>
      </p:sp>
      <p:pic>
        <p:nvPicPr>
          <p:cNvPr id="7" name="Picture 6" descr="illust-circle-to-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194560"/>
            <a:ext cx="7315200" cy="176573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371600" y="4754880"/>
            <a:ext cx="9144000" cy="548640"/>
          </a:xfrm>
          <a:prstGeom prst="roundRect">
            <a:avLst/>
          </a:prstGeom>
          <a:solidFill>
            <a:srgbClr val="FDFCFA"/>
          </a:solidFill>
          <a:ln w="25400">
            <a:solidFill>
              <a:srgbClr val="E8A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4800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3436"/>
                </a:solidFill>
                <a:latin typeface="Patrick Hand"/>
              </a:defRPr>
            </a:pPr>
            <a:r>
              <a:t>"Can your Module 2 code work on this grid without changes?"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5394960"/>
            <a:ext cx="9144000" cy="548640"/>
          </a:xfrm>
          <a:prstGeom prst="roundRect">
            <a:avLst/>
          </a:prstGeom>
          <a:solidFill>
            <a:srgbClr val="FDFCFA"/>
          </a:solidFill>
          <a:ln w="25400">
            <a:solidFill>
              <a:srgbClr val="85C8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54406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5C88A"/>
                </a:solidFill>
                <a:latin typeface="Patrick Hand"/>
              </a:defRPr>
            </a:pPr>
            <a:r>
              <a:t>Yes! That's the power of code reuse.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4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5B8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D3436"/>
                </a:solidFill>
                <a:latin typeface="Caveat"/>
              </a:defRPr>
            </a:pPr>
            <a:r>
              <a:t>The Grid Layout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5B8FA8"/>
                </a:solidFill>
                <a:latin typeface="Caveat"/>
              </a:defRPr>
            </a:pPr>
            <a:r>
              <a:t>A grid is a network of taped lines</a:t>
            </a:r>
          </a:p>
        </p:txBody>
      </p:sp>
      <p:pic>
        <p:nvPicPr>
          <p:cNvPr id="6" name="Picture 5" descr="illust-grid-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645920"/>
            <a:ext cx="5943600" cy="215199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14400" y="5120640"/>
            <a:ext cx="10058400" cy="1371600"/>
          </a:xfrm>
          <a:prstGeom prst="roundRect">
            <a:avLst/>
          </a:prstGeom>
          <a:solidFill>
            <a:srgbClr val="FDFCFA"/>
          </a:solidFill>
          <a:ln w="25400">
            <a:solidFill>
              <a:srgbClr val="5B8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5212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5B8FA8"/>
                </a:solidFill>
                <a:latin typeface="Caveat"/>
              </a:defRPr>
            </a:pPr>
            <a:r>
              <a:t>Each orange dot is an intersection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55778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3436"/>
                </a:solidFill>
                <a:latin typeface="Patrick Hand"/>
              </a:defRPr>
            </a:pPr>
          </a:p>
          <a:p>
            <a:pPr>
              <a:spcAft>
                <a:spcPts val="400"/>
              </a:spcAft>
              <a:defRPr sz="2000" b="0">
                <a:solidFill>
                  <a:srgbClr val="2D3436"/>
                </a:solidFill>
                <a:latin typeface="Patrick Hand"/>
              </a:defRPr>
            </a:pPr>
            <a:r>
              <a:t>Lines connect them horizontally and vertically</a:t>
            </a:r>
          </a:p>
          <a:p>
            <a:pPr>
              <a:spcAft>
                <a:spcPts val="400"/>
              </a:spcAft>
              <a:defRPr sz="2000" b="0">
                <a:solidFill>
                  <a:srgbClr val="2D3436"/>
                </a:solidFill>
                <a:latin typeface="Patrick Hand"/>
              </a:defRPr>
            </a:pPr>
            <a:r>
              <a:t>The robot follows lines between intersections</a:t>
            </a:r>
          </a:p>
          <a:p>
            <a:pPr>
              <a:spcAft>
                <a:spcPts val="400"/>
              </a:spcAft>
              <a:defRPr sz="2000" b="0">
                <a:solidFill>
                  <a:srgbClr val="2D3436"/>
                </a:solidFill>
                <a:latin typeface="Patrick Hand"/>
              </a:defRPr>
            </a:pPr>
            <a:r>
              <a:t>Cross detection tells the robot "you've arrived!"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4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5B8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D3436"/>
                </a:solidFill>
                <a:latin typeface="Caveat"/>
              </a:defRPr>
            </a:pPr>
            <a:r>
              <a:t>Why the Grid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5B8FA8"/>
                </a:solidFill>
                <a:latin typeface="Caveat"/>
              </a:defRPr>
            </a:pPr>
            <a:r>
              <a:t>The grid is a stepping stone</a:t>
            </a:r>
          </a:p>
        </p:txBody>
      </p:sp>
      <p:pic>
        <p:nvPicPr>
          <p:cNvPr id="6" name="Picture 5" descr="illust-pro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8229600" cy="1277007"/>
          </a:xfrm>
          <a:prstGeom prst="rect">
            <a:avLst/>
          </a:prstGeom>
        </p:spPr>
      </p:pic>
      <p:pic>
        <p:nvPicPr>
          <p:cNvPr id="7" name="Picture 6" descr="illust-puzzle-pie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4389120"/>
            <a:ext cx="6400800" cy="88286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371600" y="3566160"/>
            <a:ext cx="9144000" cy="640080"/>
          </a:xfrm>
          <a:prstGeom prst="roundRect">
            <a:avLst/>
          </a:prstGeom>
          <a:solidFill>
            <a:srgbClr val="FDF0E6"/>
          </a:solidFill>
          <a:ln w="25400">
            <a:solidFill>
              <a:srgbClr val="E8A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3657600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D3436"/>
                </a:solidFill>
                <a:latin typeface="Caveat"/>
              </a:defRPr>
            </a:pPr>
            <a:r>
              <a:t>Grid navigation = line following + cross detection + turns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206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B8FA8"/>
                </a:solidFill>
                <a:latin typeface="Caveat"/>
              </a:defRPr>
            </a:pPr>
            <a:r>
              <a:t>You already have all three from Module 2!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4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5B8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D3436"/>
                </a:solidFill>
                <a:latin typeface="Caveat"/>
              </a:defRPr>
            </a:pPr>
            <a:r>
              <a:t>Review — LineTrack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5B8FA8"/>
                </a:solidFill>
                <a:latin typeface="Caveat"/>
              </a:defRPr>
            </a:pPr>
            <a:r>
              <a:t>Your LineTrack class has three key methods: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486400" cy="2926080"/>
          </a:xfrm>
          <a:prstGeom prst="roundRect">
            <a:avLst/>
          </a:prstGeom>
          <a:solidFill>
            <a:srgbClr val="F0EDE8"/>
          </a:solidFill>
          <a:ln w="25400">
            <a:solidFill>
              <a:srgbClr val="B8C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20"/>
            <a:ext cx="50292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>
                <a:solidFill>
                  <a:srgbClr val="2D3436"/>
                </a:solidFill>
                <a:latin typeface="Fira Code"/>
              </a:defRPr>
            </a:pPr>
            <a:r>
              <a:t>tracker = LineTrack()</a:t>
            </a:r>
          </a:p>
          <a:p>
            <a:pPr>
              <a:spcAft>
                <a:spcPts val="200"/>
              </a:spcAft>
              <a:defRPr sz="1600">
                <a:solidFill>
                  <a:srgbClr val="2D3436"/>
                </a:solidFill>
                <a:latin typeface="Fira Code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2D3436"/>
                </a:solidFill>
                <a:latin typeface="Fira Code"/>
              </a:defRPr>
            </a:pPr>
            <a:r>
              <a:t># Follow the line until an intersection</a:t>
            </a:r>
          </a:p>
          <a:p>
            <a:pPr>
              <a:spcAft>
                <a:spcPts val="200"/>
              </a:spcAft>
              <a:defRPr sz="1600">
                <a:solidFill>
                  <a:srgbClr val="2D3436"/>
                </a:solidFill>
                <a:latin typeface="Fira Code"/>
              </a:defRPr>
            </a:pPr>
            <a:r>
              <a:t>tracker.track_until_cross()</a:t>
            </a:r>
          </a:p>
          <a:p>
            <a:pPr>
              <a:spcAft>
                <a:spcPts val="200"/>
              </a:spcAft>
              <a:defRPr sz="1600">
                <a:solidFill>
                  <a:srgbClr val="2D3436"/>
                </a:solidFill>
                <a:latin typeface="Fira Code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2D3436"/>
                </a:solidFill>
                <a:latin typeface="Fira Code"/>
              </a:defRPr>
            </a:pPr>
            <a:r>
              <a:t># Turn right onto perpendicular line</a:t>
            </a:r>
          </a:p>
          <a:p>
            <a:pPr>
              <a:spcAft>
                <a:spcPts val="200"/>
              </a:spcAft>
              <a:defRPr sz="1600">
                <a:solidFill>
                  <a:srgbClr val="2D3436"/>
                </a:solidFill>
                <a:latin typeface="Fira Code"/>
              </a:defRPr>
            </a:pPr>
            <a:r>
              <a:t>tracker.turn_right()</a:t>
            </a:r>
          </a:p>
          <a:p>
            <a:pPr>
              <a:spcAft>
                <a:spcPts val="200"/>
              </a:spcAft>
              <a:defRPr sz="1600">
                <a:solidFill>
                  <a:srgbClr val="2D3436"/>
                </a:solidFill>
                <a:latin typeface="Fira Code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2D3436"/>
                </a:solidFill>
                <a:latin typeface="Fira Code"/>
              </a:defRPr>
            </a:pPr>
            <a:r>
              <a:t># Turn left onto perpendicular line</a:t>
            </a:r>
          </a:p>
          <a:p>
            <a:pPr>
              <a:spcAft>
                <a:spcPts val="200"/>
              </a:spcAft>
              <a:defRPr sz="1600">
                <a:solidFill>
                  <a:srgbClr val="2D3436"/>
                </a:solidFill>
                <a:latin typeface="Fira Code"/>
              </a:defRPr>
            </a:pPr>
            <a:r>
              <a:t>tracker.turn_left()</a:t>
            </a:r>
          </a:p>
        </p:txBody>
      </p:sp>
      <p:pic>
        <p:nvPicPr>
          <p:cNvPr id="8" name="Picture 7" descr="illust-method-c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828800"/>
            <a:ext cx="5029200" cy="69368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371600" y="5029200"/>
            <a:ext cx="9144000" cy="640080"/>
          </a:xfrm>
          <a:prstGeom prst="roundRect">
            <a:avLst/>
          </a:prstGeom>
          <a:solidFill>
            <a:srgbClr val="FDF0E6"/>
          </a:solidFill>
          <a:ln w="25400">
            <a:solidFill>
              <a:srgbClr val="E8A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5120640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D3436"/>
                </a:solidFill>
                <a:latin typeface="Caveat"/>
              </a:defRPr>
            </a:pPr>
            <a:r>
              <a:t>These three methods are ALL you need for grid navigation!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4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5B8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D3436"/>
                </a:solidFill>
                <a:latin typeface="Caveat"/>
              </a:defRPr>
            </a:pPr>
            <a:r>
              <a:t>Driving to the First Intersection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5B8FA8"/>
                </a:solidFill>
                <a:latin typeface="Caveat"/>
              </a:defRPr>
            </a:pPr>
            <a:r>
              <a:t>Setup: Place robot on a grid line, behind an intersection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486400" cy="2560320"/>
          </a:xfrm>
          <a:prstGeom prst="roundRect">
            <a:avLst/>
          </a:prstGeom>
          <a:solidFill>
            <a:srgbClr val="F0EDE8"/>
          </a:solidFill>
          <a:ln w="25400">
            <a:solidFill>
              <a:srgbClr val="B8C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>
                <a:solidFill>
                  <a:srgbClr val="2D3436"/>
                </a:solidFill>
                <a:latin typeface="Fira Code"/>
              </a:defRPr>
            </a:pPr>
            <a:r>
              <a:t>board = Board.get_default_board()</a:t>
            </a:r>
          </a:p>
          <a:p>
            <a:pPr>
              <a:spcAft>
                <a:spcPts val="200"/>
              </a:spcAft>
              <a:defRPr sz="1600">
                <a:solidFill>
                  <a:srgbClr val="2D3436"/>
                </a:solidFill>
                <a:latin typeface="Fira Code"/>
              </a:defRPr>
            </a:pPr>
            <a:r>
              <a:t>tracker = LineTrack()</a:t>
            </a:r>
          </a:p>
          <a:p>
            <a:pPr>
              <a:spcAft>
                <a:spcPts val="200"/>
              </a:spcAft>
              <a:defRPr sz="1600">
                <a:solidFill>
                  <a:srgbClr val="2D3436"/>
                </a:solidFill>
                <a:latin typeface="Fira Code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2D3436"/>
                </a:solidFill>
                <a:latin typeface="Fira Code"/>
              </a:defRPr>
            </a:pPr>
            <a:r>
              <a:t>board.wait_for_button()</a:t>
            </a:r>
          </a:p>
          <a:p>
            <a:pPr>
              <a:spcAft>
                <a:spcPts val="200"/>
              </a:spcAft>
              <a:defRPr sz="1600">
                <a:solidFill>
                  <a:srgbClr val="2D3436"/>
                </a:solidFill>
                <a:latin typeface="Fira Code"/>
              </a:defRPr>
            </a:pPr>
            <a:r>
              <a:t>print("Driving to first intersection...")</a:t>
            </a:r>
          </a:p>
          <a:p>
            <a:pPr>
              <a:spcAft>
                <a:spcPts val="200"/>
              </a:spcAft>
              <a:defRPr sz="1600">
                <a:solidFill>
                  <a:srgbClr val="2D3436"/>
                </a:solidFill>
                <a:latin typeface="Fira Code"/>
              </a:defRPr>
            </a:pPr>
            <a:r>
              <a:t>tracker.track_until_cross()</a:t>
            </a:r>
          </a:p>
          <a:p>
            <a:pPr>
              <a:spcAft>
                <a:spcPts val="200"/>
              </a:spcAft>
              <a:defRPr sz="1600">
                <a:solidFill>
                  <a:srgbClr val="2D3436"/>
                </a:solidFill>
                <a:latin typeface="Fira Code"/>
              </a:defRPr>
            </a:pPr>
            <a:r>
              <a:t>print("Intersection reached!")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5B8FA8"/>
                </a:solidFill>
                <a:latin typeface="Caveat"/>
              </a:defRPr>
            </a:pPr>
            <a:r>
              <a:t>What happens:</a:t>
            </a:r>
          </a:p>
        </p:txBody>
      </p:sp>
      <p:pic>
        <p:nvPicPr>
          <p:cNvPr id="9" name="Picture 8" descr="illust-drive-to-inter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377440"/>
            <a:ext cx="5029200" cy="130065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4754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3436"/>
                </a:solidFill>
                <a:latin typeface="Patrick Hand"/>
              </a:defRPr>
            </a:pPr>
          </a:p>
          <a:p>
            <a:pPr>
              <a:spcAft>
                <a:spcPts val="400"/>
              </a:spcAft>
              <a:defRPr sz="1900" b="0">
                <a:solidFill>
                  <a:srgbClr val="2D3436"/>
                </a:solidFill>
                <a:latin typeface="Patrick Hand"/>
              </a:defRPr>
            </a:pPr>
            <a:r>
              <a:t>1. Robot follows the line using proportional control</a:t>
            </a:r>
          </a:p>
          <a:p>
            <a:pPr>
              <a:spcAft>
                <a:spcPts val="400"/>
              </a:spcAft>
              <a:defRPr sz="1900" b="0">
                <a:solidFill>
                  <a:srgbClr val="2D3436"/>
                </a:solidFill>
                <a:latin typeface="Patrick Hand"/>
              </a:defRPr>
            </a:pPr>
            <a:r>
              <a:t>2. When both sensors detect the cross → stops</a:t>
            </a:r>
          </a:p>
          <a:p>
            <a:pPr>
              <a:spcAft>
                <a:spcPts val="400"/>
              </a:spcAft>
              <a:defRPr sz="1900" b="0">
                <a:solidFill>
                  <a:srgbClr val="2D3436"/>
                </a:solidFill>
                <a:latin typeface="Patrick Hand"/>
              </a:defRPr>
            </a:pPr>
            <a:r>
              <a:t>3. Robot is now AT the intersection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4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5B8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D3436"/>
                </a:solidFill>
                <a:latin typeface="Caveat"/>
              </a:defRPr>
            </a:pPr>
            <a:r>
              <a:t>Drive and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5B8FA8"/>
                </a:solidFill>
                <a:latin typeface="Caveat"/>
              </a:defRPr>
            </a:pPr>
            <a:r>
              <a:t>After reaching an intersection, you can turn: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029200" cy="3200400"/>
          </a:xfrm>
          <a:prstGeom prst="roundRect">
            <a:avLst/>
          </a:prstGeom>
          <a:solidFill>
            <a:srgbClr val="F0EDE8"/>
          </a:solidFill>
          <a:ln w="25400">
            <a:solidFill>
              <a:srgbClr val="B8C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2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>
                <a:solidFill>
                  <a:srgbClr val="2D3436"/>
                </a:solidFill>
                <a:latin typeface="Fira Code"/>
              </a:defRPr>
            </a:pPr>
            <a:r>
              <a:t>board.wait_for_button()</a:t>
            </a:r>
          </a:p>
          <a:p>
            <a:pPr>
              <a:spcAft>
                <a:spcPts val="200"/>
              </a:spcAft>
              <a:defRPr sz="1600">
                <a:solidFill>
                  <a:srgbClr val="2D3436"/>
                </a:solidFill>
                <a:latin typeface="Fira Code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2D3436"/>
                </a:solidFill>
                <a:latin typeface="Fira Code"/>
              </a:defRPr>
            </a:pPr>
            <a:r>
              <a:t>tracker.track_until_cross()</a:t>
            </a:r>
          </a:p>
          <a:p>
            <a:pPr>
              <a:spcAft>
                <a:spcPts val="200"/>
              </a:spcAft>
              <a:defRPr sz="1600">
                <a:solidFill>
                  <a:srgbClr val="2D3436"/>
                </a:solidFill>
                <a:latin typeface="Fira Code"/>
              </a:defRPr>
            </a:pPr>
            <a:r>
              <a:t>print("At intersection!")</a:t>
            </a:r>
          </a:p>
          <a:p>
            <a:pPr>
              <a:spcAft>
                <a:spcPts val="200"/>
              </a:spcAft>
              <a:defRPr sz="1600">
                <a:solidFill>
                  <a:srgbClr val="2D3436"/>
                </a:solidFill>
                <a:latin typeface="Fira Code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2D3436"/>
                </a:solidFill>
                <a:latin typeface="Fira Code"/>
              </a:defRPr>
            </a:pPr>
            <a:r>
              <a:t>tracker.turn_right()</a:t>
            </a:r>
          </a:p>
          <a:p>
            <a:pPr>
              <a:spcAft>
                <a:spcPts val="200"/>
              </a:spcAft>
              <a:defRPr sz="1600">
                <a:solidFill>
                  <a:srgbClr val="2D3436"/>
                </a:solidFill>
                <a:latin typeface="Fira Code"/>
              </a:defRPr>
            </a:pPr>
            <a:r>
              <a:t>print("Turned right!")</a:t>
            </a:r>
          </a:p>
          <a:p>
            <a:pPr>
              <a:spcAft>
                <a:spcPts val="200"/>
              </a:spcAft>
              <a:defRPr sz="1600">
                <a:solidFill>
                  <a:srgbClr val="2D3436"/>
                </a:solidFill>
                <a:latin typeface="Fira Code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2D3436"/>
                </a:solidFill>
                <a:latin typeface="Fira Code"/>
              </a:defRPr>
            </a:pPr>
            <a:r>
              <a:t>tracker.track_until_cross()</a:t>
            </a:r>
          </a:p>
          <a:p>
            <a:pPr>
              <a:spcAft>
                <a:spcPts val="200"/>
              </a:spcAft>
              <a:defRPr sz="1600">
                <a:solidFill>
                  <a:srgbClr val="2D3436"/>
                </a:solidFill>
                <a:latin typeface="Fira Code"/>
              </a:defRPr>
            </a:pPr>
            <a:r>
              <a:t>print("At next intersection!")</a:t>
            </a:r>
          </a:p>
        </p:txBody>
      </p:sp>
      <p:pic>
        <p:nvPicPr>
          <p:cNvPr id="8" name="Picture 7" descr="illust-drive-and-t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4572000" cy="14977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4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5B8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D3436"/>
                </a:solidFill>
                <a:latin typeface="Caveat"/>
              </a:defRPr>
            </a:pPr>
            <a:r>
              <a:t>Code Reuse in Action</a:t>
            </a:r>
          </a:p>
        </p:txBody>
      </p:sp>
      <p:pic>
        <p:nvPicPr>
          <p:cNvPr id="5" name="Picture 4" descr="illust-code-reuse-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188720"/>
            <a:ext cx="7772400" cy="938048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2560320"/>
          <a:ext cx="91440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5B8FA8"/>
                          </a:solidFill>
                          <a:latin typeface="Caveat"/>
                        </a:defRPr>
                      </a:pPr>
                      <a:r>
                        <a:t>Module 2</a:t>
                      </a:r>
                    </a:p>
                  </a:txBody>
                  <a:tcPr>
                    <a:solidFill>
                      <a:srgbClr val="E4EF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5B8FA8"/>
                          </a:solidFill>
                          <a:latin typeface="Caveat"/>
                        </a:defRPr>
                      </a:pPr>
                      <a:r>
                        <a:t>Module 3</a:t>
                      </a:r>
                    </a:p>
                  </a:txBody>
                  <a:tcPr>
                    <a:solidFill>
                      <a:srgbClr val="E4EF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600">
                          <a:latin typeface="Patrick Hand"/>
                        </a:defRPr>
                      </a:pPr>
                      <a:r>
                        <a:t>Follow circle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latin typeface="Patrick Hand"/>
                        </a:defRPr>
                      </a:pPr>
                      <a:r>
                        <a:t>Follow grid lines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600">
                          <a:latin typeface="Patrick Hand"/>
                        </a:defRPr>
                      </a:pPr>
                      <a:r>
                        <a:t>Detect cross on circle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latin typeface="Patrick Hand"/>
                        </a:defRPr>
                      </a:pPr>
                      <a:r>
                        <a:t>Detect grid intersection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600">
                          <a:latin typeface="Patrick Hand"/>
                        </a:defRPr>
                      </a:pPr>
                      <a:r>
                        <a:t>Turn at cross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latin typeface="Patrick Hand"/>
                        </a:defRPr>
                      </a:pPr>
                      <a:r>
                        <a:t>Turn at intersection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600">
                          <a:latin typeface="Patrick Hand"/>
                        </a:defRPr>
                      </a:pPr>
                      <a:r>
                        <a:t>track_until_cross()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latin typeface="Patrick Hand"/>
                        </a:defRPr>
                      </a:pPr>
                      <a:r>
                        <a:t>Same method, same code!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600">
                          <a:latin typeface="Patrick Hand"/>
                        </a:defRPr>
                      </a:pPr>
                      <a:r>
                        <a:t>turn_right()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latin typeface="Patrick Hand"/>
                        </a:defRPr>
                      </a:pPr>
                      <a:r>
                        <a:t>Same method, same code!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828800" y="5303520"/>
            <a:ext cx="8229600" cy="640080"/>
          </a:xfrm>
          <a:prstGeom prst="roundRect">
            <a:avLst/>
          </a:prstGeom>
          <a:solidFill>
            <a:srgbClr val="FDF0E6"/>
          </a:solidFill>
          <a:ln w="25400">
            <a:solidFill>
              <a:srgbClr val="E8A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539496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D3436"/>
                </a:solidFill>
                <a:latin typeface="Caveat"/>
              </a:defRPr>
            </a:pPr>
            <a:r>
              <a:t>Good code works in new situations without modification.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4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5B8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D3436"/>
                </a:solidFill>
                <a:latin typeface="Caveat"/>
              </a:defRPr>
            </a:pPr>
            <a:r>
              <a:t>Your Turn!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5B8FA8"/>
                </a:solidFill>
                <a:latin typeface="Caveat"/>
              </a:defRPr>
            </a:pPr>
            <a:r>
              <a:t>Activity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400800" cy="3200400"/>
          </a:xfrm>
          <a:prstGeom prst="roundRect">
            <a:avLst/>
          </a:prstGeom>
          <a:solidFill>
            <a:srgbClr val="FDFCFA"/>
          </a:solidFill>
          <a:ln w="25400">
            <a:solidFill>
              <a:srgbClr val="5B8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3436"/>
                </a:solidFill>
                <a:latin typeface="Patrick Hand"/>
              </a:defRPr>
            </a:pPr>
          </a:p>
          <a:p>
            <a:pPr>
              <a:spcAft>
                <a:spcPts val="400"/>
              </a:spcAft>
              <a:defRPr sz="1900" b="0">
                <a:solidFill>
                  <a:srgbClr val="2D3436"/>
                </a:solidFill>
                <a:latin typeface="Patrick Hand"/>
              </a:defRPr>
            </a:pPr>
            <a:r>
              <a:t>1.  Copy your LineSensor and LineTrack classes from Module 2</a:t>
            </a:r>
          </a:p>
          <a:p>
            <a:pPr>
              <a:spcAft>
                <a:spcPts val="400"/>
              </a:spcAft>
              <a:defRPr sz="1900" b="0">
                <a:solidFill>
                  <a:srgbClr val="2D3436"/>
                </a:solidFill>
                <a:latin typeface="Patrick Hand"/>
              </a:defRPr>
            </a:pPr>
            <a:r>
              <a:t>2.  Write a program that drives to the first intersection and stops</a:t>
            </a:r>
          </a:p>
          <a:p>
            <a:pPr>
              <a:spcAft>
                <a:spcPts val="400"/>
              </a:spcAft>
              <a:defRPr sz="1900" b="0">
                <a:solidFill>
                  <a:srgbClr val="2D3436"/>
                </a:solidFill>
                <a:latin typeface="Patrick Hand"/>
              </a:defRPr>
            </a:pPr>
            <a:r>
              <a:t>3.  Verify the robot stops at the right place</a:t>
            </a:r>
          </a:p>
          <a:p>
            <a:pPr>
              <a:spcAft>
                <a:spcPts val="400"/>
              </a:spcAft>
              <a:defRPr sz="1900" b="0">
                <a:solidFill>
                  <a:srgbClr val="2D3436"/>
                </a:solidFill>
                <a:latin typeface="Patrick Hand"/>
              </a:defRPr>
            </a:pPr>
            <a:r>
              <a:t>4.  Add a turn_right() after reaching the intersection</a:t>
            </a:r>
          </a:p>
          <a:p>
            <a:pPr>
              <a:spcAft>
                <a:spcPts val="400"/>
              </a:spcAft>
              <a:defRPr sz="1900" b="0">
                <a:solidFill>
                  <a:srgbClr val="2D3436"/>
                </a:solidFill>
                <a:latin typeface="Patrick Hand"/>
              </a:defRPr>
            </a:pPr>
            <a:r>
              <a:t>5.  Add another track_until_cross() to drive to the next intersection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5B8FA8"/>
                </a:solidFill>
                <a:latin typeface="Caveat"/>
              </a:defRPr>
            </a:pPr>
            <a:r>
              <a:t>Checkpoints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645920"/>
            <a:ext cx="4572000" cy="3200400"/>
          </a:xfrm>
          <a:prstGeom prst="roundRect">
            <a:avLst/>
          </a:prstGeom>
          <a:solidFill>
            <a:srgbClr val="FDFCFA"/>
          </a:solidFill>
          <a:ln w="25400">
            <a:solidFill>
              <a:srgbClr val="85C8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18288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3436"/>
                </a:solidFill>
                <a:latin typeface="Patrick Hand"/>
              </a:defRPr>
            </a:pPr>
          </a:p>
          <a:p>
            <a:pPr>
              <a:spcAft>
                <a:spcPts val="400"/>
              </a:spcAft>
              <a:defRPr sz="1800" b="0">
                <a:solidFill>
                  <a:srgbClr val="2D3436"/>
                </a:solidFill>
                <a:latin typeface="Patrick Hand"/>
              </a:defRPr>
            </a:pPr>
            <a:r>
              <a:t>Does the robot stop at the first intersection?</a:t>
            </a:r>
          </a:p>
          <a:p>
            <a:pPr>
              <a:spcAft>
                <a:spcPts val="400"/>
              </a:spcAft>
              <a:defRPr sz="1800" b="0">
                <a:solidFill>
                  <a:srgbClr val="2D3436"/>
                </a:solidFill>
                <a:latin typeface="Patrick Hand"/>
              </a:defRPr>
            </a:pPr>
            <a:r>
              <a:t>Does the turn line up with the perpendicular line?</a:t>
            </a:r>
          </a:p>
          <a:p>
            <a:pPr>
              <a:spcAft>
                <a:spcPts val="400"/>
              </a:spcAft>
              <a:defRPr sz="1800" b="0">
                <a:solidFill>
                  <a:srgbClr val="2D3436"/>
                </a:solidFill>
                <a:latin typeface="Patrick Hand"/>
              </a:defRPr>
            </a:pPr>
            <a:r>
              <a:t>Does the robot reach the second intersection after turning?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4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5B8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D3436"/>
                </a:solidFill>
                <a:latin typeface="Caveat"/>
              </a:defRPr>
            </a:pPr>
            <a:r>
              <a:t>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5B8FA8"/>
                </a:solidFill>
                <a:latin typeface="Caveat"/>
              </a:defRPr>
            </a:pPr>
            <a:r>
              <a:t>What you did today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029200" cy="2011680"/>
          </a:xfrm>
          <a:prstGeom prst="roundRect">
            <a:avLst/>
          </a:prstGeom>
          <a:solidFill>
            <a:srgbClr val="FDFCFA"/>
          </a:solidFill>
          <a:ln w="25400">
            <a:solidFill>
              <a:srgbClr val="5B8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3436"/>
                </a:solidFill>
                <a:latin typeface="Patrick Hand"/>
              </a:defRPr>
            </a:pPr>
          </a:p>
          <a:p>
            <a:pPr>
              <a:spcAft>
                <a:spcPts val="400"/>
              </a:spcAft>
              <a:defRPr sz="2000" b="0">
                <a:solidFill>
                  <a:srgbClr val="2D3436"/>
                </a:solidFill>
                <a:latin typeface="Patrick Hand"/>
              </a:defRPr>
            </a:pPr>
            <a:r>
              <a:t>Saw how the grid relates to Module 2's cross detection</a:t>
            </a:r>
          </a:p>
          <a:p>
            <a:pPr>
              <a:spcAft>
                <a:spcPts val="400"/>
              </a:spcAft>
              <a:defRPr sz="2000" b="0">
                <a:solidFill>
                  <a:srgbClr val="2D3436"/>
                </a:solidFill>
                <a:latin typeface="Patrick Hand"/>
              </a:defRPr>
            </a:pPr>
            <a:r>
              <a:t>Drove to the first intersection using LineTrack</a:t>
            </a:r>
          </a:p>
          <a:p>
            <a:pPr>
              <a:spcAft>
                <a:spcPts val="400"/>
              </a:spcAft>
              <a:defRPr sz="2000" b="0">
                <a:solidFill>
                  <a:srgbClr val="2D3436"/>
                </a:solidFill>
                <a:latin typeface="Patrick Hand"/>
              </a:defRPr>
            </a:pPr>
            <a:r>
              <a:t>Added a turn at the intersection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5B8FA8"/>
                </a:solidFill>
                <a:latin typeface="Caveat"/>
              </a:defRPr>
            </a:pPr>
            <a:r>
              <a:t>Next lesson (Lesson 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486400" cy="2011680"/>
          </a:xfrm>
          <a:prstGeom prst="roundRect">
            <a:avLst/>
          </a:prstGeom>
          <a:solidFill>
            <a:srgbClr val="FDFCFA"/>
          </a:solidFill>
          <a:ln w="25400">
            <a:solidFill>
              <a:srgbClr val="E8A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3436"/>
                </a:solidFill>
                <a:latin typeface="Patrick Hand"/>
              </a:defRPr>
            </a:pPr>
          </a:p>
          <a:p>
            <a:pPr>
              <a:spcAft>
                <a:spcPts val="400"/>
              </a:spcAft>
              <a:defRPr sz="2000" b="0">
                <a:solidFill>
                  <a:srgbClr val="2D3436"/>
                </a:solidFill>
                <a:latin typeface="Patrick Hand"/>
              </a:defRPr>
            </a:pPr>
            <a:r>
              <a:t>Drive PAST an intersection to reach the next one</a:t>
            </a:r>
          </a:p>
          <a:p>
            <a:pPr>
              <a:spcAft>
                <a:spcPts val="400"/>
              </a:spcAft>
              <a:defRPr sz="2000" b="0">
                <a:solidFill>
                  <a:srgbClr val="2D3436"/>
                </a:solidFill>
                <a:latin typeface="Patrick Hand"/>
              </a:defRPr>
            </a:pPr>
            <a:r>
              <a:t>Learn the "clear the intersection" technique</a:t>
            </a:r>
          </a:p>
          <a:p>
            <a:pPr>
              <a:spcAft>
                <a:spcPts val="400"/>
              </a:spcAft>
              <a:defRPr sz="2000" b="0">
                <a:solidFill>
                  <a:srgbClr val="2D3436"/>
                </a:solidFill>
                <a:latin typeface="Patrick Hand"/>
              </a:defRPr>
            </a:pPr>
            <a:r>
              <a:t>Use for loops to drive multiple intersections</a:t>
            </a:r>
          </a:p>
        </p:txBody>
      </p:sp>
      <p:pic>
        <p:nvPicPr>
          <p:cNvPr id="11" name="Picture 10" descr="illust-three-interse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4114800"/>
            <a:ext cx="8229600" cy="113511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2286000" y="5303520"/>
            <a:ext cx="7315200" cy="731520"/>
          </a:xfrm>
          <a:prstGeom prst="roundRect">
            <a:avLst/>
          </a:prstGeom>
          <a:solidFill>
            <a:srgbClr val="FDFCFA"/>
          </a:solidFill>
          <a:ln w="25400">
            <a:solidFill>
              <a:srgbClr val="E8A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0" y="539496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D3436"/>
                </a:solidFill>
                <a:latin typeface="Caveat"/>
              </a:defRPr>
            </a:pPr>
            <a:r>
              <a:t>Challenge: What if you need to go 3 intersections forward? That's next!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