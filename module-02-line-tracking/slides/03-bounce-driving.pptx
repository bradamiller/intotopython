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254789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0"/>
            <a:ext cx="5867312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Lesson 3: Bounce Driving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3108960"/>
            <a:ext cx="4814886" cy="180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400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Write if/else statements in Python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Use while True for continuous robot behavior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Combine sensor checks with decision-making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Program the robot to bounce between circle edges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9" y="3108960"/>
            <a:ext cx="3585938" cy="1437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400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if/else explained  (10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Bounce driving walkthrough  (15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Practice and experiment  (20 min)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From Stopping to Bouncing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371600"/>
            <a:ext cx="10881361" cy="306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Lesson 2: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Robot drives to edge → STOPS.  Done.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Today: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Robot drives to edge → TURNS AROUND → drives again → repeat forever!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2E75B6"/>
                </a:solidFill>
              </a:defRPr>
            </a:pPr>
            <a:r>
              <a:t>Like a ball bouncing off walls.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if/else Syntax</a:t>
            </a:r>
          </a:p>
        </p:txBody>
      </p:sp>
      <p:sp>
        <p:nvSpPr>
          <p:cNvPr id="106" name="TextBox 3"/>
          <p:cNvSpPr txBox="1"/>
          <p:nvPr/>
        </p:nvSpPr>
        <p:spPr>
          <a:xfrm>
            <a:off x="594360" y="1280160"/>
            <a:ext cx="79362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Syntax:</a:t>
            </a:r>
          </a:p>
        </p:txBody>
      </p:sp>
      <p:sp>
        <p:nvSpPr>
          <p:cNvPr id="107" name="Rounded Rectangle 4"/>
          <p:cNvSpPr/>
          <p:nvPr/>
        </p:nvSpPr>
        <p:spPr>
          <a:xfrm>
            <a:off x="548640" y="1828800"/>
            <a:ext cx="5029201" cy="16459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5"/>
          <p:cNvSpPr txBox="1"/>
          <p:nvPr/>
        </p:nvSpPr>
        <p:spPr>
          <a:xfrm>
            <a:off x="777239" y="1965960"/>
            <a:ext cx="3731852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condition: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runs when condition is True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runs when condition is False</a:t>
            </a:r>
          </a:p>
        </p:txBody>
      </p:sp>
      <p:sp>
        <p:nvSpPr>
          <p:cNvPr id="109" name="TextBox 6"/>
          <p:cNvSpPr txBox="1"/>
          <p:nvPr/>
        </p:nvSpPr>
        <p:spPr>
          <a:xfrm>
            <a:off x="6446519" y="1280160"/>
            <a:ext cx="97288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Example:</a:t>
            </a:r>
          </a:p>
        </p:txBody>
      </p:sp>
      <p:sp>
        <p:nvSpPr>
          <p:cNvPr id="110" name="Rounded Rectangle 7"/>
          <p:cNvSpPr/>
          <p:nvPr/>
        </p:nvSpPr>
        <p:spPr>
          <a:xfrm>
            <a:off x="6400800" y="1828800"/>
            <a:ext cx="5029200" cy="18288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8"/>
          <p:cNvSpPr txBox="1"/>
          <p:nvPr/>
        </p:nvSpPr>
        <p:spPr>
          <a:xfrm>
            <a:off x="6629400" y="1965960"/>
            <a:ext cx="3305062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temperature = 85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temperature &gt; 80: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print("It's hot!")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print("It's comfortable.")</a:t>
            </a:r>
          </a:p>
        </p:txBody>
      </p:sp>
      <p:sp>
        <p:nvSpPr>
          <p:cNvPr id="112" name="TextBox 9"/>
          <p:cNvSpPr txBox="1"/>
          <p:nvPr/>
        </p:nvSpPr>
        <p:spPr>
          <a:xfrm>
            <a:off x="594360" y="3931920"/>
            <a:ext cx="1088136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1B3A5C"/>
                </a:solidFill>
              </a:defRPr>
            </a:lvl1pPr>
          </a:lstStyle>
          <a:p>
            <a:pPr/>
            <a:r>
              <a:t>Only ONE block runs — never both.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if/else for Robot Decisions</a:t>
            </a:r>
          </a:p>
        </p:txBody>
      </p:sp>
      <p:sp>
        <p:nvSpPr>
          <p:cNvPr id="116" name="Rounded Rectangle 3"/>
          <p:cNvSpPr/>
          <p:nvPr/>
        </p:nvSpPr>
        <p:spPr>
          <a:xfrm>
            <a:off x="548640" y="1371600"/>
            <a:ext cx="6400801" cy="36576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4"/>
          <p:cNvSpPr txBox="1"/>
          <p:nvPr/>
        </p:nvSpPr>
        <p:spPr>
          <a:xfrm>
            <a:off x="777239" y="1508760"/>
            <a:ext cx="3838549" cy="212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 = reflectance.get_left()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left &gt;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ON the line — turn around!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drivetrain.stop()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drivetrain.turn(180)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OFF the line — keep driving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drivetrain.set_effort(0.3, 0.3)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7360919" y="1371600"/>
            <a:ext cx="4297682" cy="315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When sensor &gt; threshold: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On the line → stop and turn 180°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When sensor ≤ threshold: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Off the line → keep driving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>
                <a:solidFill>
                  <a:srgbClr val="2E75B6"/>
                </a:solidFill>
              </a:defRPr>
            </a:pPr>
            <a:r>
              <a:t>The robot checks the sensor and decides what to 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while True — The Infinite Loop</a:t>
            </a:r>
          </a:p>
        </p:txBody>
      </p:sp>
      <p:sp>
        <p:nvSpPr>
          <p:cNvPr id="122" name="Rounded Rectangle 3"/>
          <p:cNvSpPr/>
          <p:nvPr/>
        </p:nvSpPr>
        <p:spPr>
          <a:xfrm>
            <a:off x="548640" y="1371600"/>
            <a:ext cx="6400801" cy="13716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4"/>
          <p:cNvSpPr txBox="1"/>
          <p:nvPr/>
        </p:nvSpPr>
        <p:spPr>
          <a:xfrm>
            <a:off x="777239" y="1508760"/>
            <a:ext cx="3091668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this code runs FOREVER</a:t>
            </a:r>
          </a:p>
        </p:txBody>
      </p:sp>
      <p:sp>
        <p:nvSpPr>
          <p:cNvPr id="124" name="TextBox 5"/>
          <p:cNvSpPr txBox="1"/>
          <p:nvPr/>
        </p:nvSpPr>
        <p:spPr>
          <a:xfrm>
            <a:off x="594360" y="3017520"/>
            <a:ext cx="10881361" cy="3019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Why?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True is always True — the condition never becomes False.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For robots: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The robot should keep running until you turn it off.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Common in robotics — the robot continuously senses and acts.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Complete Bounce Program</a:t>
            </a:r>
          </a:p>
        </p:txBody>
      </p:sp>
      <p:sp>
        <p:nvSpPr>
          <p:cNvPr id="128" name="Rounded Rectangle 3"/>
          <p:cNvSpPr/>
          <p:nvPr/>
        </p:nvSpPr>
        <p:spPr>
          <a:xfrm>
            <a:off x="548640" y="1371600"/>
            <a:ext cx="5943601" cy="475488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4"/>
          <p:cNvSpPr txBox="1"/>
          <p:nvPr/>
        </p:nvSpPr>
        <p:spPr>
          <a:xfrm>
            <a:off x="777239" y="1508760"/>
            <a:ext cx="4265339" cy="303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threshold = 0.5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left &gt;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drivetrain.stop()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print("Bounce!")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drivetrain.turn(180)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drivetrain.set_effort(0.3, 0.3)</a:t>
            </a:r>
          </a:p>
        </p:txBody>
      </p:sp>
      <p:sp>
        <p:nvSpPr>
          <p:cNvPr id="130" name="TextBox 5"/>
          <p:cNvSpPr txBox="1"/>
          <p:nvPr/>
        </p:nvSpPr>
        <p:spPr>
          <a:xfrm>
            <a:off x="6903719" y="1371600"/>
            <a:ext cx="4937762" cy="2530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Flow: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Drive forward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Check sensor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On line? → stop, print, turn 180°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Not on line? → keep driving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Repeat forever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Logical Operators</a:t>
            </a:r>
          </a:p>
        </p:txBody>
      </p:sp>
      <p:sp>
        <p:nvSpPr>
          <p:cNvPr id="134" name="TextBox 3"/>
          <p:cNvSpPr txBox="1"/>
          <p:nvPr/>
        </p:nvSpPr>
        <p:spPr>
          <a:xfrm>
            <a:off x="594360" y="1280160"/>
            <a:ext cx="307739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or — at least one must be True:</a:t>
            </a:r>
          </a:p>
        </p:txBody>
      </p:sp>
      <p:sp>
        <p:nvSpPr>
          <p:cNvPr id="135" name="Rounded Rectangle 4"/>
          <p:cNvSpPr/>
          <p:nvPr/>
        </p:nvSpPr>
        <p:spPr>
          <a:xfrm>
            <a:off x="548640" y="1828800"/>
            <a:ext cx="10972801" cy="11887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5"/>
          <p:cNvSpPr txBox="1"/>
          <p:nvPr/>
        </p:nvSpPr>
        <p:spPr>
          <a:xfrm>
            <a:off x="777239" y="1965960"/>
            <a:ext cx="490552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left &gt; 0.5 or right &gt; 0.5: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print("At least one sensor on the line!")</a:t>
            </a:r>
          </a:p>
        </p:txBody>
      </p:sp>
      <p:sp>
        <p:nvSpPr>
          <p:cNvPr id="137" name="TextBox 6"/>
          <p:cNvSpPr txBox="1"/>
          <p:nvPr/>
        </p:nvSpPr>
        <p:spPr>
          <a:xfrm>
            <a:off x="594360" y="3200400"/>
            <a:ext cx="257297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and — both must be True:</a:t>
            </a:r>
          </a:p>
        </p:txBody>
      </p:sp>
      <p:sp>
        <p:nvSpPr>
          <p:cNvPr id="138" name="Rounded Rectangle 7"/>
          <p:cNvSpPr/>
          <p:nvPr/>
        </p:nvSpPr>
        <p:spPr>
          <a:xfrm>
            <a:off x="548640" y="3749038"/>
            <a:ext cx="10972801" cy="11887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8"/>
          <p:cNvSpPr txBox="1"/>
          <p:nvPr/>
        </p:nvSpPr>
        <p:spPr>
          <a:xfrm>
            <a:off x="777239" y="3886198"/>
            <a:ext cx="415864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left &gt; 0.5 and right &gt; 0.5: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print("BOTH sensors on the line!")</a:t>
            </a:r>
          </a:p>
        </p:txBody>
      </p:sp>
      <p:sp>
        <p:nvSpPr>
          <p:cNvPr id="140" name="TextBox 9"/>
          <p:cNvSpPr txBox="1"/>
          <p:nvPr/>
        </p:nvSpPr>
        <p:spPr>
          <a:xfrm>
            <a:off x="594360" y="5120640"/>
            <a:ext cx="263637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not — reverses True/False:</a:t>
            </a:r>
          </a:p>
        </p:txBody>
      </p:sp>
      <p:sp>
        <p:nvSpPr>
          <p:cNvPr id="141" name="Rounded Rectangle 10"/>
          <p:cNvSpPr/>
          <p:nvPr/>
        </p:nvSpPr>
        <p:spPr>
          <a:xfrm>
            <a:off x="548640" y="5669279"/>
            <a:ext cx="10972801" cy="91440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11"/>
          <p:cNvSpPr txBox="1"/>
          <p:nvPr/>
        </p:nvSpPr>
        <p:spPr>
          <a:xfrm>
            <a:off x="777239" y="5806440"/>
            <a:ext cx="3945246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not (left &gt; 0.5):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print("Left is NOT on the line")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Using Both Sensors</a:t>
            </a:r>
          </a:p>
        </p:txBody>
      </p:sp>
      <p:sp>
        <p:nvSpPr>
          <p:cNvPr id="146" name="Rounded Rectangle 3"/>
          <p:cNvSpPr/>
          <p:nvPr/>
        </p:nvSpPr>
        <p:spPr>
          <a:xfrm>
            <a:off x="548640" y="1371600"/>
            <a:ext cx="6400801" cy="384048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4"/>
          <p:cNvSpPr txBox="1"/>
          <p:nvPr/>
        </p:nvSpPr>
        <p:spPr>
          <a:xfrm>
            <a:off x="777239" y="1508760"/>
            <a:ext cx="4905523" cy="212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 = reflectance.get_right()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left &gt; threshold or right &gt; threshold: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drivetrain.stop()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drivetrain.turn(180)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drivetrain.set_effort(0.3, 0.3)</a:t>
            </a:r>
          </a:p>
        </p:txBody>
      </p:sp>
      <p:sp>
        <p:nvSpPr>
          <p:cNvPr id="148" name="TextBox 5"/>
          <p:cNvSpPr txBox="1"/>
          <p:nvPr/>
        </p:nvSpPr>
        <p:spPr>
          <a:xfrm>
            <a:off x="7178039" y="1371600"/>
            <a:ext cx="4480561" cy="2034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Why both sensors?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If the robot approaches the line at an angle, only one sensor may detect it first.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>
                <a:solidFill>
                  <a:srgbClr val="2E75B6"/>
                </a:solidFill>
              </a:defRPr>
            </a:pPr>
            <a:r>
              <a:t>Using or catches both cases.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Your Turn!</a:t>
            </a:r>
          </a:p>
        </p:txBody>
      </p:sp>
      <p:sp>
        <p:nvSpPr>
          <p:cNvPr id="152" name="TextBox 3"/>
          <p:cNvSpPr txBox="1"/>
          <p:nvPr/>
        </p:nvSpPr>
        <p:spPr>
          <a:xfrm>
            <a:off x="594360" y="1371600"/>
            <a:ext cx="5852161" cy="2961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 1: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Build the bounce driving program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Robot bounces back and forth inside the circle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 2 (Challenge):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Use both sensors with or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Add a bounce counter</a:t>
            </a:r>
          </a:p>
        </p:txBody>
      </p:sp>
      <p:sp>
        <p:nvSpPr>
          <p:cNvPr id="153" name="TextBox 4"/>
          <p:cNvSpPr txBox="1"/>
          <p:nvPr/>
        </p:nvSpPr>
        <p:spPr>
          <a:xfrm>
            <a:off x="6903719" y="1371600"/>
            <a:ext cx="4480562" cy="1425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Observe: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What pattern does the robot follow?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Does it always bounce on the same line?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Connection to Next Lesson</a:t>
            </a:r>
          </a:p>
        </p:txBody>
      </p:sp>
      <p:sp>
        <p:nvSpPr>
          <p:cNvPr id="157" name="TextBox 3"/>
          <p:cNvSpPr txBox="1"/>
          <p:nvPr/>
        </p:nvSpPr>
        <p:spPr>
          <a:xfrm>
            <a:off x="594360" y="1371600"/>
            <a:ext cx="10881361" cy="4157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The problem: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The robot bounces back and forth on the SAME line.  Boring!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Next lesson (Lesson 4):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Add randomness!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import random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random.randint() — generate random numbers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Random turn angles → robot explores the whole circle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Preview:</a:t>
            </a:r>
          </a:p>
        </p:txBody>
      </p:sp>
      <p:sp>
        <p:nvSpPr>
          <p:cNvPr id="158" name="Rounded Rectangle 4"/>
          <p:cNvSpPr/>
          <p:nvPr/>
        </p:nvSpPr>
        <p:spPr>
          <a:xfrm>
            <a:off x="548640" y="5120640"/>
            <a:ext cx="6400801" cy="137160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5"/>
          <p:cNvSpPr txBox="1"/>
          <p:nvPr/>
        </p:nvSpPr>
        <p:spPr>
          <a:xfrm>
            <a:off x="777239" y="5257799"/>
            <a:ext cx="5774344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2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angle = random.randint(90, 270)</a:t>
            </a:r>
          </a:p>
          <a:p>
            <a:pPr>
              <a:spcBef>
                <a:spcPts val="200"/>
              </a:spcBef>
              <a:defRPr sz="2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drivetrain.turn(angle)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