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8" y="457199"/>
            <a:ext cx="2547897" cy="340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1"/>
            <a:ext cx="8471950" cy="54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3400">
                <a:solidFill>
                  <a:srgbClr val="FFFFFF"/>
                </a:solidFill>
              </a:defRPr>
            </a:lvl1pPr>
          </a:lstStyle>
          <a:p>
            <a:pPr/>
            <a:r>
              <a:t>Lesson 8: Introduction to Classes — LineSensor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8" y="3108961"/>
            <a:ext cx="4828955" cy="1720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Understand why classes are useful for organizing code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Write a class with __init__, self, and methods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Create objects and call methods on them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Build a working LineSensor class for the XRP robot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8" y="3108961"/>
            <a:ext cx="4153356" cy="167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Why classes?  (5 min)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Class syntax walkthrough  (10 min)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Build LineSensor step by step  (15 min)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Practice: write and test your LineSensor  (15 min)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The Problem with Our Code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188720"/>
            <a:ext cx="1088136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Our Lesson 7 code has everything mixed together:</a:t>
            </a:r>
          </a:p>
        </p:txBody>
      </p:sp>
      <p:sp>
        <p:nvSpPr>
          <p:cNvPr id="103" name="Rounded Rectangle 4"/>
          <p:cNvSpPr/>
          <p:nvPr/>
        </p:nvSpPr>
        <p:spPr>
          <a:xfrm>
            <a:off x="548640" y="1737360"/>
            <a:ext cx="7772401" cy="43891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" name="TextBox 5"/>
          <p:cNvSpPr txBox="1"/>
          <p:nvPr/>
        </p:nvSpPr>
        <p:spPr>
          <a:xfrm>
            <a:off x="777238" y="1828799"/>
            <a:ext cx="6445011" cy="3126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reflectance = Reflectance.get_default_reflectance()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  = DifferentialDrive.get_default_differential_drive()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threshold = 0.5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base_effort = 0.4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kp = 0.5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 = reflectance.get_left()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 = reflectance.get_right()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error = left - right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left &gt; threshold and right &gt; threshold: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drivetrain.stop()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break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correction = error * kp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drivetrain.arcade(base_effort, -correction)</a:t>
            </a:r>
          </a:p>
        </p:txBody>
      </p:sp>
      <p:sp>
        <p:nvSpPr>
          <p:cNvPr id="105" name="TextBox 6"/>
          <p:cNvSpPr txBox="1"/>
          <p:nvPr/>
        </p:nvSpPr>
        <p:spPr>
          <a:xfrm>
            <a:off x="8458199" y="1737361"/>
            <a:ext cx="3474722" cy="304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Problems: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Sensor code and driving code are tangled together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Hard to reuse just the sensor part in another program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Hard to read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b="1" sz="1600">
                <a:solidFill>
                  <a:srgbClr val="2E75B6"/>
                </a:solidFill>
              </a:defRPr>
            </a:pPr>
            <a:r>
              <a:t>"How could we separate the sensor logic from the driving logic?"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What Is a Class?</a:t>
            </a:r>
          </a:p>
        </p:txBody>
      </p:sp>
      <p:sp>
        <p:nvSpPr>
          <p:cNvPr id="109" name="TextBox 3"/>
          <p:cNvSpPr txBox="1"/>
          <p:nvPr/>
        </p:nvSpPr>
        <p:spPr>
          <a:xfrm>
            <a:off x="594360" y="1280161"/>
            <a:ext cx="7357649" cy="340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A class is a blueprint that groups related data and functions together.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594359" y="2011679"/>
            <a:ext cx="4937762" cy="3399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Analogy — TV Remote:</a:t>
            </a:r>
          </a:p>
          <a:p>
            <a:pPr lvl="1" indent="457200"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Data it stores: current channel, volume level</a:t>
            </a:r>
          </a:p>
          <a:p>
            <a:pPr lvl="1" indent="457200"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Actions it can do: change channel, adjust volume, power on/off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Analogy — LineSensor:</a:t>
            </a:r>
          </a:p>
          <a:p>
            <a:pPr lvl="1" indent="457200"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Data it stores: the reflectance hardware, a threshold value</a:t>
            </a:r>
          </a:p>
          <a:p>
            <a:pPr lvl="1" indent="457200"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Actions it can do: get error, check for cross, check if off line</a:t>
            </a:r>
          </a:p>
        </p:txBody>
      </p:sp>
      <p:graphicFrame>
        <p:nvGraphicFramePr>
          <p:cNvPr id="111" name="Table 5"/>
          <p:cNvGraphicFramePr/>
          <p:nvPr/>
        </p:nvGraphicFramePr>
        <p:xfrm>
          <a:off x="6160046" y="2490905"/>
          <a:ext cx="5801193" cy="237743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1812872"/>
                <a:gridCol w="3988320"/>
              </a:tblGrid>
              <a:tr h="475487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Class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The blueprint (the design)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Object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A specific thing built from the blueprint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Method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A function that belongs to a class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7548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Attribute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A variable that belongs to an object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You Already Use Classes!</a:t>
            </a:r>
          </a:p>
        </p:txBody>
      </p:sp>
      <p:sp>
        <p:nvSpPr>
          <p:cNvPr id="115" name="TextBox 3"/>
          <p:cNvSpPr txBox="1"/>
          <p:nvPr/>
        </p:nvSpPr>
        <p:spPr>
          <a:xfrm>
            <a:off x="594360" y="1280161"/>
            <a:ext cx="1088136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Every time you wrote this, you were using a class:</a:t>
            </a:r>
          </a:p>
        </p:txBody>
      </p:sp>
      <p:sp>
        <p:nvSpPr>
          <p:cNvPr id="116" name="Rounded Rectangle 4"/>
          <p:cNvSpPr/>
          <p:nvPr/>
        </p:nvSpPr>
        <p:spPr>
          <a:xfrm>
            <a:off x="548640" y="1828800"/>
            <a:ext cx="9144001" cy="19202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TextBox 5"/>
          <p:cNvSpPr txBox="1"/>
          <p:nvPr/>
        </p:nvSpPr>
        <p:spPr>
          <a:xfrm>
            <a:off x="777238" y="1920239"/>
            <a:ext cx="8502746" cy="12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9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 = DifferentialDrive.get_default_differential_drive()</a:t>
            </a:r>
          </a:p>
          <a:p>
            <a:pPr>
              <a:spcBef>
                <a:spcPts val="100"/>
              </a:spcBef>
              <a:defRPr sz="19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drive.straight(30)</a:t>
            </a:r>
          </a:p>
          <a:p>
            <a:pPr>
              <a:spcBef>
                <a:spcPts val="100"/>
              </a:spcBef>
              <a:defRPr sz="19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drive.turn(90)</a:t>
            </a:r>
          </a:p>
          <a:p>
            <a:pPr>
              <a:spcBef>
                <a:spcPts val="100"/>
              </a:spcBef>
              <a:defRPr sz="19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drive.stop()</a:t>
            </a:r>
          </a:p>
        </p:txBody>
      </p:sp>
      <p:sp>
        <p:nvSpPr>
          <p:cNvPr id="118" name="TextBox 6"/>
          <p:cNvSpPr txBox="1"/>
          <p:nvPr/>
        </p:nvSpPr>
        <p:spPr>
          <a:xfrm>
            <a:off x="594360" y="4023360"/>
            <a:ext cx="10881361" cy="2118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sz="1900">
                <a:solidFill>
                  <a:srgbClr val="333333"/>
                </a:solidFill>
              </a:defRPr>
            </a:pPr>
            <a:r>
              <a:t>DifferentialDrive is a class (the blueprint)</a:t>
            </a:r>
          </a:p>
          <a:p>
            <a:pPr>
              <a:spcBef>
                <a:spcPts val="500"/>
              </a:spcBef>
              <a:defRPr sz="1900">
                <a:solidFill>
                  <a:srgbClr val="333333"/>
                </a:solidFill>
              </a:defRPr>
            </a:pPr>
            <a:r>
              <a:t>drive is an object (a specific instance)</a:t>
            </a:r>
          </a:p>
          <a:p>
            <a:pPr>
              <a:spcBef>
                <a:spcPts val="500"/>
              </a:spcBef>
              <a:defRPr sz="1900">
                <a:solidFill>
                  <a:srgbClr val="333333"/>
                </a:solidFill>
              </a:defRPr>
            </a:pPr>
            <a:r>
              <a:t>.straight(), .turn(), .stop() are methods</a:t>
            </a:r>
          </a:p>
          <a:p>
            <a:pPr>
              <a:spcBef>
                <a:spcPts val="500"/>
              </a:spcBef>
              <a:defRPr sz="1900">
                <a:solidFill>
                  <a:srgbClr val="333333"/>
                </a:solidFill>
              </a:defRPr>
            </a:pPr>
          </a:p>
          <a:p>
            <a:pPr>
              <a:spcBef>
                <a:spcPts val="500"/>
              </a:spcBef>
              <a:defRPr b="1" sz="2000">
                <a:solidFill>
                  <a:srgbClr val="2E75B6"/>
                </a:solidFill>
              </a:defRPr>
            </a:pPr>
            <a:r>
              <a:t>Today you will build your own class — just like the ones in XRPLib!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Class Syntax — The Basics</a:t>
            </a:r>
          </a:p>
        </p:txBody>
      </p:sp>
      <p:sp>
        <p:nvSpPr>
          <p:cNvPr id="122" name="TextBox 3"/>
          <p:cNvSpPr txBox="1"/>
          <p:nvPr/>
        </p:nvSpPr>
        <p:spPr>
          <a:xfrm>
            <a:off x="594359" y="1280161"/>
            <a:ext cx="5852162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Defining an empty class:</a:t>
            </a:r>
          </a:p>
        </p:txBody>
      </p:sp>
      <p:sp>
        <p:nvSpPr>
          <p:cNvPr id="123" name="Rounded Rectangle 4"/>
          <p:cNvSpPr/>
          <p:nvPr/>
        </p:nvSpPr>
        <p:spPr>
          <a:xfrm>
            <a:off x="548640" y="1828800"/>
            <a:ext cx="5943602" cy="10058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5"/>
          <p:cNvSpPr txBox="1"/>
          <p:nvPr/>
        </p:nvSpPr>
        <p:spPr>
          <a:xfrm>
            <a:off x="777238" y="1920239"/>
            <a:ext cx="1788434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LineSensor: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pass</a:t>
            </a:r>
          </a:p>
        </p:txBody>
      </p:sp>
      <p:sp>
        <p:nvSpPr>
          <p:cNvPr id="125" name="TextBox 6"/>
          <p:cNvSpPr txBox="1"/>
          <p:nvPr/>
        </p:nvSpPr>
        <p:spPr>
          <a:xfrm>
            <a:off x="594359" y="3017521"/>
            <a:ext cx="5852162" cy="1608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rPr b="1"/>
              <a:t>class</a:t>
            </a:r>
            <a:r>
              <a:t> — keyword that starts a class definition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LineSensor — the name (CamelCase: capitalize each word)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: — colon starts the body (just like def and for)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pass — placeholder for “nothing here yet”</a:t>
            </a:r>
          </a:p>
        </p:txBody>
      </p:sp>
      <p:sp>
        <p:nvSpPr>
          <p:cNvPr id="126" name="TextBox 7"/>
          <p:cNvSpPr txBox="1"/>
          <p:nvPr/>
        </p:nvSpPr>
        <p:spPr>
          <a:xfrm>
            <a:off x="6629399" y="1280161"/>
            <a:ext cx="5212083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Creating an object (instantiation):</a:t>
            </a:r>
          </a:p>
        </p:txBody>
      </p:sp>
      <p:sp>
        <p:nvSpPr>
          <p:cNvPr id="127" name="Rounded Rectangle 8"/>
          <p:cNvSpPr/>
          <p:nvPr/>
        </p:nvSpPr>
        <p:spPr>
          <a:xfrm>
            <a:off x="6583680" y="1828800"/>
            <a:ext cx="5303522" cy="100584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TextBox 9"/>
          <p:cNvSpPr txBox="1"/>
          <p:nvPr/>
        </p:nvSpPr>
        <p:spPr>
          <a:xfrm>
            <a:off x="6812278" y="1920239"/>
            <a:ext cx="2184738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 = LineSensor()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print(type(sensor)) </a:t>
            </a:r>
          </a:p>
        </p:txBody>
      </p:sp>
      <p:sp>
        <p:nvSpPr>
          <p:cNvPr id="129" name="TextBox 10"/>
          <p:cNvSpPr txBox="1"/>
          <p:nvPr/>
        </p:nvSpPr>
        <p:spPr>
          <a:xfrm>
            <a:off x="6629399" y="3017521"/>
            <a:ext cx="5212083" cy="577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2E75B6"/>
                </a:solidFill>
              </a:defRPr>
            </a:lvl1pPr>
          </a:lstStyle>
          <a:p>
            <a:pPr/>
            <a:r>
              <a:t>Key point: Parentheses () after the class name create a new object.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The __init__ Method (Constructor)</a:t>
            </a:r>
          </a:p>
        </p:txBody>
      </p:sp>
      <p:sp>
        <p:nvSpPr>
          <p:cNvPr id="133" name="TextBox 3"/>
          <p:cNvSpPr txBox="1"/>
          <p:nvPr/>
        </p:nvSpPr>
        <p:spPr>
          <a:xfrm>
            <a:off x="594360" y="1188720"/>
            <a:ext cx="1088136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__init__ runs automatically when you create an object:</a:t>
            </a:r>
          </a:p>
        </p:txBody>
      </p:sp>
      <p:sp>
        <p:nvSpPr>
          <p:cNvPr id="134" name="Rounded Rectangle 4"/>
          <p:cNvSpPr/>
          <p:nvPr/>
        </p:nvSpPr>
        <p:spPr>
          <a:xfrm>
            <a:off x="548640" y="1737360"/>
            <a:ext cx="9144001" cy="1828802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" name="TextBox 5"/>
          <p:cNvSpPr txBox="1"/>
          <p:nvPr/>
        </p:nvSpPr>
        <p:spPr>
          <a:xfrm>
            <a:off x="777238" y="1828800"/>
            <a:ext cx="8396049" cy="109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LineSensor:</a:t>
            </a:r>
          </a:p>
          <a:p>
            <a:pPr>
              <a:spcBef>
                <a:spcPts val="100"/>
              </a:spcBef>
              <a:defRPr sz="1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defRPr sz="1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self.reflectance = Reflectance.get_default_reflectance()</a:t>
            </a:r>
          </a:p>
          <a:p>
            <a:pPr>
              <a:spcBef>
                <a:spcPts val="100"/>
              </a:spcBef>
              <a:defRPr sz="17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self.threshold = 0.5</a:t>
            </a:r>
          </a:p>
        </p:txBody>
      </p:sp>
      <p:sp>
        <p:nvSpPr>
          <p:cNvPr id="136" name="TextBox 6"/>
          <p:cNvSpPr txBox="1"/>
          <p:nvPr/>
        </p:nvSpPr>
        <p:spPr>
          <a:xfrm>
            <a:off x="568501" y="4005144"/>
            <a:ext cx="5852162" cy="1253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def __init__(self): — special method, called the constructor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self — refers to the object being created (“me, myself”)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self.reflectance — stores the sensor hardware on this object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self.threshold — stores 0.5 on this object</a:t>
            </a:r>
          </a:p>
        </p:txBody>
      </p:sp>
      <p:sp>
        <p:nvSpPr>
          <p:cNvPr id="137" name="TextBox 7"/>
          <p:cNvSpPr txBox="1"/>
          <p:nvPr/>
        </p:nvSpPr>
        <p:spPr>
          <a:xfrm>
            <a:off x="6629399" y="3749038"/>
            <a:ext cx="5212083" cy="333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Using it:</a:t>
            </a:r>
          </a:p>
        </p:txBody>
      </p:sp>
      <p:sp>
        <p:nvSpPr>
          <p:cNvPr id="138" name="Rounded Rectangle 8"/>
          <p:cNvSpPr/>
          <p:nvPr/>
        </p:nvSpPr>
        <p:spPr>
          <a:xfrm>
            <a:off x="6583680" y="4297679"/>
            <a:ext cx="5303522" cy="1005842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9"/>
          <p:cNvSpPr txBox="1"/>
          <p:nvPr/>
        </p:nvSpPr>
        <p:spPr>
          <a:xfrm>
            <a:off x="6812278" y="4389121"/>
            <a:ext cx="4958869" cy="485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 = LineSensor()       # __init__ runs here!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print(sensor.threshold)     # Prints: 0.5</a:t>
            </a:r>
          </a:p>
        </p:txBody>
      </p:sp>
      <p:sp>
        <p:nvSpPr>
          <p:cNvPr id="140" name="TextBox 10"/>
          <p:cNvSpPr txBox="1"/>
          <p:nvPr/>
        </p:nvSpPr>
        <p:spPr>
          <a:xfrm>
            <a:off x="594359" y="5852160"/>
            <a:ext cx="6204976" cy="330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900">
                <a:solidFill>
                  <a:srgbClr val="2E75B6"/>
                </a:solidFill>
              </a:defRPr>
            </a:lvl1pPr>
          </a:lstStyle>
          <a:p>
            <a:pPr/>
            <a:r>
              <a:t>The big idea: self.something means “this object’s something”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Understanding self</a:t>
            </a:r>
          </a:p>
        </p:txBody>
      </p:sp>
      <p:sp>
        <p:nvSpPr>
          <p:cNvPr id="144" name="Rounded Rectangle 3"/>
          <p:cNvSpPr/>
          <p:nvPr/>
        </p:nvSpPr>
        <p:spPr>
          <a:xfrm>
            <a:off x="548640" y="1371600"/>
            <a:ext cx="6858001" cy="3200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4"/>
          <p:cNvSpPr txBox="1"/>
          <p:nvPr/>
        </p:nvSpPr>
        <p:spPr>
          <a:xfrm>
            <a:off x="777239" y="1463040"/>
            <a:ext cx="5652402" cy="170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When you write: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sensor_a = LineSensor()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Python does this behind the scenes: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1. Creates a new empty object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2. Passes it to __init__ as self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3. self.threshold = 0.5  sets THIS object's threshold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 4. Returns the object, stored in sensor_a</a:t>
            </a:r>
          </a:p>
        </p:txBody>
      </p:sp>
      <p:sp>
        <p:nvSpPr>
          <p:cNvPr id="146" name="TextBox 5"/>
          <p:cNvSpPr txBox="1"/>
          <p:nvPr/>
        </p:nvSpPr>
        <p:spPr>
          <a:xfrm>
            <a:off x="594360" y="4663441"/>
            <a:ext cx="10881361" cy="31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B3A5C"/>
                </a:solidFill>
              </a:defRPr>
            </a:lvl1pPr>
          </a:lstStyle>
          <a:p>
            <a:pPr/>
            <a:r>
              <a:t>Rule: You write self in the definition. NEVER write self when calling.</a:t>
            </a:r>
          </a:p>
        </p:txBody>
      </p:sp>
      <p:sp>
        <p:nvSpPr>
          <p:cNvPr id="147" name="Rounded Rectangle 6"/>
          <p:cNvSpPr/>
          <p:nvPr/>
        </p:nvSpPr>
        <p:spPr>
          <a:xfrm>
            <a:off x="548640" y="5212079"/>
            <a:ext cx="6858001" cy="1645922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7"/>
          <p:cNvSpPr txBox="1"/>
          <p:nvPr/>
        </p:nvSpPr>
        <p:spPr>
          <a:xfrm>
            <a:off x="777238" y="5303521"/>
            <a:ext cx="4760717" cy="1297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Definition: self is first parameter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get_error(self):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...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Call: no self -- Python adds it automatically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error = sensor.get_error()</a:t>
            </a:r>
          </a:p>
        </p:txBody>
      </p:sp>
      <p:sp>
        <p:nvSpPr>
          <p:cNvPr id="149" name="TextBox 8"/>
          <p:cNvSpPr txBox="1"/>
          <p:nvPr/>
        </p:nvSpPr>
        <p:spPr>
          <a:xfrm>
            <a:off x="7635239" y="1371600"/>
            <a:ext cx="4297682" cy="2040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self = “the object referring to itself”</a:t>
            </a:r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Analogy: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Two students in class each say “my name is…”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self is each student’s word for “my.”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Adding Methods</a:t>
            </a:r>
          </a:p>
        </p:txBody>
      </p:sp>
      <p:sp>
        <p:nvSpPr>
          <p:cNvPr id="153" name="TextBox 3"/>
          <p:cNvSpPr txBox="1"/>
          <p:nvPr/>
        </p:nvSpPr>
        <p:spPr>
          <a:xfrm>
            <a:off x="594360" y="1188720"/>
            <a:ext cx="1088136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A method is a function inside a class:</a:t>
            </a:r>
          </a:p>
        </p:txBody>
      </p:sp>
      <p:sp>
        <p:nvSpPr>
          <p:cNvPr id="154" name="Rounded Rectangle 4"/>
          <p:cNvSpPr/>
          <p:nvPr/>
        </p:nvSpPr>
        <p:spPr>
          <a:xfrm>
            <a:off x="548640" y="1737360"/>
            <a:ext cx="6858001" cy="2903221"/>
          </a:xfrm>
          <a:prstGeom prst="roundRect">
            <a:avLst>
              <a:gd name="adj" fmla="val 22048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TextBox 5"/>
          <p:cNvSpPr txBox="1"/>
          <p:nvPr/>
        </p:nvSpPr>
        <p:spPr>
          <a:xfrm>
            <a:off x="777238" y="1828801"/>
            <a:ext cx="6445011" cy="1501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LineSensor: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self.reflectance = Reflectance.get_default_reflectance()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self.threshold = 0.5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get_error(self):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self.get_left() - self.get_right()</a:t>
            </a:r>
          </a:p>
        </p:txBody>
      </p:sp>
      <p:sp>
        <p:nvSpPr>
          <p:cNvPr id="156" name="TextBox 6"/>
          <p:cNvSpPr txBox="1"/>
          <p:nvPr/>
        </p:nvSpPr>
        <p:spPr>
          <a:xfrm>
            <a:off x="7543797" y="1737361"/>
            <a:ext cx="4389122" cy="1964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Key rules for methods: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Indented inside the class (one level in)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Always take self as the first parameter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Use self. to access attributes (self.reflectance)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Use self. to call other methods (self.get_error())</a:t>
            </a:r>
          </a:p>
        </p:txBody>
      </p:sp>
      <p:sp>
        <p:nvSpPr>
          <p:cNvPr id="157" name="TextBox 7"/>
          <p:cNvSpPr txBox="1"/>
          <p:nvPr/>
        </p:nvSpPr>
        <p:spPr>
          <a:xfrm>
            <a:off x="675004" y="4967650"/>
            <a:ext cx="10881361" cy="300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B3A5C"/>
                </a:solidFill>
              </a:defRPr>
            </a:lvl1pPr>
          </a:lstStyle>
          <a:p>
            <a:pPr/>
            <a:r>
              <a:t>Calling methods on an object:</a:t>
            </a:r>
          </a:p>
        </p:txBody>
      </p:sp>
      <p:sp>
        <p:nvSpPr>
          <p:cNvPr id="158" name="Rounded Rectangle 8"/>
          <p:cNvSpPr/>
          <p:nvPr/>
        </p:nvSpPr>
        <p:spPr>
          <a:xfrm>
            <a:off x="629284" y="5424849"/>
            <a:ext cx="6858001" cy="1188722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9"/>
          <p:cNvSpPr txBox="1"/>
          <p:nvPr/>
        </p:nvSpPr>
        <p:spPr>
          <a:xfrm>
            <a:off x="857883" y="5516289"/>
            <a:ext cx="4364413" cy="688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 = LineSensor()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print(sensor.get_error())   # Compute error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Boolean Methods — is_at_cross() and is_off_line()</a:t>
            </a:r>
          </a:p>
        </p:txBody>
      </p:sp>
      <p:sp>
        <p:nvSpPr>
          <p:cNvPr id="163" name="TextBox 3"/>
          <p:cNvSpPr txBox="1"/>
          <p:nvPr/>
        </p:nvSpPr>
        <p:spPr>
          <a:xfrm>
            <a:off x="594360" y="1188720"/>
            <a:ext cx="1088136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Methods that return True or False:</a:t>
            </a:r>
          </a:p>
        </p:txBody>
      </p:sp>
      <p:sp>
        <p:nvSpPr>
          <p:cNvPr id="164" name="Rounded Rectangle 4"/>
          <p:cNvSpPr/>
          <p:nvPr/>
        </p:nvSpPr>
        <p:spPr>
          <a:xfrm>
            <a:off x="548640" y="1737360"/>
            <a:ext cx="10972801" cy="1371602"/>
          </a:xfrm>
          <a:prstGeom prst="roundRect">
            <a:avLst>
              <a:gd name="adj" fmla="val 23334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5"/>
          <p:cNvSpPr txBox="1"/>
          <p:nvPr/>
        </p:nvSpPr>
        <p:spPr>
          <a:xfrm>
            <a:off x="777239" y="1828800"/>
            <a:ext cx="8129305" cy="109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is_at_cross(self):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self.get_left() &gt; self.threshold and self.get_right() &gt; self.threshold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is_off_line(self):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return self.get_left() &lt; self.threshold and self.get_right() &lt; self.threshold</a:t>
            </a:r>
          </a:p>
        </p:txBody>
      </p:sp>
      <p:graphicFrame>
        <p:nvGraphicFramePr>
          <p:cNvPr id="166" name="Table 6"/>
          <p:cNvGraphicFramePr/>
          <p:nvPr/>
        </p:nvGraphicFramePr>
        <p:xfrm>
          <a:off x="450731" y="3386454"/>
          <a:ext cx="9144001" cy="1920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926080"/>
                <a:gridCol w="1097280"/>
                <a:gridCol w="1097280"/>
                <a:gridCol w="2011679"/>
                <a:gridCol w="2011679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Left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Right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is_at_cross()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is_off_line()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On line, centered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midpoint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midpoint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False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False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On line, left of center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low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high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False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False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At intersection (cross)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high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high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True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False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Off line entirely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low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low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False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True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67" name="Rounded Rectangle 7"/>
          <p:cNvSpPr/>
          <p:nvPr/>
        </p:nvSpPr>
        <p:spPr>
          <a:xfrm>
            <a:off x="436568" y="5486400"/>
            <a:ext cx="6858002" cy="1277622"/>
          </a:xfrm>
          <a:prstGeom prst="roundRect">
            <a:avLst>
              <a:gd name="adj" fmla="val 17893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8" name="TextBox 8"/>
          <p:cNvSpPr txBox="1"/>
          <p:nvPr/>
        </p:nvSpPr>
        <p:spPr>
          <a:xfrm>
            <a:off x="594358" y="5577841"/>
            <a:ext cx="3175499" cy="109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not sensor.is_at_cross():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keep following line...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sensor.is_off_line():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print("Lost the line!")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1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The Complete LineSensor Class</a:t>
            </a:r>
          </a:p>
        </p:txBody>
      </p:sp>
      <p:sp>
        <p:nvSpPr>
          <p:cNvPr id="172" name="Rounded Rectangle 3"/>
          <p:cNvSpPr/>
          <p:nvPr/>
        </p:nvSpPr>
        <p:spPr>
          <a:xfrm>
            <a:off x="548640" y="1280160"/>
            <a:ext cx="7772401" cy="53035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3" name="TextBox 4"/>
          <p:cNvSpPr txBox="1"/>
          <p:nvPr/>
        </p:nvSpPr>
        <p:spPr>
          <a:xfrm>
            <a:off x="777238" y="1371600"/>
            <a:ext cx="6445011" cy="3533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XRPLib.reflectance import Reflectance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LineSensor: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self.reflectance = Reflectance.get_default_reflectance()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self.threshold = 0.5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def get_error(self):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self.get_left() - self.get_right()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is_at_cross(self):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(self.get_left() &gt; self.threshold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and self.get_right() &gt; self.threshold)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is_off_line(self):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return (self.get_left() &lt; self.threshold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      and self.get_right() &lt; self.threshold)</a:t>
            </a:r>
          </a:p>
        </p:txBody>
      </p:sp>
      <p:sp>
        <p:nvSpPr>
          <p:cNvPr id="174" name="TextBox 5"/>
          <p:cNvSpPr txBox="1"/>
          <p:nvPr/>
        </p:nvSpPr>
        <p:spPr>
          <a:xfrm>
            <a:off x="8549639" y="1280159"/>
            <a:ext cx="3383282" cy="3427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Inventory: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1 class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1 constructor (__init__)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2 attributes:</a:t>
            </a:r>
          </a:p>
          <a:p>
            <a:pPr lvl="1" indent="457200"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self.reflectance</a:t>
            </a:r>
          </a:p>
          <a:p>
            <a:pPr lvl="1" indent="457200"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self.threshold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3 methods:</a:t>
            </a:r>
          </a:p>
          <a:p>
            <a:pPr lvl="1" indent="457200"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get_error</a:t>
            </a:r>
          </a:p>
          <a:p>
            <a:pPr lvl="1" indent="457200"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is_at_cross</a:t>
            </a:r>
          </a:p>
          <a:p>
            <a:pPr lvl="1" indent="457200">
              <a:spcBef>
                <a:spcPts val="500"/>
              </a:spcBef>
              <a:defRPr sz="1500">
                <a:solidFill>
                  <a:srgbClr val="333333"/>
                </a:solidFill>
              </a:defRPr>
            </a:pPr>
            <a:r>
              <a:t>is_off_line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7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Before vs. After — Why Classes Win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594359" y="1188720"/>
            <a:ext cx="5394962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pPr/>
            <a:r>
              <a:t>Before (Lesson 7 — no class):</a:t>
            </a:r>
          </a:p>
        </p:txBody>
      </p:sp>
      <p:sp>
        <p:nvSpPr>
          <p:cNvPr id="179" name="Rounded Rectangle 4"/>
          <p:cNvSpPr/>
          <p:nvPr/>
        </p:nvSpPr>
        <p:spPr>
          <a:xfrm>
            <a:off x="548640" y="1737360"/>
            <a:ext cx="5486402" cy="292608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0" name="TextBox 5"/>
          <p:cNvSpPr txBox="1"/>
          <p:nvPr/>
        </p:nvSpPr>
        <p:spPr>
          <a:xfrm>
            <a:off x="777239" y="1828801"/>
            <a:ext cx="5157021" cy="170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reflectance = Reflectance.get_default_reflectance()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threshold = 0.5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     = reflectance.get_left()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right    = reflectance.get_right()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error    = left - right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at_cross = left &gt; threshold and right &gt; threshold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off_line = left &lt; threshold and right &lt; threshold</a:t>
            </a:r>
          </a:p>
        </p:txBody>
      </p:sp>
      <p:sp>
        <p:nvSpPr>
          <p:cNvPr id="181" name="TextBox 6"/>
          <p:cNvSpPr txBox="1"/>
          <p:nvPr/>
        </p:nvSpPr>
        <p:spPr>
          <a:xfrm>
            <a:off x="6446518" y="1188720"/>
            <a:ext cx="5394963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77B41"/>
                </a:solidFill>
              </a:defRPr>
            </a:lvl1pPr>
          </a:lstStyle>
          <a:p>
            <a:pPr/>
            <a:r>
              <a:t>After (Lesson 8 — with class):</a:t>
            </a:r>
          </a:p>
        </p:txBody>
      </p:sp>
      <p:sp>
        <p:nvSpPr>
          <p:cNvPr id="182" name="Rounded Rectangle 7"/>
          <p:cNvSpPr/>
          <p:nvPr/>
        </p:nvSpPr>
        <p:spPr>
          <a:xfrm>
            <a:off x="6400800" y="1737360"/>
            <a:ext cx="5486400" cy="201168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8"/>
          <p:cNvSpPr txBox="1"/>
          <p:nvPr/>
        </p:nvSpPr>
        <p:spPr>
          <a:xfrm>
            <a:off x="6629399" y="1828801"/>
            <a:ext cx="3175499" cy="109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 = LineSensor()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error    = sensor.get_error()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at_cross = sensor.is_at_cross()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off_line = sensor.is_off_line()</a:t>
            </a:r>
          </a:p>
        </p:txBody>
      </p:sp>
      <p:sp>
        <p:nvSpPr>
          <p:cNvPr id="184" name="TextBox 9"/>
          <p:cNvSpPr txBox="1"/>
          <p:nvPr/>
        </p:nvSpPr>
        <p:spPr>
          <a:xfrm>
            <a:off x="594360" y="4937760"/>
            <a:ext cx="10881361" cy="1329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What improved: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Fewer lines of code where you use it  •  Reads almost like English</a:t>
            </a:r>
          </a:p>
          <a:p>
            <a:pPr>
              <a:spcBef>
                <a:spcPts val="500"/>
              </a:spcBef>
              <a:defRPr sz="1600">
                <a:solidFill>
                  <a:srgbClr val="333333"/>
                </a:solidFill>
              </a:defRPr>
            </a:pPr>
            <a:r>
              <a:t>Sensor logic is packaged and reusable  •  Threshold stored in one place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2"/>
          <p:cNvSpPr txBox="1"/>
          <p:nvPr/>
        </p:nvSpPr>
        <p:spPr>
          <a:xfrm>
            <a:off x="594360" y="137159"/>
            <a:ext cx="10881361" cy="489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000">
                <a:solidFill>
                  <a:srgbClr val="FFFFFF"/>
                </a:solidFill>
              </a:defRPr>
            </a:lvl1pPr>
          </a:lstStyle>
          <a:p>
            <a:pPr/>
            <a:r>
              <a:t>Common Mistakes — and Connection to Lesson 9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594360" y="1188720"/>
            <a:ext cx="10881361" cy="333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Watch out for these errors:</a:t>
            </a:r>
          </a:p>
        </p:txBody>
      </p:sp>
      <p:sp>
        <p:nvSpPr>
          <p:cNvPr id="189" name="Rounded Rectangle 4"/>
          <p:cNvSpPr/>
          <p:nvPr/>
        </p:nvSpPr>
        <p:spPr>
          <a:xfrm>
            <a:off x="548640" y="1737360"/>
            <a:ext cx="10972801" cy="2638794"/>
          </a:xfrm>
          <a:prstGeom prst="roundRect">
            <a:avLst>
              <a:gd name="adj" fmla="val 2194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0" name="TextBox 5"/>
          <p:cNvSpPr txBox="1"/>
          <p:nvPr/>
        </p:nvSpPr>
        <p:spPr>
          <a:xfrm>
            <a:off x="777238" y="1828799"/>
            <a:ext cx="6841316" cy="2313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Mistake 1: Forgetting self in method definition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get_error():          # WRONG -- missing self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def get_error(self):      # CORRECT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Mistake 2: Forgetting self. when accessing attributes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 reflectance.get_left()          # WRONG -- which reflectance?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return self.reflectance.get_left()     # CORRECT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Mistake 3: Passing self when calling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sensor.get_error(sensor)   # WRONG -- Python does this automatically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sensor.get_error()         # CORRECT</a:t>
            </a:r>
          </a:p>
        </p:txBody>
      </p:sp>
      <p:sp>
        <p:nvSpPr>
          <p:cNvPr id="191" name="TextBox 6"/>
          <p:cNvSpPr txBox="1"/>
          <p:nvPr/>
        </p:nvSpPr>
        <p:spPr>
          <a:xfrm>
            <a:off x="466902" y="4591704"/>
            <a:ext cx="10881361" cy="1021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/>
          </a:p>
          <a:p>
            <a:pPr>
              <a:spcBef>
                <a:spcPts val="500"/>
              </a:spcBef>
              <a:defRPr b="1">
                <a:solidFill>
                  <a:srgbClr val="1B3A5C"/>
                </a:solidFill>
              </a:defRPr>
            </a:pPr>
            <a:r>
              <a:t>Coming up in Lesson 9: Object Composition</a:t>
            </a:r>
          </a:p>
          <a:p>
            <a:pPr>
              <a:spcBef>
                <a:spcPts val="500"/>
              </a:spcBef>
              <a:defRPr sz="1700">
                <a:solidFill>
                  <a:srgbClr val="333333"/>
                </a:solidFill>
              </a:defRPr>
            </a:pPr>
            <a:r>
              <a:t>Build a LineTrack class that uses a LineSensor inside it!</a:t>
            </a:r>
          </a:p>
        </p:txBody>
      </p:sp>
      <p:sp>
        <p:nvSpPr>
          <p:cNvPr id="192" name="Rounded Rectangle 7"/>
          <p:cNvSpPr/>
          <p:nvPr/>
        </p:nvSpPr>
        <p:spPr>
          <a:xfrm>
            <a:off x="421181" y="5323223"/>
            <a:ext cx="9144002" cy="1371602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" name="TextBox 8"/>
          <p:cNvSpPr txBox="1"/>
          <p:nvPr/>
        </p:nvSpPr>
        <p:spPr>
          <a:xfrm>
            <a:off x="649781" y="5414665"/>
            <a:ext cx="7633925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class LineTrack: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def __init__(self):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self.sensor    = LineSensor()  # Uses LineSensor!</a:t>
            </a:r>
          </a:p>
          <a:p>
            <a:pPr>
              <a:spcBef>
                <a:spcPts val="1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self.drivetrain = DifferentialDrive.get_default_differential_drive()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