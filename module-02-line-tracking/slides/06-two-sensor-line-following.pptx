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2743200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777239" y="457199"/>
            <a:ext cx="2547899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A0C4E8"/>
                </a:solidFill>
              </a:defRPr>
            </a:lvl1pPr>
          </a:lstStyle>
          <a:p>
            <a:pPr/>
            <a:r>
              <a:t>Module 2: Line Tracking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77239" y="914400"/>
            <a:ext cx="7753411" cy="6016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4000">
                <a:solidFill>
                  <a:srgbClr val="FFFFFF"/>
                </a:solidFill>
              </a:defRPr>
            </a:lvl1pPr>
          </a:lstStyle>
          <a:p>
            <a:pPr/>
            <a:r>
              <a:t>Lesson 6: Two-Sensor Line Following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777239" y="3108960"/>
            <a:ext cx="5461582" cy="16947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2200">
                <a:solidFill>
                  <a:srgbClr val="1B3A5C"/>
                </a:solidFill>
              </a:defRPr>
            </a:pPr>
            <a:r>
              <a:t>Learning Objectives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Understand why two sensors are better than one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Calculate error using left and right sensors: error = left − right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Implement a two-sensor proportional control loop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Compare one-sensor and two-sensor line following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6903719" y="3108960"/>
            <a:ext cx="3845184" cy="16467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2200">
                <a:solidFill>
                  <a:srgbClr val="1B3A5C"/>
                </a:solidFill>
              </a:defRPr>
            </a:pPr>
            <a:r>
              <a:t>Agenda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Why one sensor is not enough  (5 min)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Two-sensor error calculation  (10 min)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Build and test two-sensor follower  (15 min)</a:t>
            </a:r>
          </a:p>
          <a:p>
            <a:pPr>
              <a:spcBef>
                <a:spcPts val="600"/>
              </a:spcBef>
              <a:defRPr sz="1600">
                <a:solidFill>
                  <a:srgbClr val="333333"/>
                </a:solidFill>
              </a:defRPr>
            </a:pPr>
            <a:r>
              <a:t>Compare one-sensor vs. two-sensor  (20 min)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The Limitation of One Sensor</a:t>
            </a:r>
          </a:p>
        </p:txBody>
      </p:sp>
      <p:sp>
        <p:nvSpPr>
          <p:cNvPr id="102" name="TextBox 3"/>
          <p:cNvSpPr txBox="1"/>
          <p:nvPr/>
        </p:nvSpPr>
        <p:spPr>
          <a:xfrm>
            <a:off x="594360" y="1371600"/>
            <a:ext cx="10881361" cy="4371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000">
                <a:solidFill>
                  <a:srgbClr val="1B3A5C"/>
                </a:solidFill>
              </a:defRPr>
            </a:pPr>
            <a:r>
              <a:t>One sensor (Lesson 5) follows the EDGE:</a:t>
            </a:r>
          </a:p>
          <a:p>
            <a:pPr>
              <a:spcBef>
                <a:spcPts val="600"/>
              </a:spcBef>
            </a:pPr>
            <a:endParaRPr b="1" sz="2000">
              <a:solidFill>
                <a:srgbClr val="1B3A5C"/>
              </a:solidFill>
            </a:endParaRPr>
          </a:p>
          <a:p>
            <a:pPr>
              <a:spcBef>
                <a:spcPts val="600"/>
              </a:spcBef>
              <a:defRPr b="1" sz="2000">
                <a:solidFill>
                  <a:srgbClr val="1B3A5C"/>
                </a:solidFill>
              </a:defRPr>
            </a:pPr>
            <a:r>
              <a:t>Problem scenarios: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Robot drifts completely off the line to the right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Sensor reads low (white)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But is the line to the LEFT or to the RIGHT?</a:t>
            </a:r>
          </a:p>
          <a:p>
            <a:pPr lvl="1">
              <a:spcBef>
                <a:spcPts val="600"/>
              </a:spcBef>
              <a:defRPr b="1">
                <a:solidFill>
                  <a:srgbClr val="333333"/>
                </a:solidFill>
              </a:defRPr>
            </a:pPr>
            <a:r>
              <a:t>One sensor cannot tell!</a:t>
            </a:r>
          </a:p>
          <a:p>
            <a:pPr>
              <a:spcBef>
                <a:spcPts val="600"/>
              </a:spcBef>
            </a:pPr>
            <a:endParaRPr b="1"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000">
                <a:solidFill>
                  <a:srgbClr val="1B3A5C"/>
                </a:solidFill>
              </a:defRPr>
            </a:pPr>
            <a:r>
              <a:t>Solution: Use BOTH sensors — one on each side of the line.</a:t>
            </a:r>
          </a:p>
          <a:p>
            <a:pPr>
              <a:spcBef>
                <a:spcPts val="600"/>
              </a:spcBef>
            </a:pPr>
            <a:endParaRPr b="1" sz="2000">
              <a:solidFill>
                <a:srgbClr val="1B3A5C"/>
              </a:solidFill>
            </a:endParaRPr>
          </a:p>
          <a:p>
            <a:pPr>
              <a:spcBef>
                <a:spcPts val="600"/>
              </a:spcBef>
              <a:defRPr b="1">
                <a:solidFill>
                  <a:srgbClr val="2E75B6"/>
                </a:solidFill>
              </a:defRPr>
            </a:pPr>
            <a:r>
              <a:t>"If you close one eye, can you still judge distances? What about with both eyes?"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Two Sensors Straddle the Line</a:t>
            </a:r>
          </a:p>
        </p:txBody>
      </p:sp>
      <p:graphicFrame>
        <p:nvGraphicFramePr>
          <p:cNvPr id="106" name="Table 3"/>
          <p:cNvGraphicFramePr/>
          <p:nvPr/>
        </p:nvGraphicFramePr>
        <p:xfrm>
          <a:off x="365759" y="1371600"/>
          <a:ext cx="10698482" cy="201168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011679"/>
                <a:gridCol w="2286000"/>
                <a:gridCol w="2286000"/>
                <a:gridCol w="4114800"/>
              </a:tblGrid>
              <a:tr h="502919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Position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Left Sensor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Right Sensor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Centered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~0.5 (medium)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~0.5 (medium)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Both sensors at edge — drive straight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50291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Drifted left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High (0.8+)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Low (0.2–)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Left on line, right on white — steer left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</a:tr>
              <a:tr h="502919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Drifted right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Low (0.2–)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High (0.8+)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Right on line, left on white — steer right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  <p:sp>
        <p:nvSpPr>
          <p:cNvPr id="107" name="TextBox 4"/>
          <p:cNvSpPr txBox="1"/>
          <p:nvPr/>
        </p:nvSpPr>
        <p:spPr>
          <a:xfrm>
            <a:off x="594360" y="3931920"/>
            <a:ext cx="10881361" cy="13744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000">
                <a:solidFill>
                  <a:srgbClr val="1B3A5C"/>
                </a:solidFill>
              </a:defRPr>
            </a:pPr>
            <a:r>
              <a:t>The difference between sensors tells us EVERYTHING: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How far we drifted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Which direction we drifted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The Two-Sensor Error Formula</a:t>
            </a:r>
          </a:p>
        </p:txBody>
      </p:sp>
      <p:sp>
        <p:nvSpPr>
          <p:cNvPr id="111" name="TextBox 3"/>
          <p:cNvSpPr txBox="1"/>
          <p:nvPr/>
        </p:nvSpPr>
        <p:spPr>
          <a:xfrm>
            <a:off x="594360" y="1280160"/>
            <a:ext cx="108813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One sensor (Lesson 5):</a:t>
            </a:r>
          </a:p>
        </p:txBody>
      </p:sp>
      <p:sp>
        <p:nvSpPr>
          <p:cNvPr id="112" name="Rounded Rectangle 4"/>
          <p:cNvSpPr/>
          <p:nvPr/>
        </p:nvSpPr>
        <p:spPr>
          <a:xfrm>
            <a:off x="548640" y="1620123"/>
            <a:ext cx="10972801" cy="82296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3" name="TextBox 5"/>
          <p:cNvSpPr txBox="1"/>
          <p:nvPr/>
        </p:nvSpPr>
        <p:spPr>
          <a:xfrm>
            <a:off x="777239" y="1757283"/>
            <a:ext cx="6079194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error = setpoint - sensor_reading    # Needs a setpoint!</a:t>
            </a:r>
          </a:p>
        </p:txBody>
      </p:sp>
      <p:sp>
        <p:nvSpPr>
          <p:cNvPr id="114" name="TextBox 6"/>
          <p:cNvSpPr txBox="1"/>
          <p:nvPr/>
        </p:nvSpPr>
        <p:spPr>
          <a:xfrm>
            <a:off x="594360" y="2743200"/>
            <a:ext cx="108813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Two sensors (this lesson):</a:t>
            </a:r>
          </a:p>
        </p:txBody>
      </p:sp>
      <p:sp>
        <p:nvSpPr>
          <p:cNvPr id="115" name="Rounded Rectangle 7"/>
          <p:cNvSpPr/>
          <p:nvPr/>
        </p:nvSpPr>
        <p:spPr>
          <a:xfrm>
            <a:off x="548640" y="3090994"/>
            <a:ext cx="10972801" cy="82296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6" name="TextBox 8"/>
          <p:cNvSpPr txBox="1"/>
          <p:nvPr/>
        </p:nvSpPr>
        <p:spPr>
          <a:xfrm>
            <a:off x="777239" y="3228154"/>
            <a:ext cx="8746628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error = reflectance.get_left() - reflectance.get_right()    # No setpoint needed!</a:t>
            </a:r>
          </a:p>
        </p:txBody>
      </p:sp>
      <p:graphicFrame>
        <p:nvGraphicFramePr>
          <p:cNvPr id="117" name="Table 9"/>
          <p:cNvGraphicFramePr/>
          <p:nvPr/>
        </p:nvGraphicFramePr>
        <p:xfrm>
          <a:off x="365759" y="4297679"/>
          <a:ext cx="10332721" cy="208483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286000"/>
                <a:gridCol w="914400"/>
                <a:gridCol w="914400"/>
                <a:gridCol w="1645920"/>
                <a:gridCol w="457200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Robot Position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Left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Right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error = L − 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Meaning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Centered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0.5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0.5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0.0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Drive straight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Drifted left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0.8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0.2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+0.6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Steer left to correct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Drifted right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0.2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0.8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−0.6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Steer right to correct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Both on white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0.1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0.1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0.0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Off the line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Both on black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0.9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0.9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0.0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Intersection?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0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Applying the Correction</a:t>
            </a:r>
          </a:p>
        </p:txBody>
      </p:sp>
      <p:sp>
        <p:nvSpPr>
          <p:cNvPr id="121" name="TextBox 3"/>
          <p:cNvSpPr txBox="1"/>
          <p:nvPr/>
        </p:nvSpPr>
        <p:spPr>
          <a:xfrm>
            <a:off x="594360" y="1280160"/>
            <a:ext cx="108813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Apply the correction with arcade:</a:t>
            </a:r>
          </a:p>
        </p:txBody>
      </p:sp>
      <p:sp>
        <p:nvSpPr>
          <p:cNvPr id="122" name="Rounded Rectangle 4"/>
          <p:cNvSpPr/>
          <p:nvPr/>
        </p:nvSpPr>
        <p:spPr>
          <a:xfrm>
            <a:off x="548640" y="1828800"/>
            <a:ext cx="7315201" cy="118872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3" name="TextBox 5"/>
          <p:cNvSpPr txBox="1"/>
          <p:nvPr/>
        </p:nvSpPr>
        <p:spPr>
          <a:xfrm>
            <a:off x="777239" y="1965960"/>
            <a:ext cx="4265339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correction = error * Kp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drivetrain.arcade(base_effort, -correction)</a:t>
            </a:r>
          </a:p>
        </p:txBody>
      </p:sp>
      <p:sp>
        <p:nvSpPr>
          <p:cNvPr id="124" name="TextBox 6"/>
          <p:cNvSpPr txBox="1"/>
          <p:nvPr/>
        </p:nvSpPr>
        <p:spPr>
          <a:xfrm>
            <a:off x="594360" y="3291840"/>
            <a:ext cx="10881361" cy="34346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000">
                <a:solidFill>
                  <a:srgbClr val="1B3A5C"/>
                </a:solidFill>
              </a:defRPr>
            </a:pPr>
            <a:r>
              <a:t>Why the signs?</a:t>
            </a:r>
          </a:p>
          <a:p>
            <a:pPr>
              <a:spcBef>
                <a:spcPts val="600"/>
              </a:spcBef>
              <a:defRPr b="1">
                <a:solidFill>
                  <a:srgbClr val="333333"/>
                </a:solidFill>
              </a:defRPr>
            </a:pPr>
            <a:r>
              <a:t>If error is positive (drifted left, left sensor on line):</a:t>
            </a:r>
          </a:p>
          <a:p>
            <a:pPr lvl="1"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Need to steer left to get back</a:t>
            </a:r>
          </a:p>
          <a:p>
            <a:pPr lvl="1"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Slow down left motor (subtract), speed up right motor (add)</a:t>
            </a:r>
          </a:p>
          <a:p>
            <a:pPr>
              <a:spcBef>
                <a:spcPts val="600"/>
              </a:spcBef>
              <a:defRPr b="1">
                <a:solidFill>
                  <a:srgbClr val="333333"/>
                </a:solidFill>
              </a:defRPr>
            </a:pPr>
            <a:r>
              <a:t>If error is negative (drifted right, right sensor on line):</a:t>
            </a:r>
          </a:p>
          <a:p>
            <a:pPr lvl="1"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Need to steer right to get back</a:t>
            </a:r>
          </a:p>
          <a:p>
            <a:pPr lvl="1"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Speed up left motor (subtracting a negative = adding), slow down right motor</a:t>
            </a:r>
          </a:p>
          <a:p>
            <a:pPr>
              <a:spcBef>
                <a:spcPts val="600"/>
              </a:spcBef>
            </a:pPr>
            <a:endParaRPr sz="1700"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1700">
                <a:solidFill>
                  <a:srgbClr val="2E75B6"/>
                </a:solidFill>
              </a:defRPr>
            </a:pPr>
            <a:r>
              <a:t>Note: Signs are reversed from Lesson 5 because the error formula changed.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Trace Through the Math</a:t>
            </a:r>
          </a:p>
        </p:txBody>
      </p:sp>
      <p:sp>
        <p:nvSpPr>
          <p:cNvPr id="128" name="TextBox 3"/>
          <p:cNvSpPr txBox="1"/>
          <p:nvPr/>
        </p:nvSpPr>
        <p:spPr>
          <a:xfrm>
            <a:off x="594360" y="1188719"/>
            <a:ext cx="1088136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Scenario: Robot drifts left  (left sensor on line)</a:t>
            </a:r>
          </a:p>
        </p:txBody>
      </p:sp>
      <p:sp>
        <p:nvSpPr>
          <p:cNvPr id="129" name="Rounded Rectangle 4"/>
          <p:cNvSpPr/>
          <p:nvPr/>
        </p:nvSpPr>
        <p:spPr>
          <a:xfrm>
            <a:off x="548640" y="1525096"/>
            <a:ext cx="6858001" cy="2169161"/>
          </a:xfrm>
          <a:prstGeom prst="roundRect">
            <a:avLst>
              <a:gd name="adj" fmla="val 22483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TextBox 5"/>
          <p:cNvSpPr txBox="1"/>
          <p:nvPr/>
        </p:nvSpPr>
        <p:spPr>
          <a:xfrm>
            <a:off x="777239" y="1662256"/>
            <a:ext cx="5545707" cy="1894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left_sensor   = 0.8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right_sensor  = 0.2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error         = 0.8 - 0.2 = 0.6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Kp            = 0.5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base_effort   = 0.3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correction    = 0.6 * 0.5 = 0.3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arcade(0.3, -0.3) --&gt; left = 0.0, right = 0.6</a:t>
            </a:r>
          </a:p>
        </p:txBody>
      </p:sp>
      <p:sp>
        <p:nvSpPr>
          <p:cNvPr id="131" name="TextBox 6"/>
          <p:cNvSpPr txBox="1"/>
          <p:nvPr/>
        </p:nvSpPr>
        <p:spPr>
          <a:xfrm>
            <a:off x="7635239" y="1737360"/>
            <a:ext cx="4297681" cy="577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333333"/>
                </a:solidFill>
              </a:defRPr>
            </a:lvl1pPr>
          </a:lstStyle>
          <a:p>
            <a:pPr/>
            <a:r>
              <a:t>Left motor stops, right runs fast → robot turns left, back toward center.</a:t>
            </a:r>
          </a:p>
        </p:txBody>
      </p:sp>
      <p:sp>
        <p:nvSpPr>
          <p:cNvPr id="132" name="TextBox 7"/>
          <p:cNvSpPr txBox="1"/>
          <p:nvPr/>
        </p:nvSpPr>
        <p:spPr>
          <a:xfrm>
            <a:off x="594360" y="4122072"/>
            <a:ext cx="1088136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Scenario: Robot drifts right  (right sensor on line)</a:t>
            </a:r>
          </a:p>
        </p:txBody>
      </p:sp>
      <p:sp>
        <p:nvSpPr>
          <p:cNvPr id="133" name="Rounded Rectangle 8"/>
          <p:cNvSpPr/>
          <p:nvPr/>
        </p:nvSpPr>
        <p:spPr>
          <a:xfrm>
            <a:off x="548640" y="4463034"/>
            <a:ext cx="6858001" cy="228600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TextBox 9"/>
          <p:cNvSpPr txBox="1"/>
          <p:nvPr/>
        </p:nvSpPr>
        <p:spPr>
          <a:xfrm>
            <a:off x="777239" y="4600194"/>
            <a:ext cx="5652404" cy="143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left_sensor   = 0.2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right_sensor  = 0.8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error         = 0.2 - 0.8 = -0.6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correction    = -0.6 * 0.5 = -0.3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arcade(0.3, 0.3) --&gt; left = 0.6, right = 0.0</a:t>
            </a:r>
          </a:p>
        </p:txBody>
      </p:sp>
      <p:sp>
        <p:nvSpPr>
          <p:cNvPr id="135" name="TextBox 10"/>
          <p:cNvSpPr txBox="1"/>
          <p:nvPr/>
        </p:nvSpPr>
        <p:spPr>
          <a:xfrm>
            <a:off x="7635239" y="4535339"/>
            <a:ext cx="4297681" cy="577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700">
                <a:solidFill>
                  <a:srgbClr val="333333"/>
                </a:solidFill>
              </a:defRPr>
            </a:lvl1pPr>
          </a:lstStyle>
          <a:p>
            <a:pPr/>
            <a:r>
              <a:t>Right motor stops, left runs fast → robot turns right, back toward center.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8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The Complete Two-Sensor Program</a:t>
            </a:r>
          </a:p>
        </p:txBody>
      </p:sp>
      <p:sp>
        <p:nvSpPr>
          <p:cNvPr id="139" name="Rounded Rectangle 3"/>
          <p:cNvSpPr/>
          <p:nvPr/>
        </p:nvSpPr>
        <p:spPr>
          <a:xfrm>
            <a:off x="548640" y="1280160"/>
            <a:ext cx="10972801" cy="5521961"/>
          </a:xfrm>
          <a:prstGeom prst="roundRect">
            <a:avLst>
              <a:gd name="adj" fmla="val 16008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TextBox 4"/>
          <p:cNvSpPr txBox="1"/>
          <p:nvPr/>
        </p:nvSpPr>
        <p:spPr>
          <a:xfrm>
            <a:off x="777239" y="1417319"/>
            <a:ext cx="6445013" cy="5247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XRPLib.differential_drive import DifferentialDrive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XRPLib.reflectance import Reflectance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XRPLib.board import Board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import time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drivetrain  = DifferentialDrive.get_default_differential_drive()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reflectance = Reflectance.get_default_reflectance()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board       = Board.get_default_board()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Kp          = 0.5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base_effort = 0.3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while True: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Read both sensors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left_sensor  = reflectance.get_left()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right_sensor = reflectance.get_right()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Calculate error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error = left_sensor - right_sensor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Apply correction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correction = error * Kp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drivetrain.arcade(base_effort, -correction)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/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3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One Sensor vs. Two Sensors</a:t>
            </a:r>
          </a:p>
        </p:txBody>
      </p:sp>
      <p:graphicFrame>
        <p:nvGraphicFramePr>
          <p:cNvPr id="144" name="Table 3"/>
          <p:cNvGraphicFramePr/>
          <p:nvPr/>
        </p:nvGraphicFramePr>
        <p:xfrm>
          <a:off x="457200" y="1371600"/>
          <a:ext cx="10241281" cy="320040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2926080"/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Feature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One Sensor (L5)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Two Sensors (L6)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What it follows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Edge of the line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Center of the line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Error formula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setpoint − sensor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left − right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Needs setpoint?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Yes (0.5)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No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Motor formula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base ± correction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base ∓ error×Kp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Smoothness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Good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Better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Recovery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Can only detect one side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/>
                        <a:t>Detects both sides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7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Exploring Sensor Readings</a:t>
            </a:r>
          </a:p>
        </p:txBody>
      </p:sp>
      <p:sp>
        <p:nvSpPr>
          <p:cNvPr id="148" name="TextBox 3"/>
          <p:cNvSpPr txBox="1"/>
          <p:nvPr/>
        </p:nvSpPr>
        <p:spPr>
          <a:xfrm>
            <a:off x="594360" y="1280160"/>
            <a:ext cx="108813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Before running the control loop, explore the sensor values:</a:t>
            </a:r>
          </a:p>
        </p:txBody>
      </p:sp>
      <p:sp>
        <p:nvSpPr>
          <p:cNvPr id="149" name="Rounded Rectangle 4"/>
          <p:cNvSpPr/>
          <p:nvPr/>
        </p:nvSpPr>
        <p:spPr>
          <a:xfrm>
            <a:off x="548640" y="1828800"/>
            <a:ext cx="7315201" cy="438912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TextBox 5"/>
          <p:cNvSpPr txBox="1"/>
          <p:nvPr/>
        </p:nvSpPr>
        <p:spPr>
          <a:xfrm>
            <a:off x="777239" y="1965960"/>
            <a:ext cx="6292588" cy="3495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XRPLib.reflectance import Reflectance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XRPLib.board import Board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import time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reflectance = Reflectance.get_default_reflectance()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board = Board.get_default_board()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board.wait_for_button()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while True: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left  = reflectance.get_left()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right = reflectance.get_right()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error = left - right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print(f"L={left:.2f}  R={right:.2f}  err={error:.2f}")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time.sleep(0.2)</a:t>
            </a:r>
          </a:p>
        </p:txBody>
      </p:sp>
      <p:sp>
        <p:nvSpPr>
          <p:cNvPr id="151" name="TextBox 6"/>
          <p:cNvSpPr txBox="1"/>
          <p:nvPr/>
        </p:nvSpPr>
        <p:spPr>
          <a:xfrm>
            <a:off x="8092439" y="1828800"/>
            <a:ext cx="3749041" cy="2621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000">
                <a:solidFill>
                  <a:srgbClr val="1B3A5C"/>
                </a:solidFill>
              </a:defRPr>
            </a:pPr>
            <a:r>
              <a:t>Activity: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Slowly slide the robot across the line and watch how error changes.</a:t>
            </a:r>
          </a:p>
          <a:p>
            <a:pPr>
              <a:spcBef>
                <a:spcPts val="600"/>
              </a:spcBef>
            </a:pPr>
            <a:endParaRPr sz="1700"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Centered: error near 0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Left on line: error positive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Right on line: error negative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4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Exercise — Two-Sensor Line Following</a:t>
            </a:r>
          </a:p>
        </p:txBody>
      </p:sp>
      <p:sp>
        <p:nvSpPr>
          <p:cNvPr id="155" name="TextBox 3"/>
          <p:cNvSpPr txBox="1"/>
          <p:nvPr/>
        </p:nvSpPr>
        <p:spPr>
          <a:xfrm>
            <a:off x="594360" y="1371600"/>
            <a:ext cx="5394961" cy="39553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000">
                <a:solidFill>
                  <a:srgbClr val="1B3A5C"/>
                </a:solidFill>
              </a:defRPr>
            </a:pPr>
            <a:r>
              <a:t>Your task: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1. Type in the two-sensor control program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2. Place the robot so the line runs between both sensors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3. Press button and observe the tracking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4. Add debug printing to see the values</a:t>
            </a:r>
          </a:p>
          <a:p>
            <a:pPr>
              <a:spcBef>
                <a:spcPts val="600"/>
              </a:spcBef>
            </a:pPr>
            <a:endParaRPr sz="1700"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000">
                <a:solidFill>
                  <a:srgbClr val="1B3A5C"/>
                </a:solidFill>
              </a:defRPr>
            </a:pPr>
            <a:r>
              <a:t>Then compare: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5. Run your Lesson 5 (one-sensor) program on the same circle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6. Run the Lesson 6 (two-sensor) program on the same circle</a:t>
            </a:r>
          </a:p>
        </p:txBody>
      </p:sp>
      <p:sp>
        <p:nvSpPr>
          <p:cNvPr id="156" name="TextBox 4"/>
          <p:cNvSpPr txBox="1"/>
          <p:nvPr/>
        </p:nvSpPr>
        <p:spPr>
          <a:xfrm>
            <a:off x="6446519" y="1371600"/>
            <a:ext cx="5212082" cy="1936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000">
                <a:solidFill>
                  <a:srgbClr val="1B3A5C"/>
                </a:solidFill>
              </a:defRPr>
            </a:pPr>
            <a:r>
              <a:t>Questions to answer: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Which version follows the line more smoothly?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Which version handles the curved parts better?</a:t>
            </a:r>
          </a:p>
          <a:p>
            <a:pPr>
              <a:spcBef>
                <a:spcPts val="600"/>
              </a:spcBef>
              <a:defRPr sz="1700">
                <a:solidFill>
                  <a:srgbClr val="333333"/>
                </a:solidFill>
              </a:defRPr>
            </a:pPr>
            <a:r>
              <a:t>Which version can handle a higher base_effort without losing the line?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9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A Curious Case — Both Sensors High</a:t>
            </a:r>
          </a:p>
        </p:txBody>
      </p:sp>
      <p:sp>
        <p:nvSpPr>
          <p:cNvPr id="160" name="TextBox 3"/>
          <p:cNvSpPr txBox="1"/>
          <p:nvPr/>
        </p:nvSpPr>
        <p:spPr>
          <a:xfrm>
            <a:off x="594360" y="1371600"/>
            <a:ext cx="10881361" cy="632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000">
                <a:solidFill>
                  <a:srgbClr val="1B3A5C"/>
                </a:solidFill>
              </a:defRPr>
            </a:pPr>
            <a:r>
              <a:t>What happens when both sensors read high?</a:t>
            </a:r>
          </a:p>
        </p:txBody>
      </p:sp>
      <p:sp>
        <p:nvSpPr>
          <p:cNvPr id="161" name="Rounded Rectangle 4"/>
          <p:cNvSpPr/>
          <p:nvPr/>
        </p:nvSpPr>
        <p:spPr>
          <a:xfrm>
            <a:off x="548640" y="2377439"/>
            <a:ext cx="6400801" cy="1084581"/>
          </a:xfrm>
          <a:prstGeom prst="roundRect">
            <a:avLst>
              <a:gd name="adj" fmla="val 25293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2" name="TextBox 5"/>
          <p:cNvSpPr txBox="1"/>
          <p:nvPr/>
        </p:nvSpPr>
        <p:spPr>
          <a:xfrm>
            <a:off x="777239" y="2514600"/>
            <a:ext cx="3305062" cy="7518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left_sensor  = 0.9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right_sensor = 0.9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error        = 0.9 - 0.9 = 0.0</a:t>
            </a:r>
          </a:p>
        </p:txBody>
      </p:sp>
      <p:sp>
        <p:nvSpPr>
          <p:cNvPr id="163" name="TextBox 6"/>
          <p:cNvSpPr txBox="1"/>
          <p:nvPr/>
        </p:nvSpPr>
        <p:spPr>
          <a:xfrm>
            <a:off x="594360" y="3835578"/>
            <a:ext cx="10881361" cy="2149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Error is zero — the robot drives straight.</a:t>
            </a:r>
          </a:p>
          <a:p>
            <a:pPr>
              <a:spcBef>
                <a:spcPts val="600"/>
              </a:spcBef>
              <a:defRPr b="1" sz="2000">
                <a:solidFill>
                  <a:srgbClr val="1B3A5C"/>
                </a:solidFill>
              </a:defRPr>
            </a:pPr>
            <a:r>
              <a:t>But what does it mean physically when both sensors see the line?</a:t>
            </a:r>
          </a:p>
          <a:p>
            <a:pPr>
              <a:spcBef>
                <a:spcPts val="600"/>
              </a:spcBef>
            </a:pPr>
            <a:endParaRPr b="1" sz="2000">
              <a:solidFill>
                <a:srgbClr val="1B3A5C"/>
              </a:solidFill>
            </a:endParaRPr>
          </a:p>
          <a:p>
            <a:pPr>
              <a:spcBef>
                <a:spcPts val="600"/>
              </a:spcBef>
              <a:defRPr b="1" sz="2000">
                <a:solidFill>
                  <a:srgbClr val="2E75B6"/>
                </a:solidFill>
              </a:defRPr>
            </a:pPr>
            <a:r>
              <a:t>Answer: The robot might be at an INTERSECTION!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This is the key idea for Lesson 7: both sensors high = intersection detected.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6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Connection to Lesson 7</a:t>
            </a:r>
          </a:p>
        </p:txBody>
      </p:sp>
      <p:sp>
        <p:nvSpPr>
          <p:cNvPr id="167" name="TextBox 3"/>
          <p:cNvSpPr txBox="1"/>
          <p:nvPr/>
        </p:nvSpPr>
        <p:spPr>
          <a:xfrm>
            <a:off x="594360" y="1371599"/>
            <a:ext cx="4572694" cy="53114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What we accomplished today: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Smooth two-sensor line following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Error = left − right (no setpoint needed)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Smoother tracking than one sensor</a:t>
            </a:r>
          </a:p>
          <a:p>
            <a:pPr>
              <a:spcBef>
                <a:spcPts val="600"/>
              </a:spcBef>
            </a:pPr>
            <a:endParaRPr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Next lesson: Detecting Intersections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Add a taped cross to the circle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When both sensors read high: intersection detected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Robot stops, turns around, and continues in the opposite direction</a:t>
            </a:r>
          </a:p>
          <a:p>
            <a:pPr>
              <a:spcBef>
                <a:spcPts val="600"/>
              </a:spcBef>
            </a:pPr>
            <a:endParaRPr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>
                <a:solidFill>
                  <a:srgbClr val="2E75B6"/>
                </a:solidFill>
              </a:defRPr>
            </a:pPr>
            <a:r>
              <a:t>"How can we tell the difference between 'centered on the line' and 'at an intersection'?"</a:t>
            </a:r>
          </a:p>
        </p:txBody>
      </p:sp>
      <p:sp>
        <p:nvSpPr>
          <p:cNvPr id="168" name="Rounded Rectangle 4"/>
          <p:cNvSpPr/>
          <p:nvPr/>
        </p:nvSpPr>
        <p:spPr>
          <a:xfrm>
            <a:off x="5272537" y="3643582"/>
            <a:ext cx="6858001" cy="137160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69" name="TextBox 5"/>
          <p:cNvSpPr txBox="1"/>
          <p:nvPr/>
        </p:nvSpPr>
        <p:spPr>
          <a:xfrm>
            <a:off x="5501137" y="3780743"/>
            <a:ext cx="4798825" cy="980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if left_sensor &gt; 0.5 and right_sensor &gt; 0.5: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# We are at an intersection!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drivetrain.stop()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drivetrain.turn(180)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