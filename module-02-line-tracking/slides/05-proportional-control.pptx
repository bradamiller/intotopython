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2743200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777239" y="457199"/>
            <a:ext cx="2547899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>
                <a:solidFill>
                  <a:srgbClr val="A0C4E8"/>
                </a:solidFill>
              </a:defRPr>
            </a:lvl1pPr>
          </a:lstStyle>
          <a:p>
            <a:pPr/>
            <a:r>
              <a:t>Module 2: Line Tracking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777239" y="914400"/>
            <a:ext cx="9966961" cy="6341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4200">
                <a:solidFill>
                  <a:srgbClr val="FFFFFF"/>
                </a:solidFill>
              </a:defRPr>
            </a:lvl1pPr>
          </a:lstStyle>
          <a:p>
            <a:pPr/>
            <a:r>
              <a:t>Proportional Control with One Sensor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777239" y="3108959"/>
            <a:ext cx="5394961" cy="15832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2400">
                <a:solidFill>
                  <a:srgbClr val="1B3A5C"/>
                </a:solidFill>
              </a:defRPr>
            </a:pPr>
            <a:r>
              <a:t>Learning Objectives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Understand what a setpoint is and how to calculate error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Use arcade() for continuous motor control with steering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Build a proportional control loop for line following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Tune the Kp gain constant by observing behavior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6903719" y="3108960"/>
            <a:ext cx="4903472" cy="1583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2400">
                <a:solidFill>
                  <a:srgbClr val="1B3A5C"/>
                </a:solidFill>
              </a:defRPr>
            </a:pPr>
            <a:r>
              <a:t>Agenda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From staying inside to following the line (5 min)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Introducing arcade() and continuous control (5 min)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Building the proportional controller step by step (20 min)</a:t>
            </a:r>
          </a:p>
          <a:p>
            <a:pPr>
              <a:spcBef>
                <a:spcPts val="400"/>
              </a:spcBef>
              <a:defRPr sz="1600">
                <a:solidFill>
                  <a:srgbClr val="333333"/>
                </a:solidFill>
              </a:defRPr>
            </a:pPr>
            <a:r>
              <a:t>Practice: Follow the circle edge and tune Kp (20 min)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Hook -- From Staying Inside to Following the Line</a:t>
            </a:r>
          </a:p>
        </p:txBody>
      </p:sp>
      <p:sp>
        <p:nvSpPr>
          <p:cNvPr id="102" name="TextBox 3"/>
          <p:cNvSpPr txBox="1"/>
          <p:nvPr/>
        </p:nvSpPr>
        <p:spPr>
          <a:xfrm>
            <a:off x="594360" y="137159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Lessons 3-4: Staying inside the circle</a:t>
            </a:r>
          </a:p>
        </p:txBody>
      </p:sp>
      <p:sp>
        <p:nvSpPr>
          <p:cNvPr id="103" name="Rounded Rectangle 4"/>
          <p:cNvSpPr/>
          <p:nvPr/>
        </p:nvSpPr>
        <p:spPr>
          <a:xfrm>
            <a:off x="548640" y="1645920"/>
            <a:ext cx="5669280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4" name="TextBox 5"/>
          <p:cNvSpPr txBox="1"/>
          <p:nvPr/>
        </p:nvSpPr>
        <p:spPr>
          <a:xfrm>
            <a:off x="777239" y="1737360"/>
            <a:ext cx="5212082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Drive straight --&gt; Hit line --&gt; Turn around --&gt; Drive straight --&gt; Hit line --&gt; ...</a:t>
            </a:r>
          </a:p>
        </p:txBody>
      </p:sp>
      <p:sp>
        <p:nvSpPr>
          <p:cNvPr id="105" name="TextBox 6"/>
          <p:cNvSpPr txBox="1"/>
          <p:nvPr/>
        </p:nvSpPr>
        <p:spPr>
          <a:xfrm>
            <a:off x="6629400" y="1645920"/>
            <a:ext cx="4937761" cy="3076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1B3A5C"/>
                </a:solidFill>
              </a:defRPr>
            </a:pPr>
            <a:r>
              <a:t>That was about staying inside the circle, not following the line.</a:t>
            </a:r>
          </a:p>
          <a:p>
            <a:pPr>
              <a:spcBef>
                <a:spcPts val="400"/>
              </a:spcBef>
              <a:defRPr sz="1600"/>
            </a:pPr>
            <a:r>
              <a:t>The robot bounced between edges</a:t>
            </a:r>
          </a:p>
          <a:p>
            <a:pPr>
              <a:spcBef>
                <a:spcPts val="400"/>
              </a:spcBef>
              <a:defRPr sz="1600"/>
            </a:pPr>
            <a:r>
              <a:t>It never tracked along the line itself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Now we want something new:</a:t>
            </a:r>
          </a:p>
          <a:p>
            <a:pPr>
              <a:spcBef>
                <a:spcPts val="400"/>
              </a:spcBef>
              <a:defRPr sz="1600"/>
            </a:pPr>
            <a:r>
              <a:t>Robot smoothly follows the edge of the line</a:t>
            </a:r>
          </a:p>
          <a:p>
            <a:pPr>
              <a:spcBef>
                <a:spcPts val="400"/>
              </a:spcBef>
              <a:defRPr sz="1600"/>
            </a:pPr>
            <a:r>
              <a:t>Constant small adjustments, like steering a car</a:t>
            </a:r>
          </a:p>
          <a:p>
            <a:pPr>
              <a:spcBef>
                <a:spcPts val="400"/>
              </a:spcBef>
              <a:defRPr sz="1600"/>
            </a:pPr>
            <a:r>
              <a:t>The robot stays ON the line, not just inside the circle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Question: "How can the robot steer while it is driving?"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Blocking vs. Continuous Motor Control</a:t>
            </a:r>
          </a:p>
        </p:txBody>
      </p:sp>
      <p:sp>
        <p:nvSpPr>
          <p:cNvPr id="109" name="TextBox 3"/>
          <p:cNvSpPr txBox="1"/>
          <p:nvPr/>
        </p:nvSpPr>
        <p:spPr>
          <a:xfrm>
            <a:off x="594360" y="1371599"/>
            <a:ext cx="5009294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1B3A5C"/>
                </a:solidFill>
              </a:defRPr>
            </a:lvl1pPr>
          </a:lstStyle>
          <a:p>
            <a:pPr/>
            <a:r>
              <a:t>Blocking calls (what we have used so far)</a:t>
            </a:r>
          </a:p>
        </p:txBody>
      </p:sp>
      <p:sp>
        <p:nvSpPr>
          <p:cNvPr id="110" name="TextBox 4"/>
          <p:cNvSpPr txBox="1"/>
          <p:nvPr/>
        </p:nvSpPr>
        <p:spPr>
          <a:xfrm>
            <a:off x="620291" y="1812517"/>
            <a:ext cx="3941702" cy="6449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000"/>
            </a:pPr>
            <a:r>
              <a:t>Robot does one thing at a time</a:t>
            </a:r>
          </a:p>
          <a:p>
            <a:pPr>
              <a:spcBef>
                <a:spcPts val="400"/>
              </a:spcBef>
              <a:defRPr sz="2000"/>
            </a:pPr>
            <a:r>
              <a:t>Cannot read sensors WHILE driving</a:t>
            </a:r>
          </a:p>
        </p:txBody>
      </p:sp>
      <p:sp>
        <p:nvSpPr>
          <p:cNvPr id="111" name="TextBox 5"/>
          <p:cNvSpPr txBox="1"/>
          <p:nvPr/>
        </p:nvSpPr>
        <p:spPr>
          <a:xfrm>
            <a:off x="611647" y="3713606"/>
            <a:ext cx="5009295" cy="1457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 sz="2200">
                <a:solidFill>
                  <a:srgbClr val="1B3A5C"/>
                </a:solidFill>
              </a:defRPr>
            </a:pPr>
            <a:r>
              <a:t>Continuous control with set_effort(): Sets each motor's power individually</a:t>
            </a:r>
            <a:endParaRPr sz="2000"/>
          </a:p>
          <a:p>
            <a:pPr>
              <a:spcBef>
                <a:spcPts val="400"/>
              </a:spcBef>
              <a:defRPr sz="2000"/>
            </a:pPr>
            <a:r>
              <a:t>Motors keep running until you change them</a:t>
            </a:r>
          </a:p>
          <a:p>
            <a:pPr>
              <a:spcBef>
                <a:spcPts val="400"/>
              </a:spcBef>
              <a:defRPr sz="2000"/>
            </a:pPr>
            <a:r>
              <a:t>Values range from -1.0 (full reverse) to 1.0 (full forward)</a:t>
            </a:r>
          </a:p>
        </p:txBody>
      </p:sp>
      <p:sp>
        <p:nvSpPr>
          <p:cNvPr id="112" name="Rounded Rectangle 6"/>
          <p:cNvSpPr/>
          <p:nvPr/>
        </p:nvSpPr>
        <p:spPr>
          <a:xfrm>
            <a:off x="5559182" y="1482972"/>
            <a:ext cx="6163627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" name="TextBox 7"/>
          <p:cNvSpPr txBox="1"/>
          <p:nvPr/>
        </p:nvSpPr>
        <p:spPr>
          <a:xfrm>
            <a:off x="5787782" y="1574412"/>
            <a:ext cx="5983471" cy="510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 sz="1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drivetrain.straight(30)   # Doesn’t look at sensor</a:t>
            </a:r>
          </a:p>
          <a:p>
            <a:pPr>
              <a:spcBef>
                <a:spcPts val="100"/>
              </a:spcBef>
              <a:defRPr sz="1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drivetrain.turn(90)       # Doesn’t look at sensor</a:t>
            </a:r>
          </a:p>
        </p:txBody>
      </p:sp>
      <p:sp>
        <p:nvSpPr>
          <p:cNvPr id="114" name="Rounded Rectangle 8"/>
          <p:cNvSpPr/>
          <p:nvPr/>
        </p:nvSpPr>
        <p:spPr>
          <a:xfrm>
            <a:off x="5595225" y="3674245"/>
            <a:ext cx="6163626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5" name="TextBox 9"/>
          <p:cNvSpPr txBox="1"/>
          <p:nvPr/>
        </p:nvSpPr>
        <p:spPr>
          <a:xfrm>
            <a:off x="5748326" y="3803785"/>
            <a:ext cx="6451796" cy="49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4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drivetrain.set_effort(0.3, 0.3)   # Sets left and right motors</a:t>
            </a:r>
          </a:p>
        </p:txBody>
      </p:sp>
      <p:sp>
        <p:nvSpPr>
          <p:cNvPr id="116" name="Key difference: set_effort() does not block -- the program keeps running."/>
          <p:cNvSpPr txBox="1"/>
          <p:nvPr/>
        </p:nvSpPr>
        <p:spPr>
          <a:xfrm>
            <a:off x="2251873" y="5621372"/>
            <a:ext cx="8481367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400"/>
              </a:spcBef>
              <a:defRPr b="1" sz="2200">
                <a:solidFill>
                  <a:srgbClr val="1B3A5C"/>
                </a:solidFill>
              </a:defRPr>
            </a:lvl1pPr>
          </a:lstStyle>
          <a:p>
            <a:pPr/>
            <a:r>
              <a:t>Key difference: set_effort() does not block -- the program keeps running.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9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arcade() — A Shortcut for Steering</a:t>
            </a:r>
          </a:p>
        </p:txBody>
      </p:sp>
      <p:sp>
        <p:nvSpPr>
          <p:cNvPr id="120" name="TextBox 3"/>
          <p:cNvSpPr txBox="1"/>
          <p:nvPr/>
        </p:nvSpPr>
        <p:spPr>
          <a:xfrm>
            <a:off x="594360" y="1371599"/>
            <a:ext cx="2378730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Steering with set_effort() requires math:</a:t>
            </a:r>
          </a:p>
        </p:txBody>
      </p:sp>
      <p:sp>
        <p:nvSpPr>
          <p:cNvPr id="121" name="TextBox 4"/>
          <p:cNvSpPr txBox="1"/>
          <p:nvPr/>
        </p:nvSpPr>
        <p:spPr>
          <a:xfrm>
            <a:off x="594360" y="2136204"/>
            <a:ext cx="2378730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arcade() does this for you:</a:t>
            </a:r>
          </a:p>
        </p:txBody>
      </p:sp>
      <p:sp>
        <p:nvSpPr>
          <p:cNvPr id="122" name="TextBox 5"/>
          <p:cNvSpPr txBox="1"/>
          <p:nvPr/>
        </p:nvSpPr>
        <p:spPr>
          <a:xfrm>
            <a:off x="648969" y="3083493"/>
            <a:ext cx="237873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/>
            </a:r>
          </a:p>
        </p:txBody>
      </p:sp>
      <p:sp>
        <p:nvSpPr>
          <p:cNvPr id="123" name="TextBox 6"/>
          <p:cNvSpPr txBox="1"/>
          <p:nvPr/>
        </p:nvSpPr>
        <p:spPr>
          <a:xfrm>
            <a:off x="744137" y="3977549"/>
            <a:ext cx="237873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/>
            </a:r>
          </a:p>
        </p:txBody>
      </p:sp>
      <p:sp>
        <p:nvSpPr>
          <p:cNvPr id="124" name="TextBox 7"/>
          <p:cNvSpPr txBox="1"/>
          <p:nvPr/>
        </p:nvSpPr>
        <p:spPr>
          <a:xfrm>
            <a:off x="3219413" y="5077772"/>
            <a:ext cx="6297187" cy="12093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1B3A5C"/>
                </a:solidFill>
              </a:defRPr>
            </a:pPr>
            <a:r>
              <a:t>arcade(speed, turn) is equivalent to set_effort(speed + turn, speed - turn)</a:t>
            </a:r>
          </a:p>
          <a:p>
            <a:pPr>
              <a:defRPr b="1">
                <a:solidFill>
                  <a:srgbClr val="1B3A5C"/>
                </a:solidFill>
              </a:defRPr>
            </a:pPr>
          </a:p>
          <a:p>
            <a:pPr>
              <a:defRPr b="1">
                <a:solidFill>
                  <a:srgbClr val="1B3A5C"/>
                </a:solidFill>
              </a:defRPr>
            </a:pP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Question: "What set_effort() call is arcade(0.3, 0.1) equivalent to?" (set_effort(0.4, 0.2))</a:t>
            </a:r>
          </a:p>
        </p:txBody>
      </p:sp>
      <p:sp>
        <p:nvSpPr>
          <p:cNvPr id="125" name="Rounded Rectangle 8"/>
          <p:cNvSpPr/>
          <p:nvPr/>
        </p:nvSpPr>
        <p:spPr>
          <a:xfrm>
            <a:off x="3307704" y="1269554"/>
            <a:ext cx="530352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9"/>
          <p:cNvSpPr txBox="1"/>
          <p:nvPr/>
        </p:nvSpPr>
        <p:spPr>
          <a:xfrm>
            <a:off x="3536304" y="1360994"/>
            <a:ext cx="484632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set_effort(0.3 + 0.15, 0.3 - 0.15)  # Steer right</a:t>
            </a:r>
          </a:p>
        </p:txBody>
      </p:sp>
      <p:sp>
        <p:nvSpPr>
          <p:cNvPr id="127" name="Rounded Rectangle 10"/>
          <p:cNvSpPr/>
          <p:nvPr/>
        </p:nvSpPr>
        <p:spPr>
          <a:xfrm>
            <a:off x="3307704" y="3089843"/>
            <a:ext cx="530352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11"/>
          <p:cNvSpPr txBox="1"/>
          <p:nvPr/>
        </p:nvSpPr>
        <p:spPr>
          <a:xfrm>
            <a:off x="3536304" y="3181283"/>
            <a:ext cx="484632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arcade(0.3, 0.15)  # Same thing!</a:t>
            </a:r>
          </a:p>
        </p:txBody>
      </p:sp>
      <p:sp>
        <p:nvSpPr>
          <p:cNvPr id="129" name="Rounded Rectangle 12"/>
          <p:cNvSpPr/>
          <p:nvPr/>
        </p:nvSpPr>
        <p:spPr>
          <a:xfrm>
            <a:off x="3307704" y="2179698"/>
            <a:ext cx="530352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0" name="TextBox 13"/>
          <p:cNvSpPr txBox="1"/>
          <p:nvPr/>
        </p:nvSpPr>
        <p:spPr>
          <a:xfrm>
            <a:off x="3536304" y="2271139"/>
            <a:ext cx="484632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arcade(0.3, -0.15)  # Steer left</a:t>
            </a:r>
          </a:p>
        </p:txBody>
      </p:sp>
      <p:sp>
        <p:nvSpPr>
          <p:cNvPr id="131" name="Rounded Rectangle 14"/>
          <p:cNvSpPr/>
          <p:nvPr/>
        </p:nvSpPr>
        <p:spPr>
          <a:xfrm>
            <a:off x="3307704" y="3979866"/>
            <a:ext cx="530352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15"/>
          <p:cNvSpPr txBox="1"/>
          <p:nvPr/>
        </p:nvSpPr>
        <p:spPr>
          <a:xfrm>
            <a:off x="3536304" y="4071306"/>
            <a:ext cx="4846321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arcade(0.3, 0)  # Drive straight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The Setpoint</a:t>
            </a:r>
          </a:p>
        </p:txBody>
      </p:sp>
      <p:sp>
        <p:nvSpPr>
          <p:cNvPr id="136" name="TextBox 3"/>
          <p:cNvSpPr txBox="1"/>
          <p:nvPr/>
        </p:nvSpPr>
        <p:spPr>
          <a:xfrm>
            <a:off x="594360" y="1371599"/>
            <a:ext cx="10881361" cy="1539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1B3A5C"/>
                </a:solidFill>
              </a:defRPr>
            </a:pPr>
            <a:r>
              <a:t>From Lesson 1, you recorded sensor values:</a:t>
            </a:r>
          </a:p>
          <a:p>
            <a:pPr>
              <a:spcBef>
                <a:spcPts val="400"/>
              </a:spcBef>
              <a:defRPr sz="1600"/>
            </a:pPr>
            <a:r>
              <a:t>On white surface: ~0.1 to 0.3</a:t>
            </a:r>
          </a:p>
          <a:p>
            <a:pPr>
              <a:spcBef>
                <a:spcPts val="400"/>
              </a:spcBef>
              <a:defRPr sz="1600"/>
            </a:pPr>
            <a:r>
              <a:t>On the edge of the line: ~0.5</a:t>
            </a:r>
          </a:p>
          <a:p>
            <a:pPr>
              <a:spcBef>
                <a:spcPts val="400"/>
              </a:spcBef>
              <a:defRPr sz="1600"/>
            </a:pPr>
            <a:r>
              <a:t>On the black line: ~0.7 to 0.9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The setpoint is the target value we want to maintain.</a:t>
            </a:r>
          </a:p>
        </p:txBody>
      </p:sp>
      <p:sp>
        <p:nvSpPr>
          <p:cNvPr id="137" name="Rounded Rectangle 4"/>
          <p:cNvSpPr/>
          <p:nvPr/>
        </p:nvSpPr>
        <p:spPr>
          <a:xfrm>
            <a:off x="5743564" y="1466147"/>
            <a:ext cx="566928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8" name="TextBox 5"/>
          <p:cNvSpPr txBox="1"/>
          <p:nvPr/>
        </p:nvSpPr>
        <p:spPr>
          <a:xfrm>
            <a:off x="5972164" y="1557587"/>
            <a:ext cx="5212081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setpoint = 0.5   # The edge of the line</a:t>
            </a:r>
          </a:p>
        </p:txBody>
      </p:sp>
      <p:pic>
        <p:nvPicPr>
          <p:cNvPr id="139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006028" y="3311635"/>
            <a:ext cx="8058024" cy="355421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2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Calculating Error</a:t>
            </a:r>
          </a:p>
        </p:txBody>
      </p:sp>
      <p:sp>
        <p:nvSpPr>
          <p:cNvPr id="143" name="TextBox 3"/>
          <p:cNvSpPr txBox="1"/>
          <p:nvPr/>
        </p:nvSpPr>
        <p:spPr>
          <a:xfrm>
            <a:off x="594360" y="137159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Error = how far we are from where we want to be</a:t>
            </a:r>
          </a:p>
        </p:txBody>
      </p:sp>
      <p:sp>
        <p:nvSpPr>
          <p:cNvPr id="144" name="Rounded Rectangle 4"/>
          <p:cNvSpPr/>
          <p:nvPr/>
        </p:nvSpPr>
        <p:spPr>
          <a:xfrm>
            <a:off x="532873" y="1882411"/>
            <a:ext cx="566928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5" name="TextBox 5"/>
          <p:cNvSpPr txBox="1"/>
          <p:nvPr/>
        </p:nvSpPr>
        <p:spPr>
          <a:xfrm>
            <a:off x="761473" y="1973851"/>
            <a:ext cx="5212081" cy="383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20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error = setpoint - sensor_reading</a:t>
            </a:r>
          </a:p>
        </p:txBody>
      </p:sp>
      <p:graphicFrame>
        <p:nvGraphicFramePr>
          <p:cNvPr id="146" name="Table 1"/>
          <p:cNvGraphicFramePr/>
          <p:nvPr/>
        </p:nvGraphicFramePr>
        <p:xfrm>
          <a:off x="646844" y="3233962"/>
          <a:ext cx="7062378" cy="2541636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231524"/>
                <a:gridCol w="4818152"/>
              </a:tblGrid>
              <a:tr h="578527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Error value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0" marR="0" marT="0" marB="0" anchor="t" anchorCtr="0" horzOverflow="overflow"/>
                </a:tc>
              </a:tr>
              <a:tr h="578527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800"/>
                      </a:pPr>
                      <a:r>
                        <a:rPr sz="1600"/>
                        <a:t>Positive error 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600"/>
                      </a:pPr>
                      <a:r>
                        <a:t>robot is too far off the line (on white) -- steer toward it</a:t>
                      </a:r>
                    </a:p>
                  </a:txBody>
                  <a:tcPr marL="0" marR="0" marT="0" marB="0" anchor="t" anchorCtr="0" horzOverflow="overflow"/>
                </a:tc>
              </a:tr>
              <a:tr h="578527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800"/>
                      </a:pPr>
                      <a:r>
                        <a:rPr sz="1600"/>
                        <a:t>Negative error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800"/>
                      </a:pPr>
                      <a:r>
                        <a:rPr sz="1600"/>
                        <a:t>robot is too far on the line (on black) -- steer away</a:t>
                      </a:r>
                    </a:p>
                  </a:txBody>
                  <a:tcPr marL="0" marR="0" marT="0" marB="0" anchor="t" anchorCtr="0" horzOverflow="overflow"/>
                </a:tc>
              </a:tr>
              <a:tr h="578527"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800"/>
                      </a:pPr>
                      <a:r>
                        <a:rPr sz="1600"/>
                        <a:t>Zero error</a:t>
                      </a:r>
                    </a:p>
                  </a:txBody>
                  <a:tcPr marL="0" marR="0" marT="0" marB="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00"/>
                        </a:spcBef>
                        <a:defRPr sz="1800"/>
                      </a:pPr>
                      <a:r>
                        <a:rPr sz="1600"/>
                        <a:t>perfect position -- drive straight</a:t>
                      </a:r>
                    </a:p>
                  </a:txBody>
                  <a:tcPr marL="0" marR="0" marT="0" marB="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9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From Error to Correction</a:t>
            </a:r>
          </a:p>
        </p:txBody>
      </p:sp>
      <p:sp>
        <p:nvSpPr>
          <p:cNvPr id="150" name="TextBox 3"/>
          <p:cNvSpPr txBox="1"/>
          <p:nvPr/>
        </p:nvSpPr>
        <p:spPr>
          <a:xfrm>
            <a:off x="594360" y="137159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We multiply error by a gain constant Kp:</a:t>
            </a:r>
          </a:p>
        </p:txBody>
      </p:sp>
      <p:sp>
        <p:nvSpPr>
          <p:cNvPr id="151" name="TextBox 4"/>
          <p:cNvSpPr txBox="1"/>
          <p:nvPr/>
        </p:nvSpPr>
        <p:spPr>
          <a:xfrm>
            <a:off x="594360" y="2382754"/>
            <a:ext cx="10881361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1B3A5C"/>
                </a:solidFill>
              </a:defRPr>
            </a:pPr>
            <a:r>
              <a:t>Kp controls how aggressively the robot reacts.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Example with Kp = 0.5</a:t>
            </a:r>
          </a:p>
        </p:txBody>
      </p:sp>
      <p:sp>
        <p:nvSpPr>
          <p:cNvPr id="152" name="TextBox 5"/>
          <p:cNvSpPr txBox="1"/>
          <p:nvPr/>
        </p:nvSpPr>
        <p:spPr>
          <a:xfrm>
            <a:off x="594360" y="3095592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Then apply correction to motors using arcade:</a:t>
            </a:r>
          </a:p>
        </p:txBody>
      </p:sp>
      <p:sp>
        <p:nvSpPr>
          <p:cNvPr id="153" name="TextBox 6"/>
          <p:cNvSpPr txBox="1"/>
          <p:nvPr/>
        </p:nvSpPr>
        <p:spPr>
          <a:xfrm>
            <a:off x="594360" y="4819585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Question: "What happens if Kp is very large, like 5.0?" (Overcorrection, oscillation)</a:t>
            </a:r>
          </a:p>
        </p:txBody>
      </p:sp>
      <p:sp>
        <p:nvSpPr>
          <p:cNvPr id="154" name="Rounded Rectangle 7"/>
          <p:cNvSpPr/>
          <p:nvPr/>
        </p:nvSpPr>
        <p:spPr>
          <a:xfrm>
            <a:off x="485004" y="1718182"/>
            <a:ext cx="4073212" cy="472441"/>
          </a:xfrm>
          <a:prstGeom prst="roundRect">
            <a:avLst>
              <a:gd name="adj" fmla="val 2580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5" name="TextBox 8"/>
          <p:cNvSpPr txBox="1"/>
          <p:nvPr/>
        </p:nvSpPr>
        <p:spPr>
          <a:xfrm>
            <a:off x="713604" y="1809622"/>
            <a:ext cx="484632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100"/>
              </a:spcBef>
              <a:defRPr sz="16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correction = error * Kp</a:t>
            </a:r>
          </a:p>
        </p:txBody>
      </p:sp>
      <p:sp>
        <p:nvSpPr>
          <p:cNvPr id="156" name="Rounded Rectangle 9"/>
          <p:cNvSpPr/>
          <p:nvPr/>
        </p:nvSpPr>
        <p:spPr>
          <a:xfrm>
            <a:off x="485004" y="3413258"/>
            <a:ext cx="5303521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TextBox 10"/>
          <p:cNvSpPr txBox="1"/>
          <p:nvPr/>
        </p:nvSpPr>
        <p:spPr>
          <a:xfrm>
            <a:off x="713604" y="3504698"/>
            <a:ext cx="5099256" cy="561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 sz="16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drivetrain.arcade(base_effort, correction)</a:t>
            </a:r>
          </a:p>
          <a:p>
            <a:pPr>
              <a:spcBef>
                <a:spcPts val="100"/>
              </a:spcBef>
              <a:defRPr sz="16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0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The Complete Control Loop</a:t>
            </a:r>
          </a:p>
        </p:txBody>
      </p:sp>
      <p:sp>
        <p:nvSpPr>
          <p:cNvPr id="161" name="Rounded Rectangle 3"/>
          <p:cNvSpPr/>
          <p:nvPr/>
        </p:nvSpPr>
        <p:spPr>
          <a:xfrm>
            <a:off x="548640" y="1371599"/>
            <a:ext cx="7745917" cy="5353898"/>
          </a:xfrm>
          <a:prstGeom prst="roundRect">
            <a:avLst>
              <a:gd name="adj" fmla="val 8094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4"/>
          <p:cNvSpPr txBox="1"/>
          <p:nvPr/>
        </p:nvSpPr>
        <p:spPr>
          <a:xfrm>
            <a:off x="777239" y="1463039"/>
            <a:ext cx="7399082" cy="4879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setpoint = 0.5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Kp = 0.5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base_effort = 0.3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 True: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1. Read sensor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sensor_value = reflectance.get_left()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2. Calculate error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error = setpoint - sensor_value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3. Calculate correction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correction = error * Kp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4. Apply to motors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drivetrain.arcade(base_effort, correction)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</p:txBody>
      </p:sp>
      <p:pic>
        <p:nvPicPr>
          <p:cNvPr id="163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rcRect l="6914" t="12234" r="6913" b="12122"/>
          <a:stretch>
            <a:fillRect/>
          </a:stretch>
        </p:blipFill>
        <p:spPr>
          <a:xfrm>
            <a:off x="8396073" y="2329938"/>
            <a:ext cx="3437336" cy="301732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0" fill="norm" stroke="1" extrusionOk="0">
                <a:moveTo>
                  <a:pt x="7557" y="0"/>
                </a:moveTo>
                <a:lnTo>
                  <a:pt x="7532" y="1849"/>
                </a:lnTo>
                <a:lnTo>
                  <a:pt x="7507" y="3697"/>
                </a:lnTo>
                <a:lnTo>
                  <a:pt x="7175" y="4089"/>
                </a:lnTo>
                <a:cubicBezTo>
                  <a:pt x="6412" y="4990"/>
                  <a:pt x="5919" y="6300"/>
                  <a:pt x="5833" y="7642"/>
                </a:cubicBezTo>
                <a:lnTo>
                  <a:pt x="5778" y="8502"/>
                </a:lnTo>
                <a:lnTo>
                  <a:pt x="2888" y="8554"/>
                </a:lnTo>
                <a:lnTo>
                  <a:pt x="0" y="8605"/>
                </a:lnTo>
                <a:lnTo>
                  <a:pt x="0" y="10780"/>
                </a:lnTo>
                <a:lnTo>
                  <a:pt x="0" y="12955"/>
                </a:lnTo>
                <a:lnTo>
                  <a:pt x="2846" y="13006"/>
                </a:lnTo>
                <a:lnTo>
                  <a:pt x="5689" y="13057"/>
                </a:lnTo>
                <a:lnTo>
                  <a:pt x="5796" y="13912"/>
                </a:lnTo>
                <a:cubicBezTo>
                  <a:pt x="5983" y="15413"/>
                  <a:pt x="6355" y="16377"/>
                  <a:pt x="7115" y="17340"/>
                </a:cubicBezTo>
                <a:lnTo>
                  <a:pt x="7512" y="17843"/>
                </a:lnTo>
                <a:lnTo>
                  <a:pt x="7512" y="19660"/>
                </a:lnTo>
                <a:cubicBezTo>
                  <a:pt x="7512" y="20658"/>
                  <a:pt x="7538" y="21505"/>
                  <a:pt x="7572" y="21543"/>
                </a:cubicBezTo>
                <a:cubicBezTo>
                  <a:pt x="7605" y="21581"/>
                  <a:pt x="9075" y="21600"/>
                  <a:pt x="10839" y="21585"/>
                </a:cubicBezTo>
                <a:lnTo>
                  <a:pt x="14043" y="21560"/>
                </a:lnTo>
                <a:lnTo>
                  <a:pt x="14068" y="19711"/>
                </a:lnTo>
                <a:lnTo>
                  <a:pt x="14093" y="17862"/>
                </a:lnTo>
                <a:lnTo>
                  <a:pt x="14485" y="17397"/>
                </a:lnTo>
                <a:cubicBezTo>
                  <a:pt x="14899" y="16904"/>
                  <a:pt x="15425" y="15858"/>
                  <a:pt x="15597" y="15182"/>
                </a:cubicBezTo>
                <a:cubicBezTo>
                  <a:pt x="15654" y="14959"/>
                  <a:pt x="15749" y="14391"/>
                  <a:pt x="15807" y="13918"/>
                </a:cubicBezTo>
                <a:lnTo>
                  <a:pt x="15911" y="13057"/>
                </a:lnTo>
                <a:lnTo>
                  <a:pt x="18754" y="13006"/>
                </a:lnTo>
                <a:lnTo>
                  <a:pt x="21600" y="12955"/>
                </a:lnTo>
                <a:lnTo>
                  <a:pt x="21600" y="10780"/>
                </a:lnTo>
                <a:lnTo>
                  <a:pt x="21600" y="8605"/>
                </a:lnTo>
                <a:lnTo>
                  <a:pt x="19378" y="8576"/>
                </a:lnTo>
                <a:cubicBezTo>
                  <a:pt x="17385" y="8553"/>
                  <a:pt x="17144" y="8533"/>
                  <a:pt x="17041" y="8375"/>
                </a:cubicBezTo>
                <a:cubicBezTo>
                  <a:pt x="16978" y="8278"/>
                  <a:pt x="16898" y="8222"/>
                  <a:pt x="16864" y="8250"/>
                </a:cubicBezTo>
                <a:cubicBezTo>
                  <a:pt x="16830" y="8277"/>
                  <a:pt x="16774" y="8073"/>
                  <a:pt x="16739" y="7795"/>
                </a:cubicBezTo>
                <a:cubicBezTo>
                  <a:pt x="16554" y="6319"/>
                  <a:pt x="15792" y="4888"/>
                  <a:pt x="14689" y="3944"/>
                </a:cubicBezTo>
                <a:lnTo>
                  <a:pt x="14133" y="3470"/>
                </a:lnTo>
                <a:lnTo>
                  <a:pt x="14088" y="1735"/>
                </a:lnTo>
                <a:lnTo>
                  <a:pt x="14043" y="0"/>
                </a:lnTo>
                <a:lnTo>
                  <a:pt x="10799" y="0"/>
                </a:lnTo>
                <a:lnTo>
                  <a:pt x="7557" y="0"/>
                </a:ln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6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Tracing Through the Math</a:t>
            </a:r>
          </a:p>
        </p:txBody>
      </p:sp>
      <p:sp>
        <p:nvSpPr>
          <p:cNvPr id="167" name="TextBox 4"/>
          <p:cNvSpPr txBox="1"/>
          <p:nvPr/>
        </p:nvSpPr>
        <p:spPr>
          <a:xfrm>
            <a:off x="240897" y="1363522"/>
            <a:ext cx="5700177" cy="1161391"/>
          </a:xfrm>
          <a:prstGeom prst="rect">
            <a:avLst/>
          </a:pr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900">
                <a:solidFill>
                  <a:srgbClr val="1B3A5C"/>
                </a:solidFill>
              </a:defRPr>
            </a:pPr>
            <a:r>
              <a:t>Scenario: Robot drifts onto white (sensor reads 0.2)</a:t>
            </a:r>
            <a:br/>
            <a:r>
              <a:t>Result: Left motor runs at 0.45, right motor runs at 0.15.</a:t>
            </a:r>
          </a:p>
          <a:p>
            <a:pPr>
              <a:spcBef>
                <a:spcPts val="400"/>
              </a:spcBef>
              <a:defRPr sz="1700"/>
            </a:pPr>
            <a:r>
              <a:t>Left is faster, so the robot steers to the right -- back toward the line.</a:t>
            </a:r>
          </a:p>
        </p:txBody>
      </p:sp>
      <p:sp>
        <p:nvSpPr>
          <p:cNvPr id="168" name="TextBox 5"/>
          <p:cNvSpPr txBox="1"/>
          <p:nvPr/>
        </p:nvSpPr>
        <p:spPr>
          <a:xfrm>
            <a:off x="6272219" y="1343588"/>
            <a:ext cx="5610318" cy="914485"/>
          </a:xfrm>
          <a:prstGeom prst="rect">
            <a:avLst/>
          </a:pr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900">
                <a:solidFill>
                  <a:srgbClr val="1B3A5C"/>
                </a:solidFill>
              </a:defRPr>
            </a:pPr>
            <a:r>
              <a:t>Scenario: Robot drifts onto black (sensor reads 0.8) </a:t>
            </a:r>
            <a:br/>
            <a:r>
              <a:t>Result: Right motor is faster, robot steers left -- away from the line.</a:t>
            </a:r>
          </a:p>
        </p:txBody>
      </p:sp>
      <p:sp>
        <p:nvSpPr>
          <p:cNvPr id="169" name="Rounded Rectangle 6"/>
          <p:cNvSpPr/>
          <p:nvPr/>
        </p:nvSpPr>
        <p:spPr>
          <a:xfrm>
            <a:off x="237028" y="2482893"/>
            <a:ext cx="5303521" cy="2827021"/>
          </a:xfrm>
          <a:prstGeom prst="roundRect">
            <a:avLst>
              <a:gd name="adj" fmla="val 1374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7"/>
          <p:cNvSpPr txBox="1"/>
          <p:nvPr/>
        </p:nvSpPr>
        <p:spPr>
          <a:xfrm>
            <a:off x="465628" y="2542583"/>
            <a:ext cx="5054966" cy="2707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setpoint      = 0.5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sensor_value  = 0.2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error         = 0.5 - 0.2 = 0.3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Kp            = 0.5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correction    = 0.3 * 0.5 = 0.15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base_effort   = 0.3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arcade(0.3, 0.15) --&gt; left = 0.3 + 0.15 = 0.45</a:t>
            </a:r>
          </a:p>
          <a:p>
            <a:pPr>
              <a:spcBef>
                <a:spcPts val="100"/>
              </a:spcBef>
              <a:defRPr sz="19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              right = 0.3 - 0.15 = 0.15</a:t>
            </a:r>
          </a:p>
        </p:txBody>
      </p:sp>
      <p:sp>
        <p:nvSpPr>
          <p:cNvPr id="171" name="Rounded Rectangle 8"/>
          <p:cNvSpPr/>
          <p:nvPr/>
        </p:nvSpPr>
        <p:spPr>
          <a:xfrm>
            <a:off x="6233639" y="2283021"/>
            <a:ext cx="5687478" cy="1667694"/>
          </a:xfrm>
          <a:prstGeom prst="roundRect">
            <a:avLst>
              <a:gd name="adj" fmla="val 23303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2" name="TextBox 9"/>
          <p:cNvSpPr txBox="1"/>
          <p:nvPr/>
        </p:nvSpPr>
        <p:spPr>
          <a:xfrm>
            <a:off x="6357917" y="2391698"/>
            <a:ext cx="5438923" cy="1450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error         = 0.5 - 0.8 = -0.3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correction    = -0.3 * 0.5 = -0.15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arcade(0.3, -0.15) --&gt; left = 0.3 + (-0.15) = 0.15</a:t>
            </a:r>
          </a:p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2000"/>
              <a:t>                       right = 0.3 - (-0.15) = 0.45</a:t>
            </a:r>
            <a:r>
              <a:t/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5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What Does Kp Do?</a:t>
            </a:r>
          </a:p>
        </p:txBody>
      </p:sp>
      <p:sp>
        <p:nvSpPr>
          <p:cNvPr id="176" name="TextBox 3"/>
          <p:cNvSpPr txBox="1"/>
          <p:nvPr/>
        </p:nvSpPr>
        <p:spPr>
          <a:xfrm>
            <a:off x="594360" y="1371599"/>
            <a:ext cx="10881361" cy="13629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400"/>
              </a:spcBef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[Diagram description: Three horizontal paths showing robot behavior. Top path labeled "Kp too low (0.1)" shows a robot drifting slowly off the line. Middle path labeled "Kp just right (0.5)" shows a robot smoothly following the curved line. Bottom path labeled "Kp too high (2.0)" shows a robot zigzagging rapidly back and forth across the line.]</a:t>
            </a:r>
          </a:p>
        </p:txBody>
      </p:sp>
      <p:graphicFrame>
        <p:nvGraphicFramePr>
          <p:cNvPr id="177" name="Table 4"/>
          <p:cNvGraphicFramePr/>
          <p:nvPr/>
        </p:nvGraphicFramePr>
        <p:xfrm>
          <a:off x="681013" y="3471922"/>
          <a:ext cx="10058401" cy="146304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Kp Value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Behavior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Too low (e.g., 0.1)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reacts too slowly, drifts off the line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Just right (e.g., 0.5)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follows smoothly with small adjustments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Too high (e.g., 2.0)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Robot overcorrects, oscillates wildly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  <p:sp>
        <p:nvSpPr>
          <p:cNvPr id="178" name="TextBox 5"/>
          <p:cNvSpPr txBox="1"/>
          <p:nvPr/>
        </p:nvSpPr>
        <p:spPr>
          <a:xfrm>
            <a:off x="594360" y="5031556"/>
            <a:ext cx="10881361" cy="15578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Tuning Kp is about finding the sweet spot:</a:t>
            </a:r>
          </a:p>
          <a:p>
            <a:pPr>
              <a:spcBef>
                <a:spcPts val="400"/>
              </a:spcBef>
              <a:defRPr sz="1600"/>
            </a:pPr>
            <a:r>
              <a:t>Start at 0.5</a:t>
            </a:r>
          </a:p>
          <a:p>
            <a:pPr>
              <a:spcBef>
                <a:spcPts val="400"/>
              </a:spcBef>
              <a:defRPr sz="1600"/>
            </a:pPr>
            <a:r>
              <a:t>If too wiggly, lower it</a:t>
            </a:r>
          </a:p>
          <a:p>
            <a:pPr>
              <a:spcBef>
                <a:spcPts val="400"/>
              </a:spcBef>
              <a:defRPr sz="1600"/>
            </a:pPr>
            <a:r>
              <a:t>If too sluggish, raise 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Exercise -- Follow the Circle</a:t>
            </a:r>
          </a:p>
        </p:txBody>
      </p:sp>
      <p:sp>
        <p:nvSpPr>
          <p:cNvPr id="182" name="TextBox 3"/>
          <p:cNvSpPr txBox="1"/>
          <p:nvPr/>
        </p:nvSpPr>
        <p:spPr>
          <a:xfrm>
            <a:off x="255389" y="1387366"/>
            <a:ext cx="4748108" cy="15550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900">
                <a:solidFill>
                  <a:srgbClr val="1B3A5C"/>
                </a:solidFill>
              </a:defRPr>
            </a:pPr>
            <a:r>
              <a:t>Your task:</a:t>
            </a:r>
          </a:p>
          <a:p>
            <a:pPr marL="170447" indent="-170447">
              <a:spcBef>
                <a:spcPts val="400"/>
              </a:spcBef>
              <a:buSzPct val="100000"/>
              <a:buChar char="•"/>
              <a:defRPr sz="1700"/>
            </a:pPr>
            <a:r>
              <a:t>Type in the complete proportional control program</a:t>
            </a:r>
          </a:p>
          <a:p>
            <a:pPr marL="170447" indent="-170447">
              <a:spcBef>
                <a:spcPts val="400"/>
              </a:spcBef>
              <a:buSzPct val="100000"/>
              <a:buChar char="•"/>
              <a:defRPr sz="1700"/>
            </a:pPr>
            <a:r>
              <a:t>Place the robot on the edge of your taped circle</a:t>
            </a:r>
          </a:p>
          <a:p>
            <a:pPr marL="170447" indent="-170447">
              <a:spcBef>
                <a:spcPts val="400"/>
              </a:spcBef>
              <a:buSzPct val="100000"/>
              <a:buChar char="•"/>
              <a:defRPr sz="1700"/>
            </a:pPr>
            <a:r>
              <a:t>Press the button and observe</a:t>
            </a:r>
          </a:p>
          <a:p>
            <a:pPr marL="170447" indent="-170447">
              <a:spcBef>
                <a:spcPts val="400"/>
              </a:spcBef>
              <a:buSzPct val="100000"/>
              <a:buChar char="•"/>
              <a:defRPr sz="1700"/>
            </a:pPr>
            <a:r>
              <a:t>Tune Kp and base_effort for smooth tracking</a:t>
            </a:r>
          </a:p>
        </p:txBody>
      </p:sp>
      <p:sp>
        <p:nvSpPr>
          <p:cNvPr id="183" name="Rounded Rectangle 4"/>
          <p:cNvSpPr/>
          <p:nvPr/>
        </p:nvSpPr>
        <p:spPr>
          <a:xfrm>
            <a:off x="5112859" y="1354198"/>
            <a:ext cx="6891553" cy="4810016"/>
          </a:xfrm>
          <a:prstGeom prst="roundRect">
            <a:avLst>
              <a:gd name="adj" fmla="val 12674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4" name="TextBox 5"/>
          <p:cNvSpPr txBox="1"/>
          <p:nvPr/>
        </p:nvSpPr>
        <p:spPr>
          <a:xfrm>
            <a:off x="5281505" y="1540748"/>
            <a:ext cx="6554261" cy="454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from XRPLib.differential_drive import DifferentialDrive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from XRPLib.reflectance import Reflectance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from XRPLib.board import Board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import time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 = DifferentialDrive.get_default_differential_drive()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reflectance = Reflectance.get_default_reflectance()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 = Board.get_default_board()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setpoint = 0.5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Kp = 0.5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base_effort = 0.3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board.wait_for_button()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 True: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sensor_value = reflectance.get_left()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error = setpoint - sensor_value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correction = error * Kp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drivetrain.arcade(base_effort, correction)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time.sleep(0.01)</a:t>
            </a:r>
          </a:p>
        </p:txBody>
      </p:sp>
      <p:sp>
        <p:nvSpPr>
          <p:cNvPr id="185" name="TextBox 6"/>
          <p:cNvSpPr txBox="1"/>
          <p:nvPr/>
        </p:nvSpPr>
        <p:spPr>
          <a:xfrm>
            <a:off x="3620769" y="6421131"/>
            <a:ext cx="49377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Success: Robot completes one full lap of the circle.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8" name="TextBox 2"/>
          <p:cNvSpPr txBox="1"/>
          <p:nvPr/>
        </p:nvSpPr>
        <p:spPr>
          <a:xfrm>
            <a:off x="594360" y="137159"/>
            <a:ext cx="10881361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Connection to Lesson 6</a:t>
            </a:r>
          </a:p>
        </p:txBody>
      </p:sp>
      <p:sp>
        <p:nvSpPr>
          <p:cNvPr id="189" name="TextBox 3"/>
          <p:cNvSpPr txBox="1"/>
          <p:nvPr/>
        </p:nvSpPr>
        <p:spPr>
          <a:xfrm>
            <a:off x="594360" y="1431801"/>
            <a:ext cx="5614144" cy="34445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1B3A5C"/>
                </a:solidFill>
              </a:defRPr>
            </a:pPr>
            <a:r>
              <a:t>What we accomplished today:</a:t>
            </a:r>
          </a:p>
          <a:p>
            <a:pPr>
              <a:spcBef>
                <a:spcPts val="400"/>
              </a:spcBef>
              <a:defRPr sz="1600"/>
            </a:pPr>
            <a:r>
              <a:t>Smooth line following with ONE sensor using proportional control</a:t>
            </a:r>
          </a:p>
          <a:p>
            <a:pPr>
              <a:spcBef>
                <a:spcPts val="400"/>
              </a:spcBef>
              <a:defRPr sz="1600"/>
            </a:pPr>
            <a:r>
              <a:t>Understood setpoint, error, Kp, and correction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Limitation of one sensor:</a:t>
            </a:r>
          </a:p>
          <a:p>
            <a:pPr>
              <a:spcBef>
                <a:spcPts val="400"/>
              </a:spcBef>
              <a:defRPr sz="1600"/>
            </a:pPr>
            <a:r>
              <a:t>Only tracks one edge of the line</a:t>
            </a:r>
          </a:p>
          <a:p>
            <a:pPr>
              <a:spcBef>
                <a:spcPts val="400"/>
              </a:spcBef>
              <a:defRPr sz="1600"/>
            </a:pPr>
            <a:r>
              <a:t>If the robot drifts too far off, it cannot tell which side it is on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Next lesson: Two-Sensor Line Following</a:t>
            </a:r>
          </a:p>
          <a:p>
            <a:pPr>
              <a:spcBef>
                <a:spcPts val="400"/>
              </a:spcBef>
              <a:defRPr sz="1600"/>
            </a:pPr>
            <a:r>
              <a:t>Use BOTH left and right sensors</a:t>
            </a:r>
          </a:p>
          <a:p>
            <a:pPr>
              <a:spcBef>
                <a:spcPts val="400"/>
              </a:spcBef>
              <a:defRPr sz="1600"/>
            </a:pPr>
            <a:r>
              <a:t>Error = left sensor - right sensor</a:t>
            </a:r>
          </a:p>
          <a:p>
            <a:pPr>
              <a:spcBef>
                <a:spcPts val="400"/>
              </a:spcBef>
              <a:defRPr sz="1600"/>
            </a:pPr>
            <a:r>
              <a:t>Even smoother tracking, follows the CENTER of the line</a:t>
            </a:r>
          </a:p>
          <a:p>
            <a:pPr>
              <a:spcBef>
                <a:spcPts val="400"/>
              </a:spcBef>
              <a:defRPr b="1">
                <a:solidFill>
                  <a:srgbClr val="1B3A5C"/>
                </a:solidFill>
              </a:defRPr>
            </a:pPr>
            <a:r>
              <a:t>Preview:</a:t>
            </a:r>
          </a:p>
        </p:txBody>
      </p:sp>
      <p:sp>
        <p:nvSpPr>
          <p:cNvPr id="190" name="Rounded Rectangle 4"/>
          <p:cNvSpPr/>
          <p:nvPr/>
        </p:nvSpPr>
        <p:spPr>
          <a:xfrm>
            <a:off x="619382" y="5002392"/>
            <a:ext cx="4810737" cy="731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1" name="TextBox 5"/>
          <p:cNvSpPr txBox="1"/>
          <p:nvPr/>
        </p:nvSpPr>
        <p:spPr>
          <a:xfrm>
            <a:off x="724444" y="4991352"/>
            <a:ext cx="4937761" cy="59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"/>
              </a:spcBef>
              <a:defRPr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error = reflectance.get_left() -</a:t>
            </a:r>
            <a:br/>
            <a:r>
              <a:t>        reflectance.get_right()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