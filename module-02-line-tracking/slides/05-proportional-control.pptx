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74320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0584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>
                <a:solidFill>
                  <a:srgbClr val="A0C4E8"/>
                </a:solidFill>
                <a:latin typeface="Calibri"/>
              </a:defRPr>
            </a:pPr>
            <a:r>
              <a:t>Module 2: Line Tracking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914400"/>
            <a:ext cx="10058400" cy="1463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FFFFFF"/>
                </a:solidFill>
                <a:latin typeface="Calibri"/>
              </a:defRPr>
            </a:pPr>
            <a:r>
              <a:t>Lesson 5: Proportional Control with One Sensor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108960"/>
            <a:ext cx="5486400" cy="3200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1B3A5C"/>
                </a:solidFill>
                <a:latin typeface="Calibri"/>
              </a:defRPr>
            </a:pPr>
            <a:r>
              <a:t>Learning Objectives</a:t>
            </a:r>
          </a:p>
          <a:p>
            <a:pPr>
              <a:spcAft>
                <a:spcPts val="600"/>
              </a:spcAft>
              <a:defRPr sz="1700" b="0">
                <a:solidFill>
                  <a:srgbClr val="333333"/>
                </a:solidFill>
                <a:latin typeface="Calibri"/>
              </a:defRPr>
            </a:pPr>
            <a:r>
              <a:t>Understand what a setpoint is and how to calculate error</a:t>
            </a:r>
          </a:p>
          <a:p>
            <a:pPr>
              <a:spcAft>
                <a:spcPts val="600"/>
              </a:spcAft>
              <a:defRPr sz="1700" b="0">
                <a:solidFill>
                  <a:srgbClr val="333333"/>
                </a:solidFill>
                <a:latin typeface="Calibri"/>
              </a:defRPr>
            </a:pPr>
            <a:r>
              <a:t>Use set_effort() for continuous motor control</a:t>
            </a:r>
          </a:p>
          <a:p>
            <a:pPr>
              <a:spcAft>
                <a:spcPts val="600"/>
              </a:spcAft>
              <a:defRPr sz="1700" b="0">
                <a:solidFill>
                  <a:srgbClr val="333333"/>
                </a:solidFill>
                <a:latin typeface="Calibri"/>
              </a:defRPr>
            </a:pPr>
            <a:r>
              <a:t>Build a proportional control loop for line following</a:t>
            </a:r>
          </a:p>
          <a:p>
            <a:pPr>
              <a:spcAft>
                <a:spcPts val="600"/>
              </a:spcAft>
              <a:defRPr sz="1700" b="0">
                <a:solidFill>
                  <a:srgbClr val="333333"/>
                </a:solidFill>
                <a:latin typeface="Calibri"/>
              </a:defRPr>
            </a:pPr>
            <a:r>
              <a:t>Tune the Kp gain constant by observing behavior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0" y="3108960"/>
            <a:ext cx="5029200" cy="3200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1B3A5C"/>
                </a:solidFill>
                <a:latin typeface="Calibri"/>
              </a:defRPr>
            </a:pPr>
            <a:r>
              <a:t>Agenda</a:t>
            </a:r>
          </a:p>
          <a:p>
            <a:pPr>
              <a:spcAft>
                <a:spcPts val="600"/>
              </a:spcAft>
              <a:defRPr sz="1600" b="0">
                <a:solidFill>
                  <a:srgbClr val="333333"/>
                </a:solidFill>
                <a:latin typeface="Calibri"/>
              </a:defRPr>
            </a:pPr>
            <a:r>
              <a:t>The problem with bounce driving  (5 min)</a:t>
            </a:r>
          </a:p>
          <a:p>
            <a:pPr>
              <a:spcAft>
                <a:spcPts val="600"/>
              </a:spcAft>
              <a:defRPr sz="1600" b="0">
                <a:solidFill>
                  <a:srgbClr val="333333"/>
                </a:solidFill>
                <a:latin typeface="Calibri"/>
              </a:defRPr>
            </a:pPr>
            <a:r>
              <a:t>set_effort() and continuous control  (5 min)</a:t>
            </a:r>
          </a:p>
          <a:p>
            <a:pPr>
              <a:spcAft>
                <a:spcPts val="600"/>
              </a:spcAft>
              <a:defRPr sz="1600" b="0">
                <a:solidFill>
                  <a:srgbClr val="333333"/>
                </a:solidFill>
                <a:latin typeface="Calibri"/>
              </a:defRPr>
            </a:pPr>
            <a:r>
              <a:t>Proportional controller step by step  (20 min)</a:t>
            </a:r>
          </a:p>
          <a:p>
            <a:pPr>
              <a:spcAft>
                <a:spcPts val="600"/>
              </a:spcAft>
              <a:defRPr sz="1600" b="0">
                <a:solidFill>
                  <a:srgbClr val="333333"/>
                </a:solidFill>
                <a:latin typeface="Calibri"/>
              </a:defRPr>
            </a:pPr>
            <a:r>
              <a:t>Follow the circle edge, tune Kp  (20 min)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FFFFFF"/>
                </a:solidFill>
                <a:latin typeface="Calibri"/>
              </a:defRPr>
            </a:pPr>
            <a:r>
              <a:t>What is Wrong with Bounce Driving?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Aft>
                <a:spcPts val="600"/>
              </a:spcAft>
              <a:defRPr sz="2000" b="1">
                <a:solidFill>
                  <a:srgbClr val="1B3A5C"/>
                </a:solidFill>
                <a:latin typeface="Calibri"/>
              </a:defRPr>
            </a:pPr>
            <a:r>
              <a:t>Bounce driving (Lessons 3–4):</a:t>
            </a:r>
          </a:p>
          <a:p>
            <a:pPr>
              <a:spcAft>
                <a:spcPts val="600"/>
              </a:spcAft>
              <a:defRPr sz="1800" b="0">
                <a:solidFill>
                  <a:srgbClr val="333333"/>
                </a:solidFill>
                <a:latin typeface="Calibri"/>
              </a:defRPr>
            </a:pPr>
            <a:r>
              <a:t>Drive straight → Hit line → Stop → Turn → Drive straight → Hit line → …</a:t>
            </a:r>
          </a:p>
          <a:p>
            <a:pPr>
              <a:spcAft>
                <a:spcPts val="600"/>
              </a:spcAft>
              <a:defRPr sz="1800" b="0">
                <a:solidFill>
                  <a:srgbClr val="000000"/>
                </a:solidFill>
                <a:latin typeface="Calibri"/>
              </a:defRPr>
            </a:pPr>
          </a:p>
          <a:p>
            <a:pPr>
              <a:spcAft>
                <a:spcPts val="600"/>
              </a:spcAft>
              <a:defRPr sz="2000" b="1">
                <a:solidFill>
                  <a:srgbClr val="1B3A5C"/>
                </a:solidFill>
                <a:latin typeface="Calibri"/>
              </a:defRPr>
            </a:pPr>
            <a:r>
              <a:t>Problems:</a:t>
            </a:r>
          </a:p>
          <a:p>
            <a:pPr lvl="1">
              <a:spcAft>
                <a:spcPts val="600"/>
              </a:spcAft>
              <a:defRPr sz="1800" b="0">
                <a:solidFill>
                  <a:srgbClr val="333333"/>
                </a:solidFill>
                <a:latin typeface="Calibri"/>
              </a:defRPr>
            </a:pPr>
            <a:r>
              <a:t>Jerky, not smooth</a:t>
            </a:r>
          </a:p>
          <a:p>
            <a:pPr lvl="1">
              <a:spcAft>
                <a:spcPts val="600"/>
              </a:spcAft>
              <a:defRPr sz="1800" b="0">
                <a:solidFill>
                  <a:srgbClr val="333333"/>
                </a:solidFill>
                <a:latin typeface="Calibri"/>
              </a:defRPr>
            </a:pPr>
            <a:r>
              <a:t>Robot is NOT following the line — it is bouncing off it</a:t>
            </a:r>
          </a:p>
          <a:p>
            <a:pPr lvl="1">
              <a:spcAft>
                <a:spcPts val="600"/>
              </a:spcAft>
              <a:defRPr sz="1800" b="0">
                <a:solidFill>
                  <a:srgbClr val="333333"/>
                </a:solidFill>
                <a:latin typeface="Calibri"/>
              </a:defRPr>
            </a:pPr>
            <a:r>
              <a:t>Cannot handle curves well</a:t>
            </a:r>
          </a:p>
          <a:p>
            <a:pPr>
              <a:spcAft>
                <a:spcPts val="600"/>
              </a:spcAft>
              <a:defRPr sz="1800" b="0">
                <a:solidFill>
                  <a:srgbClr val="000000"/>
                </a:solidFill>
                <a:latin typeface="Calibri"/>
              </a:defRPr>
            </a:pPr>
          </a:p>
          <a:p>
            <a:pPr>
              <a:spcAft>
                <a:spcPts val="600"/>
              </a:spcAft>
              <a:defRPr sz="2000" b="1">
                <a:solidFill>
                  <a:srgbClr val="1B3A5C"/>
                </a:solidFill>
                <a:latin typeface="Calibri"/>
              </a:defRPr>
            </a:pPr>
            <a:r>
              <a:t>What we want:</a:t>
            </a:r>
          </a:p>
          <a:p>
            <a:pPr lvl="1">
              <a:spcAft>
                <a:spcPts val="600"/>
              </a:spcAft>
              <a:defRPr sz="1800" b="0">
                <a:solidFill>
                  <a:srgbClr val="333333"/>
                </a:solidFill>
                <a:latin typeface="Calibri"/>
              </a:defRPr>
            </a:pPr>
            <a:r>
              <a:t>Robot smoothly follows the line</a:t>
            </a:r>
          </a:p>
          <a:p>
            <a:pPr lvl="1">
              <a:spcAft>
                <a:spcPts val="600"/>
              </a:spcAft>
              <a:defRPr sz="1800" b="0">
                <a:solidFill>
                  <a:srgbClr val="333333"/>
                </a:solidFill>
                <a:latin typeface="Calibri"/>
              </a:defRPr>
            </a:pPr>
            <a:r>
              <a:t>Constant small adjustments, like steering a car</a:t>
            </a:r>
          </a:p>
          <a:p>
            <a:pPr>
              <a:spcAft>
                <a:spcPts val="600"/>
              </a:spcAft>
              <a:defRPr sz="1800" b="0">
                <a:solidFill>
                  <a:srgbClr val="000000"/>
                </a:solidFill>
                <a:latin typeface="Calibri"/>
              </a:defRPr>
            </a:pPr>
          </a:p>
          <a:p>
            <a:pPr>
              <a:spcAft>
                <a:spcPts val="600"/>
              </a:spcAft>
              <a:defRPr sz="2000" b="1">
                <a:solidFill>
                  <a:srgbClr val="2E75B6"/>
                </a:solidFill>
                <a:latin typeface="Calibri"/>
              </a:defRPr>
            </a:pPr>
            <a:r>
              <a:t>Question: "How can the robot steer while it is driving?"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FFFFFF"/>
                </a:solidFill>
                <a:latin typeface="Calibri"/>
              </a:defRPr>
            </a:pPr>
            <a:r>
              <a:t>Blocking vs. Continuous Motor Control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80160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1B3A5C"/>
                </a:solidFill>
                <a:latin typeface="Calibri"/>
              </a:defRPr>
            </a:pPr>
            <a:r>
              <a:t>Blocking calls (what we used before):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828800"/>
            <a:ext cx="5486400" cy="1280160"/>
          </a:xfrm>
          <a:prstGeom prst="roundRect">
            <a:avLst/>
          </a:prstGeom>
          <a:solidFill>
            <a:srgbClr val="F0F0F0"/>
          </a:solidFill>
          <a:ln w="12700">
            <a:solidFill>
              <a:srgbClr val="9999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965960"/>
            <a:ext cx="5120640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200"/>
              </a:spcAft>
              <a:defRPr sz="1400">
                <a:solidFill>
                  <a:srgbClr val="333333"/>
                </a:solidFill>
                <a:latin typeface="Courier New"/>
              </a:defRPr>
            </a:pPr>
            <a:r>
              <a:t>drivetrain.straight(30)   # Drives 30 cm, then STOPS</a:t>
            </a:r>
          </a:p>
          <a:p>
            <a:pPr>
              <a:spcAft>
                <a:spcPts val="200"/>
              </a:spcAft>
              <a:defRPr sz="1400">
                <a:solidFill>
                  <a:srgbClr val="333333"/>
                </a:solidFill>
                <a:latin typeface="Courier New"/>
              </a:defRPr>
            </a:pPr>
            <a:r>
              <a:t>drivetrain.turn(90)       # Turns 90 degrees, then STOPS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200400"/>
            <a:ext cx="5486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Aft>
                <a:spcPts val="600"/>
              </a:spcAft>
              <a:defRPr sz="1600" b="0">
                <a:solidFill>
                  <a:srgbClr val="333333"/>
                </a:solidFill>
                <a:latin typeface="Calibri"/>
              </a:defRPr>
            </a:pPr>
            <a:r>
              <a:t>Robot does one thing at a time</a:t>
            </a:r>
          </a:p>
          <a:p>
            <a:pPr>
              <a:spcAft>
                <a:spcPts val="600"/>
              </a:spcAft>
              <a:defRPr sz="1600" b="0">
                <a:solidFill>
                  <a:srgbClr val="333333"/>
                </a:solidFill>
                <a:latin typeface="Calibri"/>
              </a:defRPr>
            </a:pPr>
            <a:r>
              <a:t>Cannot read sensors WHILE driving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0" y="1280160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1B3A5C"/>
                </a:solidFill>
                <a:latin typeface="Calibri"/>
              </a:defRPr>
            </a:pPr>
            <a:r>
              <a:t>Continuous control (new):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0" y="1828800"/>
            <a:ext cx="5486400" cy="822960"/>
          </a:xfrm>
          <a:prstGeom prst="roundRect">
            <a:avLst/>
          </a:prstGeom>
          <a:solidFill>
            <a:srgbClr val="F0F0F0"/>
          </a:solidFill>
          <a:ln w="12700">
            <a:solidFill>
              <a:srgbClr val="9999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83680" y="1965960"/>
            <a:ext cx="512064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200"/>
              </a:spcAft>
              <a:defRPr sz="1400">
                <a:solidFill>
                  <a:srgbClr val="333333"/>
                </a:solidFill>
                <a:latin typeface="Courier New"/>
              </a:defRPr>
            </a:pPr>
            <a:r>
              <a:t>drivetrain.set_effort(0.3, 0.3)   # Sets motors and KEEPS GOING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2743200"/>
            <a:ext cx="5486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Aft>
                <a:spcPts val="600"/>
              </a:spcAft>
              <a:defRPr sz="1600" b="0">
                <a:solidFill>
                  <a:srgbClr val="333333"/>
                </a:solidFill>
                <a:latin typeface="Calibri"/>
              </a:defRPr>
            </a:pPr>
            <a:r>
              <a:t>Sets motor power and returns immediately</a:t>
            </a:r>
          </a:p>
          <a:p>
            <a:pPr>
              <a:spcAft>
                <a:spcPts val="600"/>
              </a:spcAft>
              <a:defRPr sz="1600" b="0">
                <a:solidFill>
                  <a:srgbClr val="333333"/>
                </a:solidFill>
                <a:latin typeface="Calibri"/>
              </a:defRPr>
            </a:pPr>
            <a:r>
              <a:t>Motors keep running until you change them</a:t>
            </a:r>
          </a:p>
          <a:p>
            <a:pPr>
              <a:spcAft>
                <a:spcPts val="600"/>
              </a:spcAft>
              <a:defRPr sz="1600" b="0">
                <a:solidFill>
                  <a:srgbClr val="333333"/>
                </a:solidFill>
                <a:latin typeface="Calibri"/>
              </a:defRPr>
            </a:pPr>
            <a:r>
              <a:t>You can read sensors in between calls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4389120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2E75B6"/>
                </a:solidFill>
                <a:latin typeface="Calibri"/>
              </a:defRPr>
            </a:pPr>
            <a:r>
              <a:t>Key difference: set_effort() does not block — the program keeps running.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FFFFFF"/>
                </a:solidFill>
                <a:latin typeface="Calibri"/>
              </a:defRPr>
            </a:pPr>
            <a:r>
              <a:t>set_effort() Examples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80160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1B3A5C"/>
                </a:solidFill>
                <a:latin typeface="Calibri"/>
              </a:defRPr>
            </a:pPr>
            <a:r>
              <a:t>Drive straight: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828800"/>
            <a:ext cx="10972800" cy="822960"/>
          </a:xfrm>
          <a:prstGeom prst="roundRect">
            <a:avLst/>
          </a:prstGeom>
          <a:solidFill>
            <a:srgbClr val="F0F0F0"/>
          </a:solidFill>
          <a:ln w="12700">
            <a:solidFill>
              <a:srgbClr val="9999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965960"/>
            <a:ext cx="1060704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200"/>
              </a:spcAft>
              <a:defRPr sz="1400">
                <a:solidFill>
                  <a:srgbClr val="333333"/>
                </a:solidFill>
                <a:latin typeface="Courier New"/>
              </a:defRPr>
            </a:pPr>
            <a:r>
              <a:t>drivetrain.set_effort(0.3, 0.3)   # Both motors equal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743200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1B3A5C"/>
                </a:solidFill>
                <a:latin typeface="Calibri"/>
              </a:defRPr>
            </a:pPr>
            <a:r>
              <a:t>Turn right (left faster):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3291840"/>
            <a:ext cx="10972800" cy="822960"/>
          </a:xfrm>
          <a:prstGeom prst="roundRect">
            <a:avLst/>
          </a:prstGeom>
          <a:solidFill>
            <a:srgbClr val="F0F0F0"/>
          </a:solidFill>
          <a:ln w="12700">
            <a:solidFill>
              <a:srgbClr val="9999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3429000"/>
            <a:ext cx="1060704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200"/>
              </a:spcAft>
              <a:defRPr sz="1400">
                <a:solidFill>
                  <a:srgbClr val="333333"/>
                </a:solidFill>
                <a:latin typeface="Courier New"/>
              </a:defRPr>
            </a:pPr>
            <a:r>
              <a:t>drivetrain.set_effort(0.4, 0.2)   # Left faster than right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4206240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1B3A5C"/>
                </a:solidFill>
                <a:latin typeface="Calibri"/>
              </a:defRPr>
            </a:pPr>
            <a:r>
              <a:t>Turn left (right faster):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4754880"/>
            <a:ext cx="10972800" cy="822960"/>
          </a:xfrm>
          <a:prstGeom prst="roundRect">
            <a:avLst/>
          </a:prstGeom>
          <a:solidFill>
            <a:srgbClr val="F0F0F0"/>
          </a:solidFill>
          <a:ln w="12700">
            <a:solidFill>
              <a:srgbClr val="9999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4892040"/>
            <a:ext cx="1060704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200"/>
              </a:spcAft>
              <a:defRPr sz="1400">
                <a:solidFill>
                  <a:srgbClr val="333333"/>
                </a:solidFill>
                <a:latin typeface="Courier New"/>
              </a:defRPr>
            </a:pPr>
            <a:r>
              <a:t>drivetrain.set_effort(0.2, 0.4)   # Right faster than left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5760720"/>
            <a:ext cx="10972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 b="1">
                <a:solidFill>
                  <a:srgbClr val="2E75B6"/>
                </a:solidFill>
                <a:latin typeface="Calibri"/>
              </a:defRPr>
            </a:pPr>
            <a:r>
              <a:t>Values range from -1.0 (full reverse) to 1.0 (full forward)    |    set_effort(0.5, -0.5) = spin in place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FFFFFF"/>
                </a:solidFill>
                <a:latin typeface="Calibri"/>
              </a:defRPr>
            </a:pPr>
            <a:r>
              <a:t>The Setpoint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Aft>
                <a:spcPts val="600"/>
              </a:spcAft>
              <a:defRPr sz="2000" b="1">
                <a:solidFill>
                  <a:srgbClr val="1B3A5C"/>
                </a:solidFill>
                <a:latin typeface="Calibri"/>
              </a:defRPr>
            </a:pPr>
            <a:r>
              <a:t>From Lesson 1, you recorded sensor values:</a:t>
            </a:r>
          </a:p>
          <a:p>
            <a:pPr lvl="1">
              <a:spcAft>
                <a:spcPts val="600"/>
              </a:spcAft>
              <a:defRPr sz="1800" b="0">
                <a:solidFill>
                  <a:srgbClr val="333333"/>
                </a:solidFill>
                <a:latin typeface="Calibri"/>
              </a:defRPr>
            </a:pPr>
            <a:r>
              <a:t>On white surface: ~0.1 to 0.3</a:t>
            </a:r>
          </a:p>
          <a:p>
            <a:pPr lvl="1">
              <a:spcAft>
                <a:spcPts val="600"/>
              </a:spcAft>
              <a:defRPr sz="1800" b="0">
                <a:solidFill>
                  <a:srgbClr val="333333"/>
                </a:solidFill>
                <a:latin typeface="Calibri"/>
              </a:defRPr>
            </a:pPr>
            <a:r>
              <a:t>On the edge of the line: ~0.5</a:t>
            </a:r>
          </a:p>
          <a:p>
            <a:pPr lvl="1">
              <a:spcAft>
                <a:spcPts val="600"/>
              </a:spcAft>
              <a:defRPr sz="1800" b="0">
                <a:solidFill>
                  <a:srgbClr val="333333"/>
                </a:solidFill>
                <a:latin typeface="Calibri"/>
              </a:defRPr>
            </a:pPr>
            <a:r>
              <a:t>On the black line: ~0.7 to 0.9</a:t>
            </a:r>
          </a:p>
          <a:p>
            <a:pPr>
              <a:spcAft>
                <a:spcPts val="600"/>
              </a:spcAft>
              <a:defRPr sz="1800" b="0">
                <a:solidFill>
                  <a:srgbClr val="000000"/>
                </a:solidFill>
                <a:latin typeface="Calibri"/>
              </a:defRPr>
            </a:pPr>
          </a:p>
          <a:p>
            <a:pPr>
              <a:spcAft>
                <a:spcPts val="600"/>
              </a:spcAft>
              <a:defRPr sz="2000" b="1">
                <a:solidFill>
                  <a:srgbClr val="1B3A5C"/>
                </a:solidFill>
                <a:latin typeface="Calibri"/>
              </a:defRPr>
            </a:pPr>
            <a:r>
              <a:t>The setpoint is the target value we want to maintain.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3931920"/>
            <a:ext cx="5486400" cy="822960"/>
          </a:xfrm>
          <a:prstGeom prst="roundRect">
            <a:avLst/>
          </a:prstGeom>
          <a:solidFill>
            <a:srgbClr val="F0F0F0"/>
          </a:solidFill>
          <a:ln w="12700">
            <a:solidFill>
              <a:srgbClr val="9999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4069080"/>
            <a:ext cx="512064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200"/>
              </a:spcAft>
              <a:defRPr sz="1400">
                <a:solidFill>
                  <a:srgbClr val="333333"/>
                </a:solidFill>
                <a:latin typeface="Courier New"/>
              </a:defRPr>
            </a:pPr>
            <a:r>
              <a:t>setpoint = 0.5   # The edge of the line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493776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900" b="1">
                <a:solidFill>
                  <a:srgbClr val="2E75B6"/>
                </a:solidFill>
                <a:latin typeface="Calibri"/>
              </a:defRPr>
            </a:pPr>
            <a:r>
              <a:t>Goal: Keep the sensor reading at the setpoint by making constant small steering adjustments.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FFFFFF"/>
                </a:solidFill>
                <a:latin typeface="Calibri"/>
              </a:defRPr>
            </a:pPr>
            <a:r>
              <a:t>Calculating Error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80160"/>
            <a:ext cx="10972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1B3A5C"/>
                </a:solidFill>
                <a:latin typeface="Calibri"/>
              </a:defRPr>
            </a:pPr>
            <a:r>
              <a:t>Error = how far we are from where we want to be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828800"/>
            <a:ext cx="6400800" cy="822960"/>
          </a:xfrm>
          <a:prstGeom prst="roundRect">
            <a:avLst/>
          </a:prstGeom>
          <a:solidFill>
            <a:srgbClr val="F0F0F0"/>
          </a:solidFill>
          <a:ln w="12700">
            <a:solidFill>
              <a:srgbClr val="9999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965960"/>
            <a:ext cx="603504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200"/>
              </a:spcAft>
              <a:defRPr sz="1400">
                <a:solidFill>
                  <a:srgbClr val="333333"/>
                </a:solidFill>
                <a:latin typeface="Courier New"/>
              </a:defRPr>
            </a:pPr>
            <a:r>
              <a:t>error = setpoint - sensor_reading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834640"/>
            <a:ext cx="10972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1B3A5C"/>
                </a:solidFill>
                <a:latin typeface="Calibri"/>
              </a:defRPr>
            </a:pPr>
            <a:r>
              <a:t>Examples (setpoint = 0.5):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57200" y="3383280"/>
          <a:ext cx="9966960" cy="15361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26080"/>
                <a:gridCol w="2011680"/>
                <a:gridCol w="1371600"/>
                <a:gridCol w="3657600"/>
              </a:tblGrid>
              <a:tr h="384048"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Where is the robot?</a:t>
                      </a:r>
                    </a:p>
                  </a:txBody>
                  <a:tcPr>
                    <a:solidFill>
                      <a:srgbClr val="2E75B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sensor_reading</a:t>
                      </a:r>
                    </a:p>
                  </a:txBody>
                  <a:tcPr>
                    <a:solidFill>
                      <a:srgbClr val="2E75B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error</a:t>
                      </a:r>
                    </a:p>
                  </a:txBody>
                  <a:tcPr>
                    <a:solidFill>
                      <a:srgbClr val="2E75B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Meaning</a:t>
                      </a:r>
                    </a:p>
                  </a:txBody>
                  <a:tcPr>
                    <a:solidFill>
                      <a:srgbClr val="2E75B6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>
                        <a:defRPr sz="1300">
                          <a:latin typeface="Calibri"/>
                        </a:defRPr>
                      </a:pPr>
                      <a:r>
                        <a:t>On the edge (perfect)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latin typeface="Calibri"/>
                        </a:defRPr>
                      </a:pPr>
                      <a:r>
                        <a:t>0.5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latin typeface="Calibri"/>
                        </a:defRPr>
                      </a:pPr>
                      <a:r>
                        <a:t>0.0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latin typeface="Calibri"/>
                        </a:defRPr>
                      </a:pPr>
                      <a:r>
                        <a:t>No correction needed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pPr algn="ctr">
                        <a:defRPr sz="1300">
                          <a:latin typeface="Calibri"/>
                        </a:defRPr>
                      </a:pPr>
                      <a:r>
                        <a:t>Drifted onto white</a:t>
                      </a:r>
                    </a:p>
                  </a:txBody>
                  <a:tcPr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latin typeface="Calibri"/>
                        </a:defRPr>
                      </a:pPr>
                      <a:r>
                        <a:t>0.2</a:t>
                      </a:r>
                    </a:p>
                  </a:txBody>
                  <a:tcPr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latin typeface="Calibri"/>
                        </a:defRPr>
                      </a:pPr>
                      <a:r>
                        <a:t>+0.3</a:t>
                      </a:r>
                    </a:p>
                  </a:txBody>
                  <a:tcPr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latin typeface="Calibri"/>
                        </a:defRPr>
                      </a:pPr>
                      <a:r>
                        <a:t>Steer toward line</a:t>
                      </a:r>
                    </a:p>
                  </a:txBody>
                  <a:tcPr>
                    <a:solidFill>
                      <a:srgbClr val="E8F0F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>
                        <a:defRPr sz="1300">
                          <a:latin typeface="Calibri"/>
                        </a:defRPr>
                      </a:pPr>
                      <a:r>
                        <a:t>Drifted onto black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latin typeface="Calibri"/>
                        </a:defRPr>
                      </a:pPr>
                      <a:r>
                        <a:t>0.8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latin typeface="Calibri"/>
                        </a:defRPr>
                      </a:pPr>
                      <a:r>
                        <a:t>−0.3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latin typeface="Calibri"/>
                        </a:defRPr>
                      </a:pPr>
                      <a:r>
                        <a:t>Steer away from line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548640" y="5120640"/>
            <a:ext cx="109728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Aft>
                <a:spcPts val="600"/>
              </a:spcAft>
              <a:defRPr sz="1600" b="0">
                <a:solidFill>
                  <a:srgbClr val="333333"/>
                </a:solidFill>
                <a:latin typeface="Calibri"/>
              </a:defRPr>
            </a:pPr>
            <a:r>
              <a:t>Positive error = robot is too far off the line (on white) — steer toward it</a:t>
            </a:r>
          </a:p>
          <a:p>
            <a:pPr>
              <a:spcAft>
                <a:spcPts val="600"/>
              </a:spcAft>
              <a:defRPr sz="1600" b="0">
                <a:solidFill>
                  <a:srgbClr val="333333"/>
                </a:solidFill>
                <a:latin typeface="Calibri"/>
              </a:defRPr>
            </a:pPr>
            <a:r>
              <a:t>Negative error = robot is too far on the line (on black) — steer away</a:t>
            </a:r>
          </a:p>
          <a:p>
            <a:pPr>
              <a:spcAft>
                <a:spcPts val="600"/>
              </a:spcAft>
              <a:defRPr sz="1600" b="1">
                <a:solidFill>
                  <a:srgbClr val="2E75B6"/>
                </a:solidFill>
                <a:latin typeface="Calibri"/>
              </a:defRPr>
            </a:pPr>
            <a:r>
              <a:t>Zero error = perfect position — drive straight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FFFFFF"/>
                </a:solidFill>
                <a:latin typeface="Calibri"/>
              </a:defRPr>
            </a:pPr>
            <a:r>
              <a:t>From Error to Correction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80160"/>
            <a:ext cx="10972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1B3A5C"/>
                </a:solidFill>
                <a:latin typeface="Calibri"/>
              </a:defRPr>
            </a:pPr>
            <a:r>
              <a:t>We multiply error by a gain constant Kp: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828800"/>
            <a:ext cx="5029200" cy="822960"/>
          </a:xfrm>
          <a:prstGeom prst="roundRect">
            <a:avLst/>
          </a:prstGeom>
          <a:solidFill>
            <a:srgbClr val="F0F0F0"/>
          </a:solidFill>
          <a:ln w="12700">
            <a:solidFill>
              <a:srgbClr val="9999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965960"/>
            <a:ext cx="466344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200"/>
              </a:spcAft>
              <a:defRPr sz="1400">
                <a:solidFill>
                  <a:srgbClr val="333333"/>
                </a:solidFill>
                <a:latin typeface="Courier New"/>
              </a:defRPr>
            </a:pPr>
            <a:r>
              <a:t>correction = error * Kp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743200"/>
            <a:ext cx="10972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1B3A5C"/>
                </a:solidFill>
                <a:latin typeface="Calibri"/>
              </a:defRPr>
            </a:pPr>
            <a:r>
              <a:t>Kp controls how aggressively the robot reacts.    Example with Kp = 0.5: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57200" y="3291840"/>
          <a:ext cx="9692640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45920"/>
                <a:gridCol w="3474720"/>
                <a:gridCol w="4572000"/>
              </a:tblGrid>
              <a:tr h="384048"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error</a:t>
                      </a:r>
                    </a:p>
                  </a:txBody>
                  <a:tcPr>
                    <a:solidFill>
                      <a:srgbClr val="2E75B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correction = error × 0.5</a:t>
                      </a:r>
                    </a:p>
                  </a:txBody>
                  <a:tcPr>
                    <a:solidFill>
                      <a:srgbClr val="2E75B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What happens</a:t>
                      </a:r>
                    </a:p>
                  </a:txBody>
                  <a:tcPr>
                    <a:solidFill>
                      <a:srgbClr val="2E75B6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>
                        <a:defRPr sz="1300">
                          <a:latin typeface="Calibri"/>
                        </a:defRPr>
                      </a:pPr>
                      <a:r>
                        <a:t>+0.3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latin typeface="Calibri"/>
                        </a:defRPr>
                      </a:pPr>
                      <a:r>
                        <a:t>+0.15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latin typeface="Calibri"/>
                        </a:defRPr>
                      </a:pPr>
                      <a:r>
                        <a:t>Gentle steer toward line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pPr algn="ctr">
                        <a:defRPr sz="1300">
                          <a:latin typeface="Calibri"/>
                        </a:defRPr>
                      </a:pPr>
                      <a:r>
                        <a:t>−0.3</a:t>
                      </a:r>
                    </a:p>
                  </a:txBody>
                  <a:tcPr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latin typeface="Calibri"/>
                        </a:defRPr>
                      </a:pPr>
                      <a:r>
                        <a:t>−0.15</a:t>
                      </a:r>
                    </a:p>
                  </a:txBody>
                  <a:tcPr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latin typeface="Calibri"/>
                        </a:defRPr>
                      </a:pPr>
                      <a:r>
                        <a:t>Gentle steer away from line</a:t>
                      </a:r>
                    </a:p>
                  </a:txBody>
                  <a:tcPr>
                    <a:solidFill>
                      <a:srgbClr val="E8F0F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>
                        <a:defRPr sz="1300">
                          <a:latin typeface="Calibri"/>
                        </a:defRPr>
                      </a:pPr>
                      <a:r>
                        <a:t>+0.4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latin typeface="Calibri"/>
                        </a:defRPr>
                      </a:pPr>
                      <a:r>
                        <a:t>+0.20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latin typeface="Calibri"/>
                        </a:defRPr>
                      </a:pPr>
                      <a:r>
                        <a:t>Stronger steer toward line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pPr algn="ctr">
                        <a:defRPr sz="1300">
                          <a:latin typeface="Calibri"/>
                        </a:defRPr>
                      </a:pPr>
                      <a:r>
                        <a:t>0.0</a:t>
                      </a:r>
                    </a:p>
                  </a:txBody>
                  <a:tcPr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latin typeface="Calibri"/>
                        </a:defRPr>
                      </a:pPr>
                      <a:r>
                        <a:t>0.0</a:t>
                      </a:r>
                    </a:p>
                  </a:txBody>
                  <a:tcPr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latin typeface="Calibri"/>
                        </a:defRPr>
                      </a:pPr>
                      <a:r>
                        <a:t>Drive straight</a:t>
                      </a:r>
                    </a:p>
                  </a:txBody>
                  <a:tcPr>
                    <a:solidFill>
                      <a:srgbClr val="E8F0F8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548640" y="5303520"/>
            <a:ext cx="10972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1B3A5C"/>
                </a:solidFill>
                <a:latin typeface="Calibri"/>
              </a:defRPr>
            </a:pPr>
            <a:r>
              <a:t>Then apply correction to motors: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5852160"/>
            <a:ext cx="6858000" cy="914400"/>
          </a:xfrm>
          <a:prstGeom prst="roundRect">
            <a:avLst/>
          </a:prstGeom>
          <a:solidFill>
            <a:srgbClr val="F0F0F0"/>
          </a:solidFill>
          <a:ln w="12700">
            <a:solidFill>
              <a:srgbClr val="9999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5989320"/>
            <a:ext cx="649224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200"/>
              </a:spcAft>
              <a:defRPr sz="1400">
                <a:solidFill>
                  <a:srgbClr val="333333"/>
                </a:solidFill>
                <a:latin typeface="Courier New"/>
              </a:defRPr>
            </a:pPr>
            <a:r>
              <a:t>left_effort  = base_effort + correction</a:t>
            </a:r>
          </a:p>
          <a:p>
            <a:pPr>
              <a:spcAft>
                <a:spcPts val="200"/>
              </a:spcAft>
              <a:defRPr sz="1400">
                <a:solidFill>
                  <a:srgbClr val="333333"/>
                </a:solidFill>
                <a:latin typeface="Courier New"/>
              </a:defRPr>
            </a:pPr>
            <a:r>
              <a:t>right_effort = base_effort - correction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FFFFFF"/>
                </a:solidFill>
                <a:latin typeface="Calibri"/>
              </a:defRPr>
            </a:pPr>
            <a:r>
              <a:t>The Complete Control Loop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280160"/>
            <a:ext cx="6858000" cy="5303520"/>
          </a:xfrm>
          <a:prstGeom prst="roundRect">
            <a:avLst/>
          </a:prstGeom>
          <a:solidFill>
            <a:srgbClr val="F0F0F0"/>
          </a:solidFill>
          <a:ln w="12700">
            <a:solidFill>
              <a:srgbClr val="9999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417320"/>
            <a:ext cx="6492240" cy="5029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2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r>
              <a:t>setpoint = 0.5</a:t>
            </a:r>
          </a:p>
          <a:p>
            <a:pPr>
              <a:spcAft>
                <a:spcPts val="2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r>
              <a:t>Kp = 0.5</a:t>
            </a:r>
          </a:p>
          <a:p>
            <a:pPr>
              <a:spcAft>
                <a:spcPts val="2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r>
              <a:t>base_effort = 0.3</a:t>
            </a:r>
          </a:p>
          <a:p>
            <a:pPr>
              <a:spcAft>
                <a:spcPts val="200"/>
              </a:spcAft>
              <a:defRPr sz="1300">
                <a:solidFill>
                  <a:srgbClr val="333333"/>
                </a:solidFill>
                <a:latin typeface="Courier New"/>
              </a:defRPr>
            </a:pPr>
          </a:p>
          <a:p>
            <a:pPr>
              <a:spcAft>
                <a:spcPts val="2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r>
              <a:t>while True:</a:t>
            </a:r>
          </a:p>
          <a:p>
            <a:pPr>
              <a:spcAft>
                <a:spcPts val="2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r>
              <a:t>    # 1. Read sensor</a:t>
            </a:r>
          </a:p>
          <a:p>
            <a:pPr>
              <a:spcAft>
                <a:spcPts val="2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r>
              <a:t>    sensor_value = reflectance.get_left()</a:t>
            </a:r>
          </a:p>
          <a:p>
            <a:pPr>
              <a:spcAft>
                <a:spcPts val="200"/>
              </a:spcAft>
              <a:defRPr sz="1300">
                <a:solidFill>
                  <a:srgbClr val="333333"/>
                </a:solidFill>
                <a:latin typeface="Courier New"/>
              </a:defRPr>
            </a:pPr>
          </a:p>
          <a:p>
            <a:pPr>
              <a:spcAft>
                <a:spcPts val="2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r>
              <a:t>    # 2. Calculate error</a:t>
            </a:r>
          </a:p>
          <a:p>
            <a:pPr>
              <a:spcAft>
                <a:spcPts val="2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r>
              <a:t>    error = setpoint - sensor_value</a:t>
            </a:r>
          </a:p>
          <a:p>
            <a:pPr>
              <a:spcAft>
                <a:spcPts val="200"/>
              </a:spcAft>
              <a:defRPr sz="1300">
                <a:solidFill>
                  <a:srgbClr val="333333"/>
                </a:solidFill>
                <a:latin typeface="Courier New"/>
              </a:defRPr>
            </a:pPr>
          </a:p>
          <a:p>
            <a:pPr>
              <a:spcAft>
                <a:spcPts val="2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r>
              <a:t>    # 3. Calculate correction</a:t>
            </a:r>
          </a:p>
          <a:p>
            <a:pPr>
              <a:spcAft>
                <a:spcPts val="2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r>
              <a:t>    correction = error * Kp</a:t>
            </a:r>
          </a:p>
          <a:p>
            <a:pPr>
              <a:spcAft>
                <a:spcPts val="200"/>
              </a:spcAft>
              <a:defRPr sz="1300">
                <a:solidFill>
                  <a:srgbClr val="333333"/>
                </a:solidFill>
                <a:latin typeface="Courier New"/>
              </a:defRPr>
            </a:pPr>
          </a:p>
          <a:p>
            <a:pPr>
              <a:spcAft>
                <a:spcPts val="2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r>
              <a:t>    # 4. Apply to motors</a:t>
            </a:r>
          </a:p>
          <a:p>
            <a:pPr>
              <a:spcAft>
                <a:spcPts val="2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r>
              <a:t>    left_effort = base_effort + correction</a:t>
            </a:r>
          </a:p>
          <a:p>
            <a:pPr>
              <a:spcAft>
                <a:spcPts val="2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r>
              <a:t>    right_effort = base_effort - correction</a:t>
            </a:r>
          </a:p>
          <a:p>
            <a:pPr>
              <a:spcAft>
                <a:spcPts val="2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r>
              <a:t>    drivetrain.set_effort(left_effort, right_effort)</a:t>
            </a:r>
          </a:p>
          <a:p>
            <a:pPr>
              <a:spcAft>
                <a:spcPts val="200"/>
              </a:spcAft>
              <a:defRPr sz="1300">
                <a:solidFill>
                  <a:srgbClr val="333333"/>
                </a:solidFill>
                <a:latin typeface="Courier New"/>
              </a:defRPr>
            </a:pPr>
          </a:p>
          <a:p>
            <a:pPr>
              <a:spcAft>
                <a:spcPts val="2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r>
              <a:t>    time.sleep(0.01)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589520" y="1280160"/>
            <a:ext cx="438912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Aft>
                <a:spcPts val="600"/>
              </a:spcAft>
              <a:defRPr sz="2000" b="1">
                <a:solidFill>
                  <a:srgbClr val="1B3A5C"/>
                </a:solidFill>
                <a:latin typeface="Calibri"/>
              </a:defRPr>
            </a:pPr>
            <a:r>
              <a:t>The loop:</a:t>
            </a:r>
          </a:p>
          <a:p>
            <a:pPr>
              <a:spcAft>
                <a:spcPts val="600"/>
              </a:spcAft>
              <a:defRPr sz="1800" b="0">
                <a:solidFill>
                  <a:srgbClr val="333333"/>
                </a:solidFill>
                <a:latin typeface="Calibri"/>
              </a:defRPr>
            </a:pPr>
            <a:r>
              <a:t>Read Sensor</a:t>
            </a:r>
          </a:p>
          <a:p>
            <a:pPr>
              <a:spcAft>
                <a:spcPts val="600"/>
              </a:spcAft>
              <a:defRPr sz="1800" b="0">
                <a:solidFill>
                  <a:srgbClr val="999999"/>
                </a:solidFill>
                <a:latin typeface="Calibri"/>
              </a:defRPr>
            </a:pPr>
            <a:r>
              <a:t>↓</a:t>
            </a:r>
          </a:p>
          <a:p>
            <a:pPr>
              <a:spcAft>
                <a:spcPts val="600"/>
              </a:spcAft>
              <a:defRPr sz="1800" b="0">
                <a:solidFill>
                  <a:srgbClr val="333333"/>
                </a:solidFill>
                <a:latin typeface="Calibri"/>
              </a:defRPr>
            </a:pPr>
            <a:r>
              <a:t>Calculate Error</a:t>
            </a:r>
          </a:p>
          <a:p>
            <a:pPr>
              <a:spcAft>
                <a:spcPts val="600"/>
              </a:spcAft>
              <a:defRPr sz="1800" b="0">
                <a:solidFill>
                  <a:srgbClr val="999999"/>
                </a:solidFill>
                <a:latin typeface="Calibri"/>
              </a:defRPr>
            </a:pPr>
            <a:r>
              <a:t>↓</a:t>
            </a:r>
          </a:p>
          <a:p>
            <a:pPr>
              <a:spcAft>
                <a:spcPts val="600"/>
              </a:spcAft>
              <a:defRPr sz="1800" b="0">
                <a:solidFill>
                  <a:srgbClr val="333333"/>
                </a:solidFill>
                <a:latin typeface="Calibri"/>
              </a:defRPr>
            </a:pPr>
            <a:r>
              <a:t>Calculate Correction</a:t>
            </a:r>
          </a:p>
          <a:p>
            <a:pPr>
              <a:spcAft>
                <a:spcPts val="600"/>
              </a:spcAft>
              <a:defRPr sz="1800" b="0">
                <a:solidFill>
                  <a:srgbClr val="999999"/>
                </a:solidFill>
                <a:latin typeface="Calibri"/>
              </a:defRPr>
            </a:pPr>
            <a:r>
              <a:t>↓</a:t>
            </a:r>
          </a:p>
          <a:p>
            <a:pPr>
              <a:spcAft>
                <a:spcPts val="600"/>
              </a:spcAft>
              <a:defRPr sz="1800" b="0">
                <a:solidFill>
                  <a:srgbClr val="333333"/>
                </a:solidFill>
                <a:latin typeface="Calibri"/>
              </a:defRPr>
            </a:pPr>
            <a:r>
              <a:t>Set Motors</a:t>
            </a:r>
          </a:p>
          <a:p>
            <a:pPr>
              <a:spcAft>
                <a:spcPts val="600"/>
              </a:spcAft>
              <a:defRPr sz="1800" b="0">
                <a:solidFill>
                  <a:srgbClr val="999999"/>
                </a:solidFill>
                <a:latin typeface="Calibri"/>
              </a:defRPr>
            </a:pPr>
            <a:r>
              <a:t>↓ (back to top)</a:t>
            </a:r>
          </a:p>
          <a:p>
            <a:pPr>
              <a:spcAft>
                <a:spcPts val="600"/>
              </a:spcAft>
              <a:defRPr sz="1800" b="0">
                <a:solidFill>
                  <a:srgbClr val="000000"/>
                </a:solidFill>
                <a:latin typeface="Calibri"/>
              </a:defRPr>
            </a:pPr>
          </a:p>
          <a:p>
            <a:pPr>
              <a:spcAft>
                <a:spcPts val="600"/>
              </a:spcAft>
              <a:defRPr sz="1700" b="1">
                <a:solidFill>
                  <a:srgbClr val="2E75B6"/>
                </a:solidFill>
                <a:latin typeface="Calibri"/>
              </a:defRPr>
            </a:pPr>
            <a:r>
              <a:t>Runs hundreds of times per second!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FFFFFF"/>
                </a:solidFill>
                <a:latin typeface="Calibri"/>
              </a:defRPr>
            </a:pPr>
            <a:r>
              <a:t>Tracing Through the Math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18872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1B3A5C"/>
                </a:solidFill>
                <a:latin typeface="Calibri"/>
              </a:defRPr>
            </a:pPr>
            <a:r>
              <a:t>Scenario: Robot drifts onto white  (sensor reads 0.2)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737360"/>
            <a:ext cx="5943600" cy="3200400"/>
          </a:xfrm>
          <a:prstGeom prst="roundRect">
            <a:avLst/>
          </a:prstGeom>
          <a:solidFill>
            <a:srgbClr val="F0F0F0"/>
          </a:solidFill>
          <a:ln w="12700">
            <a:solidFill>
              <a:srgbClr val="9999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874520"/>
            <a:ext cx="5577840" cy="2926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200"/>
              </a:spcAft>
              <a:defRPr sz="1400">
                <a:solidFill>
                  <a:srgbClr val="333333"/>
                </a:solidFill>
                <a:latin typeface="Courier New"/>
              </a:defRPr>
            </a:pPr>
            <a:r>
              <a:t>setpoint      = 0.5</a:t>
            </a:r>
          </a:p>
          <a:p>
            <a:pPr>
              <a:spcAft>
                <a:spcPts val="200"/>
              </a:spcAft>
              <a:defRPr sz="1400">
                <a:solidFill>
                  <a:srgbClr val="333333"/>
                </a:solidFill>
                <a:latin typeface="Courier New"/>
              </a:defRPr>
            </a:pPr>
            <a:r>
              <a:t>sensor_value  = 0.2</a:t>
            </a:r>
          </a:p>
          <a:p>
            <a:pPr>
              <a:spcAft>
                <a:spcPts val="200"/>
              </a:spcAft>
              <a:defRPr sz="1400">
                <a:solidFill>
                  <a:srgbClr val="333333"/>
                </a:solidFill>
                <a:latin typeface="Courier New"/>
              </a:defRPr>
            </a:pPr>
            <a:r>
              <a:t>error         = 0.5 - 0.2 = 0.3</a:t>
            </a:r>
          </a:p>
          <a:p>
            <a:pPr>
              <a:spcAft>
                <a:spcPts val="200"/>
              </a:spcAft>
              <a:defRPr sz="1400">
                <a:solidFill>
                  <a:srgbClr val="333333"/>
                </a:solidFill>
                <a:latin typeface="Courier New"/>
              </a:defRPr>
            </a:pPr>
            <a:r>
              <a:t>Kp            = 0.5</a:t>
            </a:r>
          </a:p>
          <a:p>
            <a:pPr>
              <a:spcAft>
                <a:spcPts val="200"/>
              </a:spcAft>
              <a:defRPr sz="1400">
                <a:solidFill>
                  <a:srgbClr val="333333"/>
                </a:solidFill>
                <a:latin typeface="Courier New"/>
              </a:defRPr>
            </a:pPr>
            <a:r>
              <a:t>correction    = 0.3 * 0.5 = 0.15</a:t>
            </a:r>
          </a:p>
          <a:p>
            <a:pPr>
              <a:spcAft>
                <a:spcPts val="200"/>
              </a:spcAft>
              <a:defRPr sz="1400">
                <a:solidFill>
                  <a:srgbClr val="333333"/>
                </a:solidFill>
                <a:latin typeface="Courier New"/>
              </a:defRPr>
            </a:pPr>
            <a:r>
              <a:t>base_effort   = 0.3</a:t>
            </a:r>
          </a:p>
          <a:p>
            <a:pPr>
              <a:spcAft>
                <a:spcPts val="200"/>
              </a:spcAft>
              <a:defRPr sz="1400">
                <a:solidFill>
                  <a:srgbClr val="333333"/>
                </a:solidFill>
                <a:latin typeface="Courier New"/>
              </a:defRPr>
            </a:pPr>
          </a:p>
          <a:p>
            <a:pPr>
              <a:spcAft>
                <a:spcPts val="200"/>
              </a:spcAft>
              <a:defRPr sz="1400">
                <a:solidFill>
                  <a:srgbClr val="333333"/>
                </a:solidFill>
                <a:latin typeface="Courier New"/>
              </a:defRPr>
            </a:pPr>
            <a:r>
              <a:t>left_effort   = 0.3 + 0.15 = 0.45</a:t>
            </a:r>
          </a:p>
          <a:p>
            <a:pPr>
              <a:spcAft>
                <a:spcPts val="200"/>
              </a:spcAft>
              <a:defRPr sz="1400">
                <a:solidFill>
                  <a:srgbClr val="333333"/>
                </a:solidFill>
                <a:latin typeface="Courier New"/>
              </a:defRPr>
            </a:pPr>
            <a:r>
              <a:t>right_effort  = 0.3 - 0.15 = 0.15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675120" y="1737360"/>
            <a:ext cx="50292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>
                <a:solidFill>
                  <a:srgbClr val="333333"/>
                </a:solidFill>
                <a:latin typeface="Calibri"/>
              </a:defRPr>
            </a:pPr>
            <a:r>
              <a:t>Result: Left motor (0.45) faster than right (0.15) → robot steers right, back toward the line.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512064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1B3A5C"/>
                </a:solidFill>
                <a:latin typeface="Calibri"/>
              </a:defRPr>
            </a:pPr>
            <a:r>
              <a:t>Scenario: Robot drifts onto black  (sensor reads 0.8)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5669280"/>
            <a:ext cx="5943600" cy="2011680"/>
          </a:xfrm>
          <a:prstGeom prst="roundRect">
            <a:avLst/>
          </a:prstGeom>
          <a:solidFill>
            <a:srgbClr val="F0F0F0"/>
          </a:solidFill>
          <a:ln w="12700">
            <a:solidFill>
              <a:srgbClr val="9999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5806440"/>
            <a:ext cx="5577840" cy="1737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200"/>
              </a:spcAft>
              <a:defRPr sz="1400">
                <a:solidFill>
                  <a:srgbClr val="333333"/>
                </a:solidFill>
                <a:latin typeface="Courier New"/>
              </a:defRPr>
            </a:pPr>
            <a:r>
              <a:t>error         = 0.5 - 0.8 = -0.3</a:t>
            </a:r>
          </a:p>
          <a:p>
            <a:pPr>
              <a:spcAft>
                <a:spcPts val="200"/>
              </a:spcAft>
              <a:defRPr sz="1400">
                <a:solidFill>
                  <a:srgbClr val="333333"/>
                </a:solidFill>
                <a:latin typeface="Courier New"/>
              </a:defRPr>
            </a:pPr>
            <a:r>
              <a:t>correction    = -0.3 * 0.5 = -0.15</a:t>
            </a:r>
          </a:p>
          <a:p>
            <a:pPr>
              <a:spcAft>
                <a:spcPts val="200"/>
              </a:spcAft>
              <a:defRPr sz="1400">
                <a:solidFill>
                  <a:srgbClr val="333333"/>
                </a:solidFill>
                <a:latin typeface="Courier New"/>
              </a:defRPr>
            </a:pPr>
          </a:p>
          <a:p>
            <a:pPr>
              <a:spcAft>
                <a:spcPts val="200"/>
              </a:spcAft>
              <a:defRPr sz="1400">
                <a:solidFill>
                  <a:srgbClr val="333333"/>
                </a:solidFill>
                <a:latin typeface="Courier New"/>
              </a:defRPr>
            </a:pPr>
            <a:r>
              <a:t>left_effort   = 0.3 + (-0.15) = 0.15</a:t>
            </a:r>
          </a:p>
          <a:p>
            <a:pPr>
              <a:spcAft>
                <a:spcPts val="200"/>
              </a:spcAft>
              <a:defRPr sz="1400">
                <a:solidFill>
                  <a:srgbClr val="333333"/>
                </a:solidFill>
                <a:latin typeface="Courier New"/>
              </a:defRPr>
            </a:pPr>
            <a:r>
              <a:t>right_effort  = 0.3 - (-0.15) = 0.45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75120" y="5669280"/>
            <a:ext cx="50292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>
                <a:solidFill>
                  <a:srgbClr val="333333"/>
                </a:solidFill>
                <a:latin typeface="Calibri"/>
              </a:defRPr>
            </a:pPr>
            <a:r>
              <a:t>Result: Right motor (0.45) faster → robot steers left, away from the line.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FFFFFF"/>
                </a:solidFill>
                <a:latin typeface="Calibri"/>
              </a:defRPr>
            </a:pPr>
            <a:r>
              <a:t>What Does Kp Do?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371600"/>
          <a:ext cx="10058400" cy="201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00400"/>
                <a:gridCol w="6858000"/>
              </a:tblGrid>
              <a:tr h="502920"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Kp Value</a:t>
                      </a:r>
                    </a:p>
                  </a:txBody>
                  <a:tcPr>
                    <a:solidFill>
                      <a:srgbClr val="2E75B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Behavior</a:t>
                      </a:r>
                    </a:p>
                  </a:txBody>
                  <a:tcPr>
                    <a:solidFill>
                      <a:srgbClr val="2E75B6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>
                        <a:defRPr sz="1300">
                          <a:latin typeface="Calibri"/>
                        </a:defRPr>
                      </a:pPr>
                      <a:r>
                        <a:t>Too low (e.g., 0.1)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latin typeface="Calibri"/>
                        </a:defRPr>
                      </a:pPr>
                      <a:r>
                        <a:t>Robot reacts too slowly, drifts off the line</a:t>
                      </a:r>
                    </a:p>
                  </a:txBody>
                  <a:tcPr/>
                </a:tc>
              </a:tr>
              <a:tr h="502920">
                <a:tc>
                  <a:txBody>
                    <a:bodyPr/>
                    <a:lstStyle/>
                    <a:p>
                      <a:pPr algn="ctr">
                        <a:defRPr sz="1300">
                          <a:latin typeface="Calibri"/>
                        </a:defRPr>
                      </a:pPr>
                      <a:r>
                        <a:t>Just right (e.g., 0.5)</a:t>
                      </a:r>
                    </a:p>
                  </a:txBody>
                  <a:tcPr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latin typeface="Calibri"/>
                        </a:defRPr>
                      </a:pPr>
                      <a:r>
                        <a:t>Robot follows smoothly with small adjustments</a:t>
                      </a:r>
                    </a:p>
                  </a:txBody>
                  <a:tcPr>
                    <a:solidFill>
                      <a:srgbClr val="E8F0F8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>
                        <a:defRPr sz="1300">
                          <a:latin typeface="Calibri"/>
                        </a:defRPr>
                      </a:pPr>
                      <a:r>
                        <a:t>Too high (e.g., 2.0)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latin typeface="Calibri"/>
                        </a:defRPr>
                      </a:pPr>
                      <a:r>
                        <a:t>Robot overcorrects, oscillates wildly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48640" y="3657600"/>
            <a:ext cx="109728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Aft>
                <a:spcPts val="600"/>
              </a:spcAft>
              <a:defRPr sz="2000" b="1">
                <a:solidFill>
                  <a:srgbClr val="1B3A5C"/>
                </a:solidFill>
                <a:latin typeface="Calibri"/>
              </a:defRPr>
            </a:pPr>
            <a:r>
              <a:t>Tuning Kp is about finding the sweet spot:</a:t>
            </a:r>
          </a:p>
          <a:p>
            <a:pPr>
              <a:spcAft>
                <a:spcPts val="600"/>
              </a:spcAft>
              <a:defRPr sz="1800" b="0">
                <a:solidFill>
                  <a:srgbClr val="333333"/>
                </a:solidFill>
                <a:latin typeface="Calibri"/>
              </a:defRPr>
            </a:pPr>
            <a:r>
              <a:t>Start at 0.5</a:t>
            </a:r>
          </a:p>
          <a:p>
            <a:pPr>
              <a:spcAft>
                <a:spcPts val="600"/>
              </a:spcAft>
              <a:defRPr sz="1800" b="0">
                <a:solidFill>
                  <a:srgbClr val="333333"/>
                </a:solidFill>
                <a:latin typeface="Calibri"/>
              </a:defRPr>
            </a:pPr>
            <a:r>
              <a:t>If too wiggly, lower it</a:t>
            </a:r>
          </a:p>
          <a:p>
            <a:pPr>
              <a:spcAft>
                <a:spcPts val="600"/>
              </a:spcAft>
              <a:defRPr sz="1800" b="0">
                <a:solidFill>
                  <a:srgbClr val="333333"/>
                </a:solidFill>
                <a:latin typeface="Calibri"/>
              </a:defRPr>
            </a:pPr>
            <a:r>
              <a:t>If too sluggish, raise it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FFFFFF"/>
                </a:solidFill>
                <a:latin typeface="Calibri"/>
              </a:defRPr>
            </a:pPr>
            <a:r>
              <a:t>Exercise — Follow the Circle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80160"/>
            <a:ext cx="475488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Aft>
                <a:spcPts val="600"/>
              </a:spcAft>
              <a:defRPr sz="2000" b="1">
                <a:solidFill>
                  <a:srgbClr val="1B3A5C"/>
                </a:solidFill>
                <a:latin typeface="Calibri"/>
              </a:defRPr>
            </a:pPr>
            <a:r>
              <a:t>Your task:</a:t>
            </a:r>
          </a:p>
          <a:p>
            <a:pPr>
              <a:spcAft>
                <a:spcPts val="600"/>
              </a:spcAft>
              <a:defRPr sz="1700" b="0">
                <a:solidFill>
                  <a:srgbClr val="333333"/>
                </a:solidFill>
                <a:latin typeface="Calibri"/>
              </a:defRPr>
            </a:pPr>
            <a:r>
              <a:t>1. Type in the complete program</a:t>
            </a:r>
          </a:p>
          <a:p>
            <a:pPr>
              <a:spcAft>
                <a:spcPts val="600"/>
              </a:spcAft>
              <a:defRPr sz="1700" b="0">
                <a:solidFill>
                  <a:srgbClr val="333333"/>
                </a:solidFill>
                <a:latin typeface="Calibri"/>
              </a:defRPr>
            </a:pPr>
            <a:r>
              <a:t>2. Place the robot on the edge of the taped circle</a:t>
            </a:r>
          </a:p>
          <a:p>
            <a:pPr>
              <a:spcAft>
                <a:spcPts val="600"/>
              </a:spcAft>
              <a:defRPr sz="1700" b="0">
                <a:solidFill>
                  <a:srgbClr val="333333"/>
                </a:solidFill>
                <a:latin typeface="Calibri"/>
              </a:defRPr>
            </a:pPr>
            <a:r>
              <a:t>3. Press the button and observe</a:t>
            </a:r>
          </a:p>
          <a:p>
            <a:pPr>
              <a:spcAft>
                <a:spcPts val="600"/>
              </a:spcAft>
              <a:defRPr sz="1700" b="0">
                <a:solidFill>
                  <a:srgbClr val="333333"/>
                </a:solidFill>
                <a:latin typeface="Calibri"/>
              </a:defRPr>
            </a:pPr>
            <a:r>
              <a:t>4. Tune Kp and base_effort for smooth tracking</a:t>
            </a:r>
          </a:p>
          <a:p>
            <a:pPr>
              <a:spcAft>
                <a:spcPts val="600"/>
              </a:spcAft>
              <a:defRPr sz="1800" b="0">
                <a:solidFill>
                  <a:srgbClr val="000000"/>
                </a:solidFill>
                <a:latin typeface="Calibri"/>
              </a:defRPr>
            </a:pPr>
          </a:p>
          <a:p>
            <a:pPr>
              <a:spcAft>
                <a:spcPts val="600"/>
              </a:spcAft>
              <a:defRPr sz="2000" b="1">
                <a:solidFill>
                  <a:srgbClr val="2E75B6"/>
                </a:solidFill>
                <a:latin typeface="Calibri"/>
              </a:defRPr>
            </a:pPr>
            <a:r>
              <a:t>Success:</a:t>
            </a:r>
          </a:p>
          <a:p>
            <a:pPr>
              <a:spcAft>
                <a:spcPts val="600"/>
              </a:spcAft>
              <a:defRPr sz="1700" b="0">
                <a:solidFill>
                  <a:srgbClr val="333333"/>
                </a:solidFill>
                <a:latin typeface="Calibri"/>
              </a:defRPr>
            </a:pPr>
            <a:r>
              <a:t>Robot completes one full lap of the circle.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0" y="1280160"/>
            <a:ext cx="6400800" cy="5303520"/>
          </a:xfrm>
          <a:prstGeom prst="roundRect">
            <a:avLst/>
          </a:prstGeom>
          <a:solidFill>
            <a:srgbClr val="F0F0F0"/>
          </a:solidFill>
          <a:ln w="12700">
            <a:solidFill>
              <a:srgbClr val="9999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0" y="1417320"/>
            <a:ext cx="6035040" cy="5029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Courier New"/>
              </a:defRPr>
            </a:pPr>
            <a:r>
              <a:t>from XRPLib.differential_drive import DifferentialDrive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Courier New"/>
              </a:defRPr>
            </a:pPr>
            <a:r>
              <a:t>from XRPLib.reflectance import Reflectance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Courier New"/>
              </a:defRPr>
            </a:pPr>
            <a:r>
              <a:t>from XRPLib.board import Board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Courier New"/>
              </a:defRPr>
            </a:pPr>
            <a:r>
              <a:t>import time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Courier New"/>
              </a:defRPr>
            </a:pP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Courier New"/>
              </a:defRPr>
            </a:pPr>
            <a:r>
              <a:t>drivetrain  = DifferentialDrive.get_default_differential_drive()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Courier New"/>
              </a:defRPr>
            </a:pPr>
            <a:r>
              <a:t>reflectance = Reflectance.get_default_reflectance()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Courier New"/>
              </a:defRPr>
            </a:pPr>
            <a:r>
              <a:t>board       = Board.get_default_board()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Courier New"/>
              </a:defRPr>
            </a:pP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Courier New"/>
              </a:defRPr>
            </a:pPr>
            <a:r>
              <a:t>setpoint    = 0.5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Courier New"/>
              </a:defRPr>
            </a:pPr>
            <a:r>
              <a:t>Kp          = 0.5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Courier New"/>
              </a:defRPr>
            </a:pPr>
            <a:r>
              <a:t>base_effort = 0.3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Courier New"/>
              </a:defRPr>
            </a:pP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Courier New"/>
              </a:defRPr>
            </a:pPr>
            <a:r>
              <a:t>board.wait_for_button()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Courier New"/>
              </a:defRPr>
            </a:pP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Courier New"/>
              </a:defRPr>
            </a:pPr>
            <a:r>
              <a:t>while True: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Courier New"/>
              </a:defRPr>
            </a:pPr>
            <a:r>
              <a:t>    sensor_value = reflectance.get_left()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Courier New"/>
              </a:defRPr>
            </a:pPr>
            <a:r>
              <a:t>    error        = setpoint - sensor_value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Courier New"/>
              </a:defRPr>
            </a:pPr>
            <a:r>
              <a:t>    correction   = error * Kp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Courier New"/>
              </a:defRPr>
            </a:pPr>
            <a:r>
              <a:t>    drivetrain.set_effort(base_effort + correction,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Courier New"/>
              </a:defRPr>
            </a:pPr>
            <a:r>
              <a:t>                          base_effort - correction)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Courier New"/>
              </a:defRPr>
            </a:pPr>
            <a:r>
              <a:t>    time.sleep(0.01)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FFFFFF"/>
                </a:solidFill>
                <a:latin typeface="Calibri"/>
              </a:defRPr>
            </a:pPr>
            <a:r>
              <a:t>Connection to Lesson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Aft>
                <a:spcPts val="600"/>
              </a:spcAft>
              <a:defRPr sz="2200" b="1">
                <a:solidFill>
                  <a:srgbClr val="1B3A5C"/>
                </a:solidFill>
                <a:latin typeface="Calibri"/>
              </a:defRPr>
            </a:pPr>
            <a:r>
              <a:t>What we accomplished today:</a:t>
            </a:r>
          </a:p>
          <a:p>
            <a:pPr>
              <a:spcAft>
                <a:spcPts val="600"/>
              </a:spcAft>
              <a:defRPr sz="1800" b="0">
                <a:solidFill>
                  <a:srgbClr val="333333"/>
                </a:solidFill>
                <a:latin typeface="Calibri"/>
              </a:defRPr>
            </a:pPr>
            <a:r>
              <a:t>Smooth line following with ONE sensor using proportional control</a:t>
            </a:r>
          </a:p>
          <a:p>
            <a:pPr>
              <a:spcAft>
                <a:spcPts val="600"/>
              </a:spcAft>
              <a:defRPr sz="1800" b="0">
                <a:solidFill>
                  <a:srgbClr val="333333"/>
                </a:solidFill>
                <a:latin typeface="Calibri"/>
              </a:defRPr>
            </a:pPr>
            <a:r>
              <a:t>Understood setpoint, error, Kp, and correction</a:t>
            </a:r>
          </a:p>
          <a:p>
            <a:pPr>
              <a:spcAft>
                <a:spcPts val="600"/>
              </a:spcAft>
              <a:defRPr sz="1800" b="0">
                <a:solidFill>
                  <a:srgbClr val="000000"/>
                </a:solidFill>
                <a:latin typeface="Calibri"/>
              </a:defRPr>
            </a:pPr>
          </a:p>
          <a:p>
            <a:pPr>
              <a:spcAft>
                <a:spcPts val="600"/>
              </a:spcAft>
              <a:defRPr sz="2200" b="1">
                <a:solidFill>
                  <a:srgbClr val="1B3A5C"/>
                </a:solidFill>
                <a:latin typeface="Calibri"/>
              </a:defRPr>
            </a:pPr>
            <a:r>
              <a:t>Limitation of one sensor:</a:t>
            </a:r>
          </a:p>
          <a:p>
            <a:pPr>
              <a:spcAft>
                <a:spcPts val="600"/>
              </a:spcAft>
              <a:defRPr sz="1800" b="0">
                <a:solidFill>
                  <a:srgbClr val="333333"/>
                </a:solidFill>
                <a:latin typeface="Calibri"/>
              </a:defRPr>
            </a:pPr>
            <a:r>
              <a:t>Only tracks one edge of the line</a:t>
            </a:r>
          </a:p>
          <a:p>
            <a:pPr>
              <a:spcAft>
                <a:spcPts val="600"/>
              </a:spcAft>
              <a:defRPr sz="1800" b="0">
                <a:solidFill>
                  <a:srgbClr val="333333"/>
                </a:solidFill>
                <a:latin typeface="Calibri"/>
              </a:defRPr>
            </a:pPr>
            <a:r>
              <a:t>If the robot drifts too far off, it cannot tell which side it is on</a:t>
            </a:r>
          </a:p>
          <a:p>
            <a:pPr>
              <a:spcAft>
                <a:spcPts val="600"/>
              </a:spcAft>
              <a:defRPr sz="1800" b="0">
                <a:solidFill>
                  <a:srgbClr val="000000"/>
                </a:solidFill>
                <a:latin typeface="Calibri"/>
              </a:defRPr>
            </a:pPr>
          </a:p>
          <a:p>
            <a:pPr>
              <a:spcAft>
                <a:spcPts val="600"/>
              </a:spcAft>
              <a:defRPr sz="2200" b="1">
                <a:solidFill>
                  <a:srgbClr val="1B3A5C"/>
                </a:solidFill>
                <a:latin typeface="Calibri"/>
              </a:defRPr>
            </a:pPr>
            <a:r>
              <a:t>Next lesson: Two-Sensor Line Following</a:t>
            </a:r>
          </a:p>
          <a:p>
            <a:pPr>
              <a:spcAft>
                <a:spcPts val="600"/>
              </a:spcAft>
              <a:defRPr sz="1800" b="0">
                <a:solidFill>
                  <a:srgbClr val="333333"/>
                </a:solidFill>
                <a:latin typeface="Calibri"/>
              </a:defRPr>
            </a:pPr>
            <a:r>
              <a:t>Use BOTH left and right sensors</a:t>
            </a:r>
          </a:p>
          <a:p>
            <a:pPr>
              <a:spcAft>
                <a:spcPts val="600"/>
              </a:spcAft>
              <a:defRPr sz="1800" b="0">
                <a:solidFill>
                  <a:srgbClr val="333333"/>
                </a:solidFill>
                <a:latin typeface="Calibri"/>
              </a:defRPr>
            </a:pPr>
            <a:r>
              <a:t>Error = left sensor − right sensor</a:t>
            </a:r>
          </a:p>
          <a:p>
            <a:pPr>
              <a:spcAft>
                <a:spcPts val="600"/>
              </a:spcAft>
              <a:defRPr sz="1800" b="0">
                <a:solidFill>
                  <a:srgbClr val="333333"/>
                </a:solidFill>
                <a:latin typeface="Calibri"/>
              </a:defRPr>
            </a:pPr>
            <a:r>
              <a:t>Even smoother tracking, follows the CENTER of the line</a:t>
            </a:r>
          </a:p>
          <a:p>
            <a:pPr>
              <a:spcAft>
                <a:spcPts val="600"/>
              </a:spcAft>
              <a:defRPr sz="1800" b="0">
                <a:solidFill>
                  <a:srgbClr val="000000"/>
                </a:solidFill>
                <a:latin typeface="Calibri"/>
              </a:defRPr>
            </a:pPr>
          </a:p>
          <a:p>
            <a:pPr>
              <a:spcAft>
                <a:spcPts val="600"/>
              </a:spcAft>
              <a:defRPr sz="1900" b="1">
                <a:solidFill>
                  <a:srgbClr val="2E75B6"/>
                </a:solidFill>
                <a:latin typeface="Calibri"/>
              </a:defRPr>
            </a:pPr>
            <a:r>
              <a:t>Question: "Why might two sensors be better than one?"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5943600"/>
            <a:ext cx="7772400" cy="731520"/>
          </a:xfrm>
          <a:prstGeom prst="roundRect">
            <a:avLst/>
          </a:prstGeom>
          <a:solidFill>
            <a:srgbClr val="F0F0F0"/>
          </a:solidFill>
          <a:ln w="12700">
            <a:solidFill>
              <a:srgbClr val="9999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6080760"/>
            <a:ext cx="740664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200"/>
              </a:spcAft>
              <a:defRPr sz="1400">
                <a:solidFill>
                  <a:srgbClr val="333333"/>
                </a:solidFill>
                <a:latin typeface="Courier New"/>
              </a:defRPr>
            </a:pPr>
            <a:r>
              <a:t>error = reflectance.get_left() - reflectance.get_right()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