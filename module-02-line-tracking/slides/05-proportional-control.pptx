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2: Line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Lesson 5: Proportional Control with One Sensor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Understand what a setpoint is and how to calculate error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Use set_effort() for continuous motor control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Build a proportional control loop for line following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Tune the Kp gain constant by observing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problem with bounce driving  (5 min)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set_effort() and continuous control  (5 min)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Proportional controller step by step  (20 min)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Follow the circle edge, tune Kp  (20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Wrong with Bounce Driving?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Bounce driving (Lessons 3–4):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Drive straight → Hit line → Stop → Turn → Drive straight → Hit line → …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Problems: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Jerky, not smooth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Robot is NOT following the line — it is bouncing off it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Cannot handle curves well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we want: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Robot smoothly follows the line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Constant small adjustments, like steering a car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E75B6"/>
                </a:solidFill>
                <a:latin typeface="Calibri"/>
              </a:defRPr>
            </a:pPr>
            <a:r>
              <a:t>Question: "How can the robot steer while it is driving?"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Blocking vs. Continuous Motor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Blocking calls (what we used before):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12801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120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drivetrain.straight(30)   # Drives 30 cm, then STOPS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drivetrain.turn(90)       # Turns 90 degrees, then STOPS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Robot does one thing at a time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Cannot read sensors WHILE driving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Continuous control (new):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48640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drivetrain.set_effort(0.3, 0.3)   # Sets motors and KEEPS GOING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Sets motor power and returns immediately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Motors keep running until you change them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You can read sensors in between 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  <a:latin typeface="Calibri"/>
              </a:defRPr>
            </a:pPr>
            <a:r>
              <a:t>Key difference: set_effort() does not block — the program keeps running.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set_effort()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Drive straight: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097280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drivetrain.set_effort(0.3, 0.3)   # Both motors equal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Turn right (left faster):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1097280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drivetrain.set_effort(0.4, 0.2)   # Left faster than 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Turn left (right faster):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1097280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9204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drivetrain.set_effort(0.2, 0.4)   # Right faster than left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75B6"/>
                </a:solidFill>
                <a:latin typeface="Calibri"/>
              </a:defRPr>
            </a:pPr>
            <a:r>
              <a:t>Values range from -1.0 (full reverse) to 1.0 (full forward)    |    set_effort(0.5, -0.5) = spin in place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Setpoint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From Lesson 1, you recorded sensor values: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On white surface: ~0.1 to 0.3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On the edge of the line: ~0.5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On the black line: ~0.7 to 0.9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setpoint is the target value we want to maintain.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931920"/>
            <a:ext cx="548640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setpoint = 0.5   # The edge of the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E75B6"/>
                </a:solidFill>
                <a:latin typeface="Calibri"/>
              </a:defRPr>
            </a:pPr>
            <a:r>
              <a:t>Goal: Keep the sensor reading at the setpoint by making constant small steering adjustments.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Calculating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3A5C"/>
                </a:solidFill>
                <a:latin typeface="Calibri"/>
              </a:defRPr>
            </a:pPr>
            <a:r>
              <a:t>Error = how far we are from where we want to 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640080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error = setpoint - sensor_reading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Examples (setpoint = 0.5):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383280"/>
          <a:ext cx="99669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137160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 is the robot?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sensor_reading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On the edge (perfect)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 correction needed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Drifted onto white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+0.3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Steer toward line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Drifted onto 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−0.3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Steer away from line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Positive error = robot is too far off the line (on white) — steer toward it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Negative error = robot is too far on the line (on black) — steer away</a:t>
            </a:r>
          </a:p>
          <a:p>
            <a:pPr>
              <a:spcAft>
                <a:spcPts val="600"/>
              </a:spcAft>
              <a:defRPr sz="1600" b="1">
                <a:solidFill>
                  <a:srgbClr val="2E75B6"/>
                </a:solidFill>
                <a:latin typeface="Calibri"/>
              </a:defRPr>
            </a:pPr>
            <a:r>
              <a:t>Zero error = perfect position — drive straight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Error to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3A5C"/>
                </a:solidFill>
                <a:latin typeface="Calibri"/>
              </a:defRPr>
            </a:pPr>
            <a:r>
              <a:t>We multiply error by a gain constant Kp: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02920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correction = error * Kp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Kp controls how aggressively the robot reacts.    Example with Kp = 0.5: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291840"/>
          <a:ext cx="96926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  <a:gridCol w="45720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correction = error × 0.5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happens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Gentle steer toward line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−0.3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−0.15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Gentle steer away from line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Stronger steer toward line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Drive straight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Then apply correction to motors: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52160"/>
            <a:ext cx="6858000" cy="914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6492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left_effort  = base_effort + correction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right_effort = base_effort - correction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Complete Control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6858000" cy="5303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922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setpoint = 0.5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Kp = 0.5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base_effort = 0.3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while True: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1. Read sensor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sensor_value = reflectance.get_left()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2. Calculate error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error = setpoint - sensor_value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3. Calculate correction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correction = error * Kp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4. Apply to motors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left_effort = base_effort + correction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right_effort = base_effort - correction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drivetrain.set_effort(left_effort, right_effort)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time.sleep(0.01)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389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loop: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Read Sensor</a:t>
            </a:r>
          </a:p>
          <a:p>
            <a:pPr>
              <a:spcAft>
                <a:spcPts val="60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Calculate Error</a:t>
            </a:r>
          </a:p>
          <a:p>
            <a:pPr>
              <a:spcAft>
                <a:spcPts val="60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Calculate Correction</a:t>
            </a:r>
          </a:p>
          <a:p>
            <a:pPr>
              <a:spcAft>
                <a:spcPts val="60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Set Motors</a:t>
            </a:r>
          </a:p>
          <a:p>
            <a:pPr>
              <a:spcAft>
                <a:spcPts val="60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↓ (back to top)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2E75B6"/>
                </a:solidFill>
                <a:latin typeface="Calibri"/>
              </a:defRPr>
            </a:pPr>
            <a:r>
              <a:t>Runs hundreds of times per second!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Tracing Through the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Scenario: Robot drifts onto white  (sensor reads 0.2)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94360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55778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setpoint      = 0.5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sensor_value  = 0.2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error         = 0.5 - 0.2 = 0.3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Kp            = 0.5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correction    = 0.3 * 0.5 = 0.15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base_effort   = 0.3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left_effort   = 0.3 + 0.15 = 0.45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right_effort  = 0.3 - 0.15 = 0.15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33333"/>
                </a:solidFill>
                <a:latin typeface="Calibri"/>
              </a:defRPr>
            </a:pPr>
            <a:r>
              <a:t>Result: Left motor (0.45) faster than right (0.15) → robot steers right, back toward the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Scenario: Robot drifts onto black  (sensor reads 0.8)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669280"/>
            <a:ext cx="5943600" cy="20116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06440"/>
            <a:ext cx="55778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error         = 0.5 - 0.8 = -0.3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correction    = -0.3 * 0.5 = -0.15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left_effort   = 0.3 + (-0.15) = 0.15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right_effort  = 0.3 - (-0.15) = 0.45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5669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33333"/>
                </a:solidFill>
                <a:latin typeface="Calibri"/>
              </a:defRPr>
            </a:pPr>
            <a:r>
              <a:t>Result: Right motor (0.45) faster → robot steers left, away from the 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Does Kp Do?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0" y="1783080"/>
            <a:ext cx="8503920" cy="0"/>
          </a:xfrm>
          <a:prstGeom prst="line">
            <a:avLst/>
          </a:prstGeom>
          <a:ln w="25400">
            <a:solidFill>
              <a:srgbClr val="99999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8288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7030"/>
                </a:solidFill>
                <a:latin typeface="Calibri"/>
              </a:defRPr>
            </a:pPr>
            <a:r>
              <a:t>Kp too low (0.1)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011680" y="1764792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436876" y="1746504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862072" y="1728216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287268" y="1709928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712464" y="1691639"/>
            <a:ext cx="425196" cy="18289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137660" y="1673352"/>
            <a:ext cx="425196" cy="18287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562856" y="1655064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988052" y="1636776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413248" y="1618488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838444" y="1600200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263640" y="1581912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688836" y="1563624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114032" y="1545336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39228" y="1527048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964424" y="1508760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389620" y="1490472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814816" y="1472184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240012" y="1453895"/>
            <a:ext cx="425196" cy="18289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665208" y="1435607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090404" y="1417319"/>
            <a:ext cx="425196" cy="18288"/>
          </a:xfrm>
          <a:prstGeom prst="line">
            <a:avLst/>
          </a:prstGeom>
          <a:ln w="31750">
            <a:solidFill>
              <a:srgbClr val="E07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698480" y="1417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Calibri"/>
              </a:defRPr>
            </a:pPr>
            <a:r>
              <a:t>Robot drifts slowly away from line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2788920"/>
            <a:ext cx="8503920" cy="0"/>
          </a:xfrm>
          <a:prstGeom prst="line">
            <a:avLst/>
          </a:prstGeom>
          <a:ln w="25400">
            <a:solidFill>
              <a:srgbClr val="99999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8288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A02E"/>
                </a:solidFill>
                <a:latin typeface="Calibri"/>
              </a:defRPr>
            </a:pPr>
            <a:r>
              <a:t>Kp just right (0.5)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011680" y="2750698"/>
            <a:ext cx="425196" cy="38222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436876" y="2723741"/>
            <a:ext cx="425196" cy="26957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862072" y="2715993"/>
            <a:ext cx="425196" cy="7748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87268" y="2715993"/>
            <a:ext cx="425196" cy="13745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712464" y="2729738"/>
            <a:ext cx="425196" cy="31187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137660" y="2760925"/>
            <a:ext cx="425196" cy="39438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62856" y="2800363"/>
            <a:ext cx="425196" cy="36065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988052" y="2836428"/>
            <a:ext cx="425196" cy="22063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413248" y="2858491"/>
            <a:ext cx="425196" cy="1559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838444" y="2840646"/>
            <a:ext cx="425196" cy="19404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263640" y="2805996"/>
            <a:ext cx="425196" cy="34650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688836" y="2766314"/>
            <a:ext cx="425196" cy="39682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114032" y="2733294"/>
            <a:ext cx="425196" cy="33020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539228" y="2716668"/>
            <a:ext cx="425196" cy="16626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64424" y="2716668"/>
            <a:ext cx="425196" cy="4668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89620" y="2721336"/>
            <a:ext cx="425196" cy="24586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814816" y="2745922"/>
            <a:ext cx="425196" cy="37258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240012" y="2783180"/>
            <a:ext cx="425196" cy="38950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65208" y="2822130"/>
            <a:ext cx="425196" cy="29162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090404" y="2851292"/>
            <a:ext cx="425196" cy="10780"/>
          </a:xfrm>
          <a:prstGeom prst="line">
            <a:avLst/>
          </a:prstGeom>
          <a:ln w="31750">
            <a:solidFill>
              <a:srgbClr val="2EA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698480" y="2423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Calibri"/>
              </a:defRPr>
            </a:pPr>
            <a:r>
              <a:t>Robot smoothly follows the line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011680" y="3794760"/>
            <a:ext cx="8503920" cy="0"/>
          </a:xfrm>
          <a:prstGeom prst="line">
            <a:avLst/>
          </a:prstGeom>
          <a:ln w="25400">
            <a:solidFill>
              <a:srgbClr val="99999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8288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C3333"/>
                </a:solidFill>
                <a:latin typeface="Calibri"/>
              </a:defRPr>
            </a:pPr>
            <a:r>
              <a:t>Kp too high (2.0)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2011680" y="3509602"/>
            <a:ext cx="425196" cy="285158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436876" y="3509602"/>
            <a:ext cx="425196" cy="26240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862072" y="3535842"/>
            <a:ext cx="425196" cy="308983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287268" y="3844825"/>
            <a:ext cx="425196" cy="254311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712464" y="4021062"/>
            <a:ext cx="425196" cy="78074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137660" y="3695862"/>
            <a:ext cx="425196" cy="325200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562856" y="3478660"/>
            <a:ext cx="425196" cy="217202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988052" y="3478660"/>
            <a:ext cx="425196" cy="127985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413248" y="3606645"/>
            <a:ext cx="425196" cy="333410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838444" y="3940055"/>
            <a:ext cx="425196" cy="174745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263640" y="3940055"/>
            <a:ext cx="425196" cy="174745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688836" y="3606645"/>
            <a:ext cx="425196" cy="333410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114032" y="3478660"/>
            <a:ext cx="425196" cy="127985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539228" y="3478660"/>
            <a:ext cx="425196" cy="217202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964424" y="3695862"/>
            <a:ext cx="425196" cy="325200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389620" y="4021062"/>
            <a:ext cx="425196" cy="78074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814816" y="3844825"/>
            <a:ext cx="425196" cy="254311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240012" y="3535842"/>
            <a:ext cx="425196" cy="308983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665208" y="3509602"/>
            <a:ext cx="425196" cy="26240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090404" y="3509602"/>
            <a:ext cx="425196" cy="285158"/>
          </a:xfrm>
          <a:prstGeom prst="line">
            <a:avLst/>
          </a:prstGeom>
          <a:ln w="31750">
            <a:solidFill>
              <a:srgbClr val="CC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698480" y="3429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Calibri"/>
              </a:defRPr>
            </a:pPr>
            <a:r>
              <a:t>Robot zigzags wildly across the line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548640" y="4389120"/>
          <a:ext cx="10058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858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Kp Value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Behavior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Too low (e.g., 0.1)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reacts too slowly, drifts off the line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Just right (e.g., 0.5)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follows smoothly with small adjustments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Too high (e.g., 2.0)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overcorrects, oscillates wildly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2E75B6"/>
                </a:solidFill>
                <a:latin typeface="Calibri"/>
              </a:defRPr>
            </a:pPr>
            <a:r>
              <a:t>Tuning Kp: Start at 0.5, lower if too wiggly, raise if too sluggish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Exercise — Follow the Circle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Your task: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1. Type in the complete program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2. Place the robot on the edge of the taped circle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3. Press the button and observe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4. Tune Kp and base_effort for smooth tracking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E75B6"/>
                </a:solidFill>
                <a:latin typeface="Calibri"/>
              </a:defRPr>
            </a:pPr>
            <a:r>
              <a:t>Success: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Robot completes one full lap of the circle.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280160"/>
            <a:ext cx="6400800" cy="5303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417320"/>
            <a:ext cx="6035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from XRPLib.differential_drive import DifferentialDrive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from XRPLib.reflectance import Reflectance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from XRPLib.board import Board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import time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drivetrain  = DifferentialDrive.get_default_differential_drive()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reflectance = Reflectance.get_default_reflectance()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board       = Board.get_default_board()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setpoint    = 0.5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Kp          = 0.5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base_effort = 0.3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board.wait_for_button()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while True: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sensor_value = reflectance.get_left()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error        = setpoint - sensor_value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correction   = error * Kp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drivetrain.set_effort(base_effort + correction,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                  base_effort - correction)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time.sleep(0.01)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What we accomplished today: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Smooth line following with ONE sensor using proportional control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Understood setpoint, error, Kp, and correction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Limitation of one sensor: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Only tracks one edge of the line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If the robot drifts too far off, it cannot tell which side it is on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Next lesson: Two-Sensor Line Following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Use BOTH left and right sensors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Error = left sensor − right sensor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Even smoother tracking, follows the CENTER of the line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900" b="1">
                <a:solidFill>
                  <a:srgbClr val="2E75B6"/>
                </a:solidFill>
                <a:latin typeface="Calibri"/>
              </a:defRPr>
            </a:pPr>
            <a:r>
              <a:t>Question: "Why might two sensors be better than one?"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43600"/>
            <a:ext cx="777240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080760"/>
            <a:ext cx="7406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error = reflectance.get_left() - reflectance.get_right()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