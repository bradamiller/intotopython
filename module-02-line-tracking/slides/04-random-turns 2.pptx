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j-lt"/>
        <a:ea typeface="+mj-ea"/>
        <a:cs typeface="+mj-cs"/>
        <a:sym typeface="Calibri"/>
      </a:defRPr>
    </a:lvl1pPr>
    <a:lvl2pPr indent="228600" defTabSz="457200" latinLnBrk="0">
      <a:defRPr sz="1200">
        <a:latin typeface="+mj-lt"/>
        <a:ea typeface="+mj-ea"/>
        <a:cs typeface="+mj-cs"/>
        <a:sym typeface="Calibri"/>
      </a:defRPr>
    </a:lvl2pPr>
    <a:lvl3pPr indent="457200" defTabSz="457200" latinLnBrk="0">
      <a:defRPr sz="1200">
        <a:latin typeface="+mj-lt"/>
        <a:ea typeface="+mj-ea"/>
        <a:cs typeface="+mj-cs"/>
        <a:sym typeface="Calibri"/>
      </a:defRPr>
    </a:lvl3pPr>
    <a:lvl4pPr indent="685800" defTabSz="457200" latinLnBrk="0">
      <a:defRPr sz="1200">
        <a:latin typeface="+mj-lt"/>
        <a:ea typeface="+mj-ea"/>
        <a:cs typeface="+mj-cs"/>
        <a:sym typeface="Calibri"/>
      </a:defRPr>
    </a:lvl4pPr>
    <a:lvl5pPr indent="914400" defTabSz="457200" latinLnBrk="0">
      <a:defRPr sz="1200">
        <a:latin typeface="+mj-lt"/>
        <a:ea typeface="+mj-ea"/>
        <a:cs typeface="+mj-cs"/>
        <a:sym typeface="Calibri"/>
      </a:defRPr>
    </a:lvl5pPr>
    <a:lvl6pPr indent="1143000" defTabSz="457200" latinLnBrk="0">
      <a:defRPr sz="1200">
        <a:latin typeface="+mj-lt"/>
        <a:ea typeface="+mj-ea"/>
        <a:cs typeface="+mj-cs"/>
        <a:sym typeface="Calibri"/>
      </a:defRPr>
    </a:lvl6pPr>
    <a:lvl7pPr indent="1371600" defTabSz="457200" latinLnBrk="0">
      <a:defRPr sz="1200">
        <a:latin typeface="+mj-lt"/>
        <a:ea typeface="+mj-ea"/>
        <a:cs typeface="+mj-cs"/>
        <a:sym typeface="Calibri"/>
      </a:defRPr>
    </a:lvl7pPr>
    <a:lvl8pPr indent="1600200" defTabSz="457200" latinLnBrk="0">
      <a:defRPr sz="1200">
        <a:latin typeface="+mj-lt"/>
        <a:ea typeface="+mj-ea"/>
        <a:cs typeface="+mj-cs"/>
        <a:sym typeface="Calibri"/>
      </a:defRPr>
    </a:lvl8pPr>
    <a:lvl9pPr indent="1828800" defTabSz="4572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2743200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777239" y="457199"/>
            <a:ext cx="2547899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2000">
                <a:solidFill>
                  <a:srgbClr val="A0C4E8"/>
                </a:solidFill>
              </a:defRPr>
            </a:lvl1pPr>
          </a:lstStyle>
          <a:p>
            <a:pPr/>
            <a:r>
              <a:t>Module 2: Line Tracking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777239" y="914400"/>
            <a:ext cx="5698690" cy="6539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Lesson 4: Random Turns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777239" y="3108960"/>
            <a:ext cx="4731171" cy="180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400">
                <a:solidFill>
                  <a:srgbClr val="1B3A5C"/>
                </a:solidFill>
              </a:defRPr>
            </a:pPr>
            <a:r>
              <a:t>Learning Objectives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Use import to bring in Python’s random module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Generate random numbers with random.randint()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Explain why predictable behavior is a problem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Modify bounce driving to use random turn angles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6903719" y="3108960"/>
            <a:ext cx="3558926" cy="1806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defRPr b="1" sz="2400">
                <a:solidFill>
                  <a:srgbClr val="1B3A5C"/>
                </a:solidFill>
              </a:defRPr>
            </a:pPr>
            <a:r>
              <a:t>Agenda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The predictability problem  (5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import and random module  (10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Random bounce driving  (15 min)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Experimentation  (15 min)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1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The Predictability Problem</a:t>
            </a:r>
          </a:p>
        </p:txBody>
      </p:sp>
      <p:sp>
        <p:nvSpPr>
          <p:cNvPr id="102" name="TextBox 3"/>
          <p:cNvSpPr txBox="1"/>
          <p:nvPr/>
        </p:nvSpPr>
        <p:spPr>
          <a:xfrm>
            <a:off x="594360" y="1371600"/>
            <a:ext cx="10881361" cy="38326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Observe the Lesson 3 robot: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Drives forward → hits line → turns 180° → drives back → hits line → turns 180°…</a:t>
            </a:r>
          </a:p>
          <a:p>
            <a:pPr>
              <a:spcBef>
                <a:spcPts val="600"/>
              </a:spcBef>
              <a:defRPr b="1" sz="2000">
                <a:solidFill>
                  <a:srgbClr val="333333"/>
                </a:solidFill>
              </a:defRPr>
            </a:pPr>
            <a:r>
              <a:t>Same path every time!  Never explores the circle.</a:t>
            </a:r>
          </a:p>
          <a:p>
            <a:pPr>
              <a:spcBef>
                <a:spcPts val="600"/>
              </a:spcBef>
            </a:pPr>
            <a:endParaRPr b="1"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Why?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180° always sends it straight back.</a:t>
            </a:r>
          </a:p>
          <a:p>
            <a:pPr>
              <a:spcBef>
                <a:spcPts val="600"/>
              </a:spcBef>
            </a:pPr>
            <a:endParaRPr sz="2000"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Fix:</a:t>
            </a: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Turn a DIFFERENT amount each time → explore the whole area.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import — Using Python Modules</a:t>
            </a:r>
          </a:p>
        </p:txBody>
      </p:sp>
      <p:sp>
        <p:nvSpPr>
          <p:cNvPr id="106" name="TextBox 3"/>
          <p:cNvSpPr txBox="1"/>
          <p:nvPr/>
        </p:nvSpPr>
        <p:spPr>
          <a:xfrm>
            <a:off x="594360" y="1371600"/>
            <a:ext cx="10881361" cy="1013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Python has thousands of built-in tools organized into modules.</a:t>
            </a:r>
          </a:p>
          <a:p>
            <a:pPr>
              <a:spcBef>
                <a:spcPts val="600"/>
              </a:spcBef>
              <a:defRPr b="1" sz="2000">
                <a:solidFill>
                  <a:srgbClr val="1B3A5C"/>
                </a:solidFill>
              </a:defRPr>
            </a:pPr>
            <a:r>
              <a:t>To use one:  import module_name</a:t>
            </a:r>
          </a:p>
        </p:txBody>
      </p:sp>
      <p:sp>
        <p:nvSpPr>
          <p:cNvPr id="107" name="Rounded Rectangle 4"/>
          <p:cNvSpPr/>
          <p:nvPr/>
        </p:nvSpPr>
        <p:spPr>
          <a:xfrm>
            <a:off x="548640" y="2743200"/>
            <a:ext cx="7315201" cy="118872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08" name="TextBox 5"/>
          <p:cNvSpPr txBox="1"/>
          <p:nvPr/>
        </p:nvSpPr>
        <p:spPr>
          <a:xfrm>
            <a:off x="777239" y="2880360"/>
            <a:ext cx="5759102" cy="523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random      # Makes random functions available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time        # Makes time functions available</a:t>
            </a:r>
          </a:p>
        </p:txBody>
      </p:sp>
      <p:sp>
        <p:nvSpPr>
          <p:cNvPr id="109" name="TextBox 6"/>
          <p:cNvSpPr txBox="1"/>
          <p:nvPr/>
        </p:nvSpPr>
        <p:spPr>
          <a:xfrm>
            <a:off x="594360" y="4114800"/>
            <a:ext cx="2749684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You’ve already done this:</a:t>
            </a:r>
          </a:p>
        </p:txBody>
      </p:sp>
      <p:sp>
        <p:nvSpPr>
          <p:cNvPr id="110" name="Rounded Rectangle 7"/>
          <p:cNvSpPr/>
          <p:nvPr/>
        </p:nvSpPr>
        <p:spPr>
          <a:xfrm>
            <a:off x="548640" y="4663440"/>
            <a:ext cx="7315201" cy="82296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1" name="TextBox 8"/>
          <p:cNvSpPr txBox="1"/>
          <p:nvPr/>
        </p:nvSpPr>
        <p:spPr>
          <a:xfrm>
            <a:off x="777239" y="4800599"/>
            <a:ext cx="4585431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from XRPLib.reflectance import Reflectance</a:t>
            </a:r>
          </a:p>
        </p:txBody>
      </p:sp>
      <p:sp>
        <p:nvSpPr>
          <p:cNvPr id="112" name="TextBox 9"/>
          <p:cNvSpPr txBox="1"/>
          <p:nvPr/>
        </p:nvSpPr>
        <p:spPr>
          <a:xfrm>
            <a:off x="594360" y="5669279"/>
            <a:ext cx="385895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2E75B6"/>
                </a:solidFill>
              </a:defRPr>
            </a:lvl1pPr>
          </a:lstStyle>
          <a:p>
            <a:pPr/>
            <a:r>
              <a:t>Rule: Import at the TOP of your file.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random.randint()</a:t>
            </a:r>
          </a:p>
        </p:txBody>
      </p:sp>
      <p:sp>
        <p:nvSpPr>
          <p:cNvPr id="116" name="TextBox 3"/>
          <p:cNvSpPr txBox="1"/>
          <p:nvPr/>
        </p:nvSpPr>
        <p:spPr>
          <a:xfrm>
            <a:off x="594360" y="1280160"/>
            <a:ext cx="8234869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random.randint(a, b) — returns a random integer between a and b (inclusive)</a:t>
            </a:r>
          </a:p>
        </p:txBody>
      </p:sp>
      <p:sp>
        <p:nvSpPr>
          <p:cNvPr id="117" name="Rounded Rectangle 4"/>
          <p:cNvSpPr/>
          <p:nvPr/>
        </p:nvSpPr>
        <p:spPr>
          <a:xfrm>
            <a:off x="548640" y="1920239"/>
            <a:ext cx="7772401" cy="20116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8" name="TextBox 5"/>
          <p:cNvSpPr txBox="1"/>
          <p:nvPr/>
        </p:nvSpPr>
        <p:spPr>
          <a:xfrm>
            <a:off x="777239" y="2057399"/>
            <a:ext cx="7146167" cy="1209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random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random.randint(1, 6)     # Like rolling a die: 1, 2, 3, 4, 5, or 6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random.randint(90, 270)  # Random angle for turning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random.randint(1, 100)   # Random percentage</a:t>
            </a:r>
          </a:p>
        </p:txBody>
      </p:sp>
      <p:sp>
        <p:nvSpPr>
          <p:cNvPr id="119" name="TextBox 6"/>
          <p:cNvSpPr txBox="1"/>
          <p:nvPr/>
        </p:nvSpPr>
        <p:spPr>
          <a:xfrm>
            <a:off x="594360" y="4114800"/>
            <a:ext cx="3938573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Each call gives a DIFFERENT number:</a:t>
            </a:r>
          </a:p>
        </p:txBody>
      </p:sp>
      <p:sp>
        <p:nvSpPr>
          <p:cNvPr id="120" name="Rounded Rectangle 7"/>
          <p:cNvSpPr/>
          <p:nvPr/>
        </p:nvSpPr>
        <p:spPr>
          <a:xfrm>
            <a:off x="548640" y="4663440"/>
            <a:ext cx="7772401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1" name="TextBox 8"/>
          <p:cNvSpPr txBox="1"/>
          <p:nvPr/>
        </p:nvSpPr>
        <p:spPr>
          <a:xfrm>
            <a:off x="777239" y="4800599"/>
            <a:ext cx="4265339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print(random.randint(1, 10))  # Maybe 7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print(random.randint(1, 10))  # Maybe 3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print(random.randint(1, 10))  # Maybe 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4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Adding Randomness to Bounce Driving</a:t>
            </a:r>
          </a:p>
        </p:txBody>
      </p:sp>
      <p:sp>
        <p:nvSpPr>
          <p:cNvPr id="125" name="TextBox 3"/>
          <p:cNvSpPr txBox="1"/>
          <p:nvPr/>
        </p:nvSpPr>
        <p:spPr>
          <a:xfrm>
            <a:off x="594360" y="1280160"/>
            <a:ext cx="206309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Before (predictable):</a:t>
            </a:r>
          </a:p>
        </p:txBody>
      </p:sp>
      <p:sp>
        <p:nvSpPr>
          <p:cNvPr id="126" name="Rounded Rectangle 4"/>
          <p:cNvSpPr/>
          <p:nvPr/>
        </p:nvSpPr>
        <p:spPr>
          <a:xfrm>
            <a:off x="548640" y="1828800"/>
            <a:ext cx="5486401" cy="914400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27" name="TextBox 5"/>
          <p:cNvSpPr txBox="1"/>
          <p:nvPr/>
        </p:nvSpPr>
        <p:spPr>
          <a:xfrm>
            <a:off x="777239" y="1965960"/>
            <a:ext cx="3838549" cy="294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</a:lstStyle>
          <a:p>
            <a:pPr/>
            <a:r>
              <a:t>drivetrain.turn(180)  # Always 180°</a:t>
            </a:r>
          </a:p>
        </p:txBody>
      </p:sp>
      <p:sp>
        <p:nvSpPr>
          <p:cNvPr id="128" name="TextBox 6"/>
          <p:cNvSpPr txBox="1"/>
          <p:nvPr/>
        </p:nvSpPr>
        <p:spPr>
          <a:xfrm>
            <a:off x="6446519" y="1280160"/>
            <a:ext cx="158825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>
                <a:solidFill>
                  <a:srgbClr val="1B3A5C"/>
                </a:solidFill>
              </a:defRPr>
            </a:lvl1pPr>
          </a:lstStyle>
          <a:p>
            <a:pPr/>
            <a:r>
              <a:t>After (random):</a:t>
            </a:r>
          </a:p>
        </p:txBody>
      </p:sp>
      <p:sp>
        <p:nvSpPr>
          <p:cNvPr id="129" name="Rounded Rectangle 7"/>
          <p:cNvSpPr/>
          <p:nvPr/>
        </p:nvSpPr>
        <p:spPr>
          <a:xfrm>
            <a:off x="6400800" y="1828800"/>
            <a:ext cx="5486400" cy="155448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0" name="TextBox 8"/>
          <p:cNvSpPr txBox="1"/>
          <p:nvPr/>
        </p:nvSpPr>
        <p:spPr>
          <a:xfrm>
            <a:off x="6629400" y="1965960"/>
            <a:ext cx="3731851" cy="751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angle = random.randint(90, 270)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print("Turning", angle, "degrees")</a:t>
            </a:r>
          </a:p>
          <a:p>
            <a:pPr>
              <a:spcBef>
                <a:spcPts val="200"/>
              </a:spcBef>
              <a:defRPr sz="14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drivetrain.turn(angle)</a:t>
            </a:r>
          </a:p>
        </p:txBody>
      </p:sp>
      <p:sp>
        <p:nvSpPr>
          <p:cNvPr id="131" name="TextBox 9"/>
          <p:cNvSpPr txBox="1"/>
          <p:nvPr/>
        </p:nvSpPr>
        <p:spPr>
          <a:xfrm>
            <a:off x="594360" y="3840479"/>
            <a:ext cx="10881361" cy="385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2200">
                <a:solidFill>
                  <a:srgbClr val="2E75B6"/>
                </a:solidFill>
              </a:defRPr>
            </a:lvl1pPr>
          </a:lstStyle>
          <a:p>
            <a:pPr/>
            <a:r>
              <a:t>Result: Robot turns a different amount each bounce → explores the circle!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4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Complete Random Bounce Program</a:t>
            </a:r>
          </a:p>
        </p:txBody>
      </p:sp>
      <p:sp>
        <p:nvSpPr>
          <p:cNvPr id="135" name="Rounded Rectangle 3"/>
          <p:cNvSpPr/>
          <p:nvPr/>
        </p:nvSpPr>
        <p:spPr>
          <a:xfrm>
            <a:off x="548640" y="1280160"/>
            <a:ext cx="10972801" cy="5303521"/>
          </a:xfrm>
          <a:prstGeom prst="roundRect">
            <a:avLst>
              <a:gd name="adj" fmla="val 16667"/>
            </a:avLst>
          </a:prstGeom>
          <a:solidFill>
            <a:srgbClr val="F0F0F0"/>
          </a:solidFill>
          <a:ln w="12700">
            <a:solidFill>
              <a:srgbClr val="999999"/>
            </a:solidFill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6" name="TextBox 4"/>
          <p:cNvSpPr txBox="1"/>
          <p:nvPr/>
        </p:nvSpPr>
        <p:spPr>
          <a:xfrm>
            <a:off x="777239" y="1417319"/>
            <a:ext cx="6345937" cy="503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/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XRPLib.reflectance import Reflectance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XRPLib.differential_drive import DifferentialDrive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XRPLib.board import Board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import random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reflectance = Reflectance.get_default_reflectance()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drivetrain = DifferentialDrive.get_default_differential_drive()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 = Board.get_default_board()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threshold = 0.5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board.wait_for_button()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while True: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left = reflectance.get_left()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right = reflectance.get_right()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if left &gt; threshold or right &gt; threshold: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drivetrain.stop()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angle = random.randint(90, 270)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print("Turning", angle, "degrees")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drivetrain.turn(angle)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else:</a:t>
            </a:r>
          </a:p>
          <a:p>
            <a:pPr>
              <a:spcBef>
                <a:spcPts val="200"/>
              </a:spcBef>
              <a:defRPr sz="1300">
                <a:solidFill>
                  <a:srgbClr val="333333"/>
                </a:solidFill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drivetrain.set_effort(0.3, 0.3)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39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Experimenting with Ranges</a:t>
            </a:r>
          </a:p>
        </p:txBody>
      </p:sp>
      <p:sp>
        <p:nvSpPr>
          <p:cNvPr id="140" name="TextBox 3"/>
          <p:cNvSpPr txBox="1"/>
          <p:nvPr/>
        </p:nvSpPr>
        <p:spPr>
          <a:xfrm>
            <a:off x="594360" y="1280160"/>
            <a:ext cx="3578781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1B3A5C"/>
                </a:solidFill>
              </a:defRPr>
            </a:lvl1pPr>
          </a:lstStyle>
          <a:p>
            <a:pPr/>
            <a:r>
              <a:t>Try different ranges and observe:</a:t>
            </a:r>
          </a:p>
        </p:txBody>
      </p:sp>
      <p:graphicFrame>
        <p:nvGraphicFramePr>
          <p:cNvPr id="141" name="Table 4"/>
          <p:cNvGraphicFramePr/>
          <p:nvPr/>
        </p:nvGraphicFramePr>
        <p:xfrm>
          <a:off x="731519" y="1920239"/>
          <a:ext cx="10515601" cy="2286001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680459"/>
                <a:gridCol w="683514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Range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600">
                          <a:solidFill>
                            <a:srgbClr val="FFFFFF"/>
                          </a:solidFill>
                        </a:rPr>
                        <a:t>Behavior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2E75B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randint(170, 190)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Small variation around 180° — mostly back and forth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randint(90, 270)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Wide range — good exploration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randint(45, 315)</a:t>
                      </a:r>
                    </a:p>
                  </a:txBody>
                  <a:tcPr marL="45720" marR="45720" marT="45720" marB="45720" anchor="t" anchorCtr="0" horzOverflow="overflow"/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Very wide — may turn too little sometimes</a:t>
                      </a:r>
                    </a:p>
                  </a:txBody>
                  <a:tcPr marL="45720" marR="45720" marT="45720" marB="45720" anchor="t" anchorCtr="0" horzOverflow="overflow"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randint(90, 90)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/>
                        <a:t>Always 90° — not random at all!</a:t>
                      </a:r>
                    </a:p>
                  </a:txBody>
                  <a:tcPr marL="45720" marR="45720" marT="45720" marB="45720" anchor="t" anchorCtr="0" horzOverflow="overflow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42" name="TextBox 5"/>
          <p:cNvSpPr txBox="1"/>
          <p:nvPr/>
        </p:nvSpPr>
        <p:spPr>
          <a:xfrm>
            <a:off x="594360" y="4754879"/>
            <a:ext cx="6557700" cy="3401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b="1" sz="2000">
                <a:solidFill>
                  <a:srgbClr val="2E75B6"/>
                </a:solidFill>
              </a:defRPr>
            </a:lvl1pPr>
          </a:lstStyle>
          <a:p>
            <a:pPr/>
            <a:r>
              <a:t>Question: Which range keeps the robot inside the circle best?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5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Your Turn!</a:t>
            </a:r>
          </a:p>
        </p:txBody>
      </p:sp>
      <p:sp>
        <p:nvSpPr>
          <p:cNvPr id="146" name="TextBox 3"/>
          <p:cNvSpPr txBox="1"/>
          <p:nvPr/>
        </p:nvSpPr>
        <p:spPr>
          <a:xfrm>
            <a:off x="594360" y="1371600"/>
            <a:ext cx="5852161" cy="2961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 1: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Add random turns to your bounce program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Change drivetrain.turn(180) to use random.randint()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Exercise 2 (Challenge):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Experiment with different ranges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Record which range works best</a:t>
            </a:r>
          </a:p>
        </p:txBody>
      </p:sp>
      <p:sp>
        <p:nvSpPr>
          <p:cNvPr id="147" name="TextBox 4"/>
          <p:cNvSpPr txBox="1"/>
          <p:nvPr/>
        </p:nvSpPr>
        <p:spPr>
          <a:xfrm>
            <a:off x="6903719" y="1371600"/>
            <a:ext cx="4480562" cy="10569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2E75B6"/>
                </a:solidFill>
              </a:defRPr>
            </a:pPr>
            <a:r>
              <a:t>Bonus: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Randomize the speed too!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Rectangle 1"/>
          <p:cNvSpPr/>
          <p:nvPr/>
        </p:nvSpPr>
        <p:spPr>
          <a:xfrm>
            <a:off x="-1" y="-1"/>
            <a:ext cx="12191697" cy="1097282"/>
          </a:xfrm>
          <a:prstGeom prst="rect">
            <a:avLst/>
          </a:prstGeom>
          <a:solidFill>
            <a:srgbClr val="1B3A5C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0" name="TextBox 2"/>
          <p:cNvSpPr txBox="1"/>
          <p:nvPr/>
        </p:nvSpPr>
        <p:spPr>
          <a:xfrm>
            <a:off x="594360" y="137159"/>
            <a:ext cx="10881361" cy="4970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 sz="3200">
                <a:solidFill>
                  <a:srgbClr val="FFFFFF"/>
                </a:solidFill>
              </a:defRPr>
            </a:lvl1pPr>
          </a:lstStyle>
          <a:p>
            <a:pPr/>
            <a:r>
              <a:t>Connection to Next Lesson</a:t>
            </a:r>
          </a:p>
        </p:txBody>
      </p:sp>
      <p:sp>
        <p:nvSpPr>
          <p:cNvPr id="151" name="TextBox 3"/>
          <p:cNvSpPr txBox="1"/>
          <p:nvPr/>
        </p:nvSpPr>
        <p:spPr>
          <a:xfrm>
            <a:off x="594360" y="1371600"/>
            <a:ext cx="10881361" cy="49592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/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Module 2 so far: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Lesson 1: Read sensors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Lesson 2: while loops — drive to edge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Lesson 3: if/else — bounce driving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  <a:p>
            <a:pPr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Lesson 4: import random — random turns </a:t>
            </a:r>
            <a:r>
              <a:rPr>
                <a:latin typeface="+mn-lt"/>
                <a:ea typeface="+mn-ea"/>
                <a:cs typeface="+mn-cs"/>
                <a:sym typeface="Helvetica"/>
              </a:rPr>
              <a:t>✓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200">
                <a:solidFill>
                  <a:srgbClr val="1B3A5C"/>
                </a:solidFill>
              </a:defRPr>
            </a:pPr>
            <a:r>
              <a:t>Next (Lesson 5):</a:t>
            </a:r>
          </a:p>
          <a:p>
            <a:pPr>
              <a:spcBef>
                <a:spcPts val="600"/>
              </a:spcBef>
              <a:defRPr sz="2000">
                <a:solidFill>
                  <a:srgbClr val="333333"/>
                </a:solidFill>
              </a:defRPr>
            </a:pPr>
            <a:r>
              <a:t>Instead of BOUNCING off the line, FOLLOW it!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Proportional control — smooth, continuous line following</a:t>
            </a:r>
          </a:p>
          <a:p>
            <a:pPr lvl="1">
              <a:spcBef>
                <a:spcPts val="600"/>
              </a:spcBef>
              <a:defRPr>
                <a:solidFill>
                  <a:srgbClr val="333333"/>
                </a:solidFill>
              </a:defRPr>
            </a:pPr>
            <a:r>
              <a:t>The robot adjusts steering based on how far it is from the line</a:t>
            </a:r>
          </a:p>
          <a:p>
            <a:pPr>
              <a:spcBef>
                <a:spcPts val="600"/>
              </a:spcBef>
            </a:pPr>
            <a:endParaRPr>
              <a:solidFill>
                <a:srgbClr val="333333"/>
              </a:solidFill>
            </a:endParaRPr>
          </a:p>
          <a:p>
            <a:pPr>
              <a:spcBef>
                <a:spcPts val="600"/>
              </a:spcBef>
              <a:defRPr b="1" sz="2000">
                <a:solidFill>
                  <a:srgbClr val="2E75B6"/>
                </a:solidFill>
              </a:defRPr>
            </a:pPr>
            <a:r>
              <a:t>Big shift: From bouncing to tracking!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