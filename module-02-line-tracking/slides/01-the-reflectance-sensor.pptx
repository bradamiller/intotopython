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2743200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777239" y="457199"/>
            <a:ext cx="2547899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>
                <a:solidFill>
                  <a:srgbClr val="A0C4E8"/>
                </a:solidFill>
              </a:defRPr>
            </a:lvl1pPr>
          </a:lstStyle>
          <a:p>
            <a:pPr/>
            <a:r>
              <a:t>Module 2: Line Tracking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777239" y="914400"/>
            <a:ext cx="9966961" cy="6341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200">
                <a:solidFill>
                  <a:srgbClr val="FFFFFF"/>
                </a:solidFill>
              </a:defRPr>
            </a:lvl1pPr>
          </a:lstStyle>
          <a:p>
            <a:pPr/>
            <a:r>
              <a:t>The Reflectance Sensor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77239" y="3108959"/>
            <a:ext cx="5394961" cy="1583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2400">
                <a:solidFill>
                  <a:srgbClr val="1B3A5C"/>
                </a:solidFill>
              </a:defRPr>
            </a:pPr>
            <a:r>
              <a:t>Learning Objectives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Explain how reflectance sensors detect light vs. dark surfaces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Read sensor values using the Reflectance class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Record calibration data for your specific robot and surface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Choose a threshold value for line detection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6903719" y="3108959"/>
            <a:ext cx="4480562" cy="12784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2400">
                <a:solidFill>
                  <a:srgbClr val="1B3A5C"/>
                </a:solidFill>
              </a:defRPr>
            </a:pPr>
            <a:r>
              <a:t>Agenda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How sensors work (10 min)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Reading sensor values (15 min)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Calibration exercise (20 min)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Hook — How Does a Robot "See"?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594360" y="1371599"/>
            <a:ext cx="10881361" cy="1635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Question: "You can see the black line. How could a robot tell the difference?"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Discussion: Robots don't have eyes — they use sensors that measure physical properties.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Today: We'll learn to read the XRP's reflectance sensors — the robot's way of "seeing" the line.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5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How Reflectance Sensors Work</a:t>
            </a:r>
          </a:p>
        </p:txBody>
      </p:sp>
      <p:sp>
        <p:nvSpPr>
          <p:cNvPr id="106" name="TextBox 3"/>
          <p:cNvSpPr txBox="1"/>
          <p:nvPr/>
        </p:nvSpPr>
        <p:spPr>
          <a:xfrm>
            <a:off x="594360" y="1371599"/>
            <a:ext cx="10881361" cy="3096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The sensor has two parts:</a:t>
            </a:r>
          </a:p>
          <a:p>
            <a:pPr>
              <a:spcBef>
                <a:spcPts val="400"/>
              </a:spcBef>
              <a:defRPr sz="1700"/>
            </a:pPr>
            <a:r>
              <a:t>Infrared LED — shines light downward</a:t>
            </a:r>
          </a:p>
          <a:p>
            <a:pPr>
              <a:spcBef>
                <a:spcPts val="400"/>
              </a:spcBef>
              <a:defRPr sz="1700"/>
            </a:pPr>
            <a:r>
              <a:t>Light detector — measures how much bounces back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White surface: Reflects most light → low value (close to 0.0)</a:t>
            </a: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Black surface: Absorbs most light → high value (close to 1.0)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Analogy: Flashlight on a mirror vs. a black t-shirt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Show: Photo of XRP underside with sensors highlighted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Sensor Value Range</a:t>
            </a:r>
          </a:p>
        </p:txBody>
      </p:sp>
      <p:sp>
        <p:nvSpPr>
          <p:cNvPr id="110" name="TextBox 3"/>
          <p:cNvSpPr txBox="1"/>
          <p:nvPr/>
        </p:nvSpPr>
        <p:spPr>
          <a:xfrm>
            <a:off x="594360" y="1371599"/>
            <a:ext cx="10881361" cy="486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400"/>
              </a:spcBef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Values range from 0.0 to 1.0:</a:t>
            </a:r>
          </a:p>
        </p:txBody>
      </p:sp>
      <p:graphicFrame>
        <p:nvGraphicFramePr>
          <p:cNvPr id="111" name="Table 4"/>
          <p:cNvGraphicFramePr/>
          <p:nvPr/>
        </p:nvGraphicFramePr>
        <p:xfrm>
          <a:off x="914400" y="1371600"/>
          <a:ext cx="10058400" cy="146304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Position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Left Sensor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Right Sensor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On white surface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~0.1 – 0.3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~0.1 – 0.3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On line edge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~0.4 – 0.6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~0.4 – 0.6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On black line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~0.7 – 0.9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~0.7 – 0.9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  <p:sp>
        <p:nvSpPr>
          <p:cNvPr id="112" name="TextBox 5"/>
          <p:cNvSpPr txBox="1"/>
          <p:nvPr/>
        </p:nvSpPr>
        <p:spPr>
          <a:xfrm>
            <a:off x="594360" y="3017520"/>
            <a:ext cx="10881361" cy="1062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Key idea: The transition from white to black is GRADUAL, not sudden.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sz="1600"/>
            </a:pPr>
            <a:r>
              <a:t>The XRP has TWO sensors — left and right — each reads independently.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Reading Sensors in Python</a:t>
            </a:r>
          </a:p>
        </p:txBody>
      </p:sp>
      <p:sp>
        <p:nvSpPr>
          <p:cNvPr id="116" name="TextBox 3"/>
          <p:cNvSpPr txBox="1"/>
          <p:nvPr/>
        </p:nvSpPr>
        <p:spPr>
          <a:xfrm>
            <a:off x="594360" y="137159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Import and setup:</a:t>
            </a:r>
          </a:p>
        </p:txBody>
      </p:sp>
      <p:sp>
        <p:nvSpPr>
          <p:cNvPr id="117" name="TextBox 4"/>
          <p:cNvSpPr txBox="1"/>
          <p:nvPr/>
        </p:nvSpPr>
        <p:spPr>
          <a:xfrm>
            <a:off x="594360" y="1645920"/>
            <a:ext cx="108813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Read values:</a:t>
            </a:r>
          </a:p>
        </p:txBody>
      </p:sp>
      <p:sp>
        <p:nvSpPr>
          <p:cNvPr id="118" name="TextBox 5"/>
          <p:cNvSpPr txBox="1"/>
          <p:nvPr/>
        </p:nvSpPr>
        <p:spPr>
          <a:xfrm>
            <a:off x="594360" y="192023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Key point: get_left() and get_right() return a number between 0.0 and 1.0.</a:t>
            </a:r>
          </a:p>
        </p:txBody>
      </p:sp>
      <p:sp>
        <p:nvSpPr>
          <p:cNvPr id="119" name="Rounded Rectangle 6"/>
          <p:cNvSpPr/>
          <p:nvPr/>
        </p:nvSpPr>
        <p:spPr>
          <a:xfrm>
            <a:off x="548640" y="2194560"/>
            <a:ext cx="5303521" cy="14173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TextBox 7"/>
          <p:cNvSpPr txBox="1"/>
          <p:nvPr/>
        </p:nvSpPr>
        <p:spPr>
          <a:xfrm>
            <a:off x="777239" y="2285999"/>
            <a:ext cx="4846322" cy="1285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from XRPLib.reflectance import Reflectance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from XRPLib.board import Board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reflectance = Reflectance.get_default_reflectance()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 = Board.get_default_board()</a:t>
            </a:r>
          </a:p>
        </p:txBody>
      </p:sp>
      <p:sp>
        <p:nvSpPr>
          <p:cNvPr id="121" name="Rounded Rectangle 8"/>
          <p:cNvSpPr/>
          <p:nvPr/>
        </p:nvSpPr>
        <p:spPr>
          <a:xfrm>
            <a:off x="6217920" y="2194560"/>
            <a:ext cx="5303521" cy="14173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9"/>
          <p:cNvSpPr txBox="1"/>
          <p:nvPr/>
        </p:nvSpPr>
        <p:spPr>
          <a:xfrm>
            <a:off x="6446519" y="2285999"/>
            <a:ext cx="4846322" cy="891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board.wait_for_button()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left = reflectance.get_left()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right = reflectance.get_right()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print("Left:", left, "Right:", right)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Continuous Reading</a:t>
            </a:r>
          </a:p>
        </p:txBody>
      </p:sp>
      <p:sp>
        <p:nvSpPr>
          <p:cNvPr id="126" name="TextBox 3"/>
          <p:cNvSpPr txBox="1"/>
          <p:nvPr/>
        </p:nvSpPr>
        <p:spPr>
          <a:xfrm>
            <a:off x="594360" y="1371599"/>
            <a:ext cx="10881361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lvl1pPr>
          </a:lstStyle>
          <a:p>
            <a:pPr/>
            <a:r>
              <a:t>Read many times in a loop:</a:t>
            </a:r>
          </a:p>
        </p:txBody>
      </p:sp>
      <p:sp>
        <p:nvSpPr>
          <p:cNvPr id="127" name="Rounded Rectangle 4"/>
          <p:cNvSpPr/>
          <p:nvPr/>
        </p:nvSpPr>
        <p:spPr>
          <a:xfrm>
            <a:off x="548640" y="1371600"/>
            <a:ext cx="10972801" cy="23317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5"/>
          <p:cNvSpPr txBox="1"/>
          <p:nvPr/>
        </p:nvSpPr>
        <p:spPr>
          <a:xfrm>
            <a:off x="777239" y="1463039"/>
            <a:ext cx="10515602" cy="1907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import time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board.wait_for_button()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i in range(50):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left = reflectance.get_left()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right = reflectance.get_right()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print("Left:", left, "  Right:", right)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time.sleep(0.1)</a:t>
            </a:r>
          </a:p>
        </p:txBody>
      </p:sp>
      <p:sp>
        <p:nvSpPr>
          <p:cNvPr id="129" name="TextBox 6"/>
          <p:cNvSpPr txBox="1"/>
          <p:nvPr/>
        </p:nvSpPr>
        <p:spPr>
          <a:xfrm>
            <a:off x="594360" y="3840479"/>
            <a:ext cx="10881361" cy="10597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sz="1700"/>
            </a:pPr>
            <a:r>
              <a:t>Why? See how values change as you move the robot across the line.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sz="1700"/>
            </a:pPr>
            <a:r>
              <a:t>time.sleep(0.1) — pause 0.1 seconds so readings aren't too fast to read.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What Is a Threshold?</a:t>
            </a:r>
          </a:p>
        </p:txBody>
      </p:sp>
      <p:sp>
        <p:nvSpPr>
          <p:cNvPr id="133" name="TextBox 3"/>
          <p:cNvSpPr txBox="1"/>
          <p:nvPr/>
        </p:nvSpPr>
        <p:spPr>
          <a:xfrm>
            <a:off x="594360" y="1371599"/>
            <a:ext cx="10881361" cy="30579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Threshold: A cutoff value to decide "on line" vs. "off line"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Example:</a:t>
            </a:r>
          </a:p>
          <a:p>
            <a:pPr>
              <a:spcBef>
                <a:spcPts val="400"/>
              </a:spcBef>
              <a:defRPr sz="1700"/>
            </a:pPr>
            <a:r>
              <a:t>Off line readings: 0.1, 0.2, 0.15, 0.25</a:t>
            </a:r>
          </a:p>
          <a:p>
            <a:pPr>
              <a:spcBef>
                <a:spcPts val="400"/>
              </a:spcBef>
              <a:defRPr sz="1700"/>
            </a:pPr>
            <a:r>
              <a:t>On line readings: 0.75, 0.8, 0.85, 0.9</a:t>
            </a:r>
          </a:p>
          <a:p>
            <a:pPr>
              <a:spcBef>
                <a:spcPts val="400"/>
              </a:spcBef>
              <a:defRPr sz="1700"/>
            </a:pPr>
            <a:r>
              <a:t>Threshold = 0.5 (halfway between)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Rule: If sensor &gt; threshold → on the line. If sensor &lt; threshold → off the line.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Important: The threshold depends on YOUR surface and tape. Calibrate!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Calibration Exercise</a:t>
            </a:r>
          </a:p>
        </p:txBody>
      </p:sp>
      <p:sp>
        <p:nvSpPr>
          <p:cNvPr id="137" name="TextBox 3"/>
          <p:cNvSpPr txBox="1"/>
          <p:nvPr/>
        </p:nvSpPr>
        <p:spPr>
          <a:xfrm>
            <a:off x="594360" y="1371599"/>
            <a:ext cx="10881361" cy="2799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Your task:</a:t>
            </a:r>
          </a:p>
          <a:p>
            <a:pPr>
              <a:spcBef>
                <a:spcPts val="400"/>
              </a:spcBef>
              <a:defRPr sz="1700"/>
            </a:pPr>
            <a:r>
              <a:t>Place robot on WHITE surface → record sensor values</a:t>
            </a:r>
          </a:p>
          <a:p>
            <a:pPr>
              <a:spcBef>
                <a:spcPts val="400"/>
              </a:spcBef>
              <a:defRPr sz="1700"/>
            </a:pPr>
            <a:r>
              <a:t>Place robot on BLACK line → record sensor values</a:t>
            </a:r>
          </a:p>
          <a:p>
            <a:pPr>
              <a:spcBef>
                <a:spcPts val="400"/>
              </a:spcBef>
              <a:defRPr sz="1700"/>
            </a:pPr>
            <a:r>
              <a:t>Place robot on EDGE of line → record sensor values</a:t>
            </a:r>
          </a:p>
          <a:p>
            <a:pPr>
              <a:spcBef>
                <a:spcPts val="400"/>
              </a:spcBef>
              <a:defRPr sz="1700"/>
            </a:pPr>
            <a:r>
              <a:t>Calculate your threshold (halfway between off-line and on-line averages)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sz="1700"/>
            </a:pPr>
            <a:r>
              <a:t>Why calibrate? Different surfaces, tape colors, and lighting conditions give different values.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sz="1700"/>
            </a:pPr>
            <a:r>
              <a:t>Save your threshold! You'll use it for the rest of Module 2.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Your Turn!</a:t>
            </a:r>
          </a:p>
        </p:txBody>
      </p:sp>
      <p:sp>
        <p:nvSpPr>
          <p:cNvPr id="141" name="TextBox 3"/>
          <p:cNvSpPr txBox="1"/>
          <p:nvPr/>
        </p:nvSpPr>
        <p:spPr>
          <a:xfrm>
            <a:off x="594360" y="1371599"/>
            <a:ext cx="10881361" cy="36759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Activity:</a:t>
            </a:r>
          </a:p>
          <a:p>
            <a:pPr>
              <a:spcBef>
                <a:spcPts val="400"/>
              </a:spcBef>
              <a:defRPr sz="1700"/>
            </a:pPr>
            <a:r>
              <a:t>Create sensor_test.py</a:t>
            </a:r>
          </a:p>
          <a:p>
            <a:pPr>
              <a:spcBef>
                <a:spcPts val="400"/>
              </a:spcBef>
              <a:defRPr sz="1700"/>
            </a:pPr>
            <a:r>
              <a:t>Write the continuous reading program</a:t>
            </a:r>
          </a:p>
          <a:p>
            <a:pPr>
              <a:spcBef>
                <a:spcPts val="400"/>
              </a:spcBef>
              <a:defRPr sz="1700"/>
            </a:pPr>
            <a:r>
              <a:t>Collect calibration data for 3 positions</a:t>
            </a:r>
          </a:p>
          <a:p>
            <a:pPr>
              <a:spcBef>
                <a:spcPts val="400"/>
              </a:spcBef>
              <a:defRPr sz="1700"/>
            </a:pPr>
            <a:r>
              <a:t>Record in your worksheet</a:t>
            </a:r>
          </a:p>
          <a:p>
            <a:pPr>
              <a:spcBef>
                <a:spcPts val="400"/>
              </a:spcBef>
              <a:defRPr sz="1700"/>
            </a:pPr>
            <a:r>
              <a:t>Determine your threshold value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Checkpoints:</a:t>
            </a:r>
          </a:p>
          <a:p>
            <a:pPr>
              <a:spcBef>
                <a:spcPts val="400"/>
              </a:spcBef>
              <a:defRPr sz="1700"/>
            </a:pPr>
            <a:r>
              <a:t>Can you read sensor values?</a:t>
            </a:r>
          </a:p>
          <a:p>
            <a:pPr>
              <a:spcBef>
                <a:spcPts val="400"/>
              </a:spcBef>
              <a:defRPr sz="1700"/>
            </a:pPr>
            <a:r>
              <a:t>Do white and black give different numbers?</a:t>
            </a:r>
          </a:p>
          <a:p>
            <a:pPr>
              <a:spcBef>
                <a:spcPts val="400"/>
              </a:spcBef>
              <a:defRPr sz="1700"/>
            </a:pPr>
            <a:r>
              <a:t>Did you find a good threshold?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Connection to Next Lesson</a:t>
            </a:r>
          </a:p>
        </p:txBody>
      </p:sp>
      <p:sp>
        <p:nvSpPr>
          <p:cNvPr id="145" name="TextBox 3"/>
          <p:cNvSpPr txBox="1"/>
          <p:nvPr/>
        </p:nvSpPr>
        <p:spPr>
          <a:xfrm>
            <a:off x="594360" y="1371599"/>
            <a:ext cx="10881361" cy="31849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What you did today:</a:t>
            </a:r>
          </a:p>
          <a:p>
            <a:pPr>
              <a:spcBef>
                <a:spcPts val="400"/>
              </a:spcBef>
              <a:defRPr sz="1700"/>
            </a:pPr>
            <a:r>
              <a:t>Learned how reflectance sensors work</a:t>
            </a:r>
          </a:p>
          <a:p>
            <a:pPr>
              <a:spcBef>
                <a:spcPts val="400"/>
              </a:spcBef>
              <a:defRPr sz="1700"/>
            </a:pPr>
            <a:r>
              <a:t>Read sensor values in Python</a:t>
            </a:r>
          </a:p>
          <a:p>
            <a:pPr>
              <a:spcBef>
                <a:spcPts val="400"/>
              </a:spcBef>
              <a:defRPr sz="1700"/>
            </a:pPr>
            <a:r>
              <a:t>Calibrated your sensors and chose a threshold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Next lesson (Lesson 2):</a:t>
            </a:r>
          </a:p>
          <a:p>
            <a:pPr>
              <a:spcBef>
                <a:spcPts val="400"/>
              </a:spcBef>
              <a:defRPr sz="1700"/>
            </a:pPr>
            <a:r>
              <a:t>Use a while loop to keep the robot driving</a:t>
            </a:r>
          </a:p>
          <a:p>
            <a:pPr>
              <a:spcBef>
                <a:spcPts val="400"/>
              </a:spcBef>
              <a:defRPr sz="1700"/>
            </a:pPr>
            <a:r>
              <a:t>Stop when the sensor detects the line</a:t>
            </a:r>
          </a:p>
          <a:p>
            <a:pPr>
              <a:spcBef>
                <a:spcPts val="400"/>
              </a:spcBef>
              <a:defRPr sz="1700"/>
            </a:pPr>
            <a:r>
              <a:t>First time the robot uses sensors to control its behavior!</a:t>
            </a:r>
          </a:p>
          <a:p>
            <a:pPr>
              <a:spcBef>
                <a:spcPts val="400"/>
              </a:spcBef>
              <a:defRPr sz="400"/>
            </a:pPr>
          </a:p>
          <a:p>
            <a:pPr>
              <a:spcBef>
                <a:spcPts val="400"/>
              </a:spcBef>
              <a:defRPr b="1" sz="2000">
                <a:solidFill>
                  <a:srgbClr val="1B3A5C"/>
                </a:solidFill>
              </a:defRPr>
            </a:pPr>
            <a:r>
              <a:t>Save your calibration data — you'll need it!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