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2743200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" name="TextBox 2"/>
          <p:cNvSpPr txBox="1"/>
          <p:nvPr/>
        </p:nvSpPr>
        <p:spPr>
          <a:xfrm>
            <a:off x="777239" y="457199"/>
            <a:ext cx="2547899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A0C4E8"/>
                </a:solidFill>
              </a:defRPr>
            </a:lvl1pPr>
          </a:lstStyle>
          <a:p>
            <a:r>
              <a:t>Module 2: Line Tracking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77239" y="914400"/>
            <a:ext cx="9966961" cy="634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200" b="1">
                <a:solidFill>
                  <a:srgbClr val="FFFFFF"/>
                </a:solidFill>
              </a:defRPr>
            </a:lvl1pPr>
          </a:lstStyle>
          <a:p>
            <a:r>
              <a:t>The Reflectance Sensor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777239" y="3108959"/>
            <a:ext cx="5394961" cy="1583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Learning Objectives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Explain how reflectance sensors detect light vs. dark surfaces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Read sensor values using the Reflectance class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Record calibration data for your specific robot and surface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Choose a threshold value for line detection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6903719" y="3108959"/>
            <a:ext cx="4480562" cy="12784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Agenda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How sensors work (10 min)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Reading sensor values (15 min)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Calibration exercise (20 min)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1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Hook — How Does a Robot "See"?</a:t>
            </a:r>
          </a:p>
        </p:txBody>
      </p:sp>
      <p:sp>
        <p:nvSpPr>
          <p:cNvPr id="102" name="TextBox 3"/>
          <p:cNvSpPr txBox="1"/>
          <p:nvPr/>
        </p:nvSpPr>
        <p:spPr>
          <a:xfrm>
            <a:off x="594360" y="1371599"/>
            <a:ext cx="10881361" cy="1635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sz="2000" b="1">
                <a:solidFill>
                  <a:srgbClr val="1B3A5C"/>
                </a:solidFill>
              </a:defRPr>
            </a:pPr>
            <a:r>
              <a:t>Question: "You can see the black line. How could a robot tell the difference?"</a:t>
            </a:r>
          </a:p>
          <a:p>
            <a:pPr>
              <a:spcBef>
                <a:spcPts val="400"/>
              </a:spcBef>
              <a:defRPr sz="400"/>
            </a:pPr>
            <a:endParaRPr/>
          </a:p>
          <a:p>
            <a:pPr>
              <a:spcBef>
                <a:spcPts val="400"/>
              </a:spcBef>
              <a:defRPr sz="2000" b="1">
                <a:solidFill>
                  <a:srgbClr val="1B3A5C"/>
                </a:solidFill>
              </a:defRPr>
            </a:pPr>
            <a:r>
              <a:t>Discussion: Robots don't have eyes — they use sensors that measure physical properties.</a:t>
            </a:r>
          </a:p>
          <a:p>
            <a:pPr>
              <a:spcBef>
                <a:spcPts val="400"/>
              </a:spcBef>
              <a:defRPr sz="400"/>
            </a:pPr>
            <a:endParaRPr/>
          </a:p>
          <a:p>
            <a:pPr>
              <a:spcBef>
                <a:spcPts val="400"/>
              </a:spcBef>
              <a:defRPr sz="2000" b="1">
                <a:solidFill>
                  <a:srgbClr val="1B3A5C"/>
                </a:solidFill>
              </a:defRPr>
            </a:pPr>
            <a:r>
              <a:t>Today: We'll learn to read the XRP's reflectance sensors — the robot's way of "seeing" the line.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5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How Reflectance Sensors Work</a:t>
            </a:r>
          </a:p>
        </p:txBody>
      </p:sp>
      <p:sp>
        <p:nvSpPr>
          <p:cNvPr id="106" name="TextBox 3"/>
          <p:cNvSpPr txBox="1"/>
          <p:nvPr/>
        </p:nvSpPr>
        <p:spPr>
          <a:xfrm>
            <a:off x="594360" y="1371599"/>
            <a:ext cx="10881361" cy="3096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sz="2000" b="1">
                <a:solidFill>
                  <a:srgbClr val="1B3A5C"/>
                </a:solidFill>
              </a:defRPr>
            </a:pPr>
            <a:r>
              <a:t>The sensor has two parts:</a:t>
            </a:r>
          </a:p>
          <a:p>
            <a:pPr>
              <a:spcBef>
                <a:spcPts val="400"/>
              </a:spcBef>
              <a:defRPr sz="1700"/>
            </a:pPr>
            <a:r>
              <a:t>Infrared LED — shines light downward</a:t>
            </a:r>
          </a:p>
          <a:p>
            <a:pPr>
              <a:spcBef>
                <a:spcPts val="400"/>
              </a:spcBef>
              <a:defRPr sz="1700"/>
            </a:pPr>
            <a:r>
              <a:t>Light detector — measures how much bounces back</a:t>
            </a:r>
          </a:p>
          <a:p>
            <a:pPr>
              <a:spcBef>
                <a:spcPts val="400"/>
              </a:spcBef>
              <a:defRPr sz="400"/>
            </a:pPr>
            <a:endParaRPr/>
          </a:p>
          <a:p>
            <a:pPr>
              <a:spcBef>
                <a:spcPts val="400"/>
              </a:spcBef>
              <a:defRPr sz="2000" b="1">
                <a:solidFill>
                  <a:srgbClr val="1B3A5C"/>
                </a:solidFill>
              </a:defRPr>
            </a:pPr>
            <a:r>
              <a:t>White surface: Reflects most light → low value (close to 0.0)</a:t>
            </a:r>
          </a:p>
          <a:p>
            <a:pPr>
              <a:spcBef>
                <a:spcPts val="400"/>
              </a:spcBef>
              <a:defRPr sz="2000" b="1">
                <a:solidFill>
                  <a:srgbClr val="1B3A5C"/>
                </a:solidFill>
              </a:defRPr>
            </a:pPr>
            <a:r>
              <a:t>Black surface: Absorbs most light → high value (close to 1.0)</a:t>
            </a:r>
          </a:p>
          <a:p>
            <a:pPr>
              <a:spcBef>
                <a:spcPts val="400"/>
              </a:spcBef>
              <a:defRPr sz="400"/>
            </a:pPr>
            <a:endParaRPr/>
          </a:p>
          <a:p>
            <a:pPr>
              <a:spcBef>
                <a:spcPts val="400"/>
              </a:spcBef>
              <a:defRPr sz="2000" b="1">
                <a:solidFill>
                  <a:srgbClr val="1B3A5C"/>
                </a:solidFill>
              </a:defRPr>
            </a:pPr>
            <a:r>
              <a:t>Analogy: Flashlight on a mirror vs. a black t-shirt</a:t>
            </a:r>
          </a:p>
          <a:p>
            <a:pPr>
              <a:spcBef>
                <a:spcPts val="400"/>
              </a:spcBef>
              <a:defRPr sz="400"/>
            </a:pPr>
            <a:endParaRPr/>
          </a:p>
          <a:p>
            <a:pPr>
              <a:spcBef>
                <a:spcPts val="400"/>
              </a:spcBef>
              <a:defRPr sz="2000" b="1">
                <a:solidFill>
                  <a:srgbClr val="1B3A5C"/>
                </a:solidFill>
              </a:defRPr>
            </a:pPr>
            <a:r>
              <a:t>Show: Photo of XRP underside with sensors highlighted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Sensor Value Range</a:t>
            </a:r>
          </a:p>
        </p:txBody>
      </p:sp>
      <p:sp>
        <p:nvSpPr>
          <p:cNvPr id="110" name="TextBox 3"/>
          <p:cNvSpPr txBox="1"/>
          <p:nvPr/>
        </p:nvSpPr>
        <p:spPr>
          <a:xfrm>
            <a:off x="594360" y="1371599"/>
            <a:ext cx="10881361" cy="486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400"/>
              </a:spcBef>
              <a:defRPr b="1">
                <a:solidFill>
                  <a:srgbClr val="1B3A5C"/>
                </a:solidFill>
              </a:defRPr>
            </a:lvl1pPr>
          </a:lstStyle>
          <a:p>
            <a:r>
              <a:t>Values range from 0.0 to 1.0:</a:t>
            </a:r>
          </a:p>
        </p:txBody>
      </p:sp>
      <p:graphicFrame>
        <p:nvGraphicFramePr>
          <p:cNvPr id="111" name="Table 4"/>
          <p:cNvGraphicFramePr/>
          <p:nvPr>
            <p:extLst>
              <p:ext uri="{D42A27DB-BD31-4B8C-83A1-F6EECF244321}">
                <p14:modId xmlns:p14="http://schemas.microsoft.com/office/powerpoint/2010/main" val="19824070"/>
              </p:ext>
            </p:extLst>
          </p:nvPr>
        </p:nvGraphicFramePr>
        <p:xfrm>
          <a:off x="893135" y="1868861"/>
          <a:ext cx="10058400" cy="146304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Position</a:t>
                      </a:r>
                    </a:p>
                  </a:txBody>
                  <a:tcPr marL="45720" marR="45720" horzOverflow="overflow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Left Sensor</a:t>
                      </a:r>
                    </a:p>
                  </a:txBody>
                  <a:tcPr marL="45720" marR="45720" horzOverflow="overflow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Right Sensor</a:t>
                      </a:r>
                    </a:p>
                  </a:txBody>
                  <a:tcPr marL="45720" marR="45720" horzOverflow="overflow"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 dirty="0"/>
                        <a:t>On white surface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~0.1 – 0.3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~0.1 – 0.3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On line edge</a:t>
                      </a:r>
                    </a:p>
                  </a:txBody>
                  <a:tcPr marL="45720" marR="4572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~0.4 – 0.6</a:t>
                      </a:r>
                    </a:p>
                  </a:txBody>
                  <a:tcPr marL="45720" marR="4572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~0.4 – 0.6</a:t>
                      </a:r>
                    </a:p>
                  </a:txBody>
                  <a:tcPr marL="45720" marR="45720" horzOverflow="overflow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On black line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~0.7 – 0.9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 dirty="0"/>
                        <a:t>~0.7 – 0.9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2" name="TextBox 5"/>
          <p:cNvSpPr txBox="1"/>
          <p:nvPr/>
        </p:nvSpPr>
        <p:spPr>
          <a:xfrm>
            <a:off x="594359" y="3655473"/>
            <a:ext cx="10881361" cy="1062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b="1">
                <a:solidFill>
                  <a:srgbClr val="1B3A5C"/>
                </a:solidFill>
              </a:defRPr>
            </a:pPr>
            <a:r>
              <a:rPr dirty="0"/>
              <a:t>Key idea: The transition from white to black is GRADUAL, not sudden.</a:t>
            </a:r>
          </a:p>
          <a:p>
            <a:pPr>
              <a:spcBef>
                <a:spcPts val="400"/>
              </a:spcBef>
              <a:defRPr sz="400"/>
            </a:pPr>
            <a:endParaRPr dirty="0"/>
          </a:p>
          <a:p>
            <a:pPr>
              <a:spcBef>
                <a:spcPts val="400"/>
              </a:spcBef>
              <a:defRPr sz="1600"/>
            </a:pPr>
            <a:r>
              <a:rPr dirty="0"/>
              <a:t>The XRP has TWO sensors — left and right — each reads independently.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5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Reading Sensors in Python</a:t>
            </a:r>
          </a:p>
        </p:txBody>
      </p:sp>
      <p:sp>
        <p:nvSpPr>
          <p:cNvPr id="116" name="TextBox 3"/>
          <p:cNvSpPr txBox="1"/>
          <p:nvPr/>
        </p:nvSpPr>
        <p:spPr>
          <a:xfrm>
            <a:off x="594360" y="1371599"/>
            <a:ext cx="1088136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r>
              <a:t>Import and setup:</a:t>
            </a:r>
          </a:p>
        </p:txBody>
      </p:sp>
      <p:sp>
        <p:nvSpPr>
          <p:cNvPr id="117" name="TextBox 4"/>
          <p:cNvSpPr txBox="1"/>
          <p:nvPr/>
        </p:nvSpPr>
        <p:spPr>
          <a:xfrm>
            <a:off x="594360" y="1645920"/>
            <a:ext cx="108813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r>
              <a:t>Read values:</a:t>
            </a:r>
          </a:p>
        </p:txBody>
      </p:sp>
      <p:sp>
        <p:nvSpPr>
          <p:cNvPr id="118" name="TextBox 5"/>
          <p:cNvSpPr txBox="1"/>
          <p:nvPr/>
        </p:nvSpPr>
        <p:spPr>
          <a:xfrm>
            <a:off x="594360" y="1920239"/>
            <a:ext cx="1088136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r>
              <a:t>Key point: get_left() and get_right() return a number between 0.0 and 1.0.</a:t>
            </a:r>
          </a:p>
        </p:txBody>
      </p:sp>
      <p:sp>
        <p:nvSpPr>
          <p:cNvPr id="119" name="Rounded Rectangle 6"/>
          <p:cNvSpPr/>
          <p:nvPr/>
        </p:nvSpPr>
        <p:spPr>
          <a:xfrm>
            <a:off x="548640" y="2194560"/>
            <a:ext cx="5303521" cy="1417321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0" name="TextBox 7"/>
          <p:cNvSpPr txBox="1"/>
          <p:nvPr/>
        </p:nvSpPr>
        <p:spPr>
          <a:xfrm>
            <a:off x="777239" y="2285999"/>
            <a:ext cx="4846322" cy="1285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XRPLib.reflectance import Reflectance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XRPLib.board import Board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/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reflectance = Reflectance.get_default_reflectance()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board = Board.get_default_board()</a:t>
            </a:r>
          </a:p>
        </p:txBody>
      </p:sp>
      <p:sp>
        <p:nvSpPr>
          <p:cNvPr id="121" name="Rounded Rectangle 8"/>
          <p:cNvSpPr/>
          <p:nvPr/>
        </p:nvSpPr>
        <p:spPr>
          <a:xfrm>
            <a:off x="6217920" y="2194560"/>
            <a:ext cx="5303521" cy="1417321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2" name="TextBox 9"/>
          <p:cNvSpPr txBox="1"/>
          <p:nvPr/>
        </p:nvSpPr>
        <p:spPr>
          <a:xfrm>
            <a:off x="6446519" y="2285999"/>
            <a:ext cx="4846322" cy="891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board.wait_for_button()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left = reflectance.get_left()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right = reflectance.get_right()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print("Left:", left, "Right:", right)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5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Continuous Reading</a:t>
            </a:r>
          </a:p>
        </p:txBody>
      </p:sp>
      <p:sp>
        <p:nvSpPr>
          <p:cNvPr id="126" name="TextBox 3"/>
          <p:cNvSpPr txBox="1"/>
          <p:nvPr/>
        </p:nvSpPr>
        <p:spPr>
          <a:xfrm>
            <a:off x="594360" y="1371599"/>
            <a:ext cx="10881361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400"/>
              </a:spcBef>
              <a:defRPr sz="2000" b="1">
                <a:solidFill>
                  <a:srgbClr val="1B3A5C"/>
                </a:solidFill>
              </a:defRPr>
            </a:lvl1pPr>
          </a:lstStyle>
          <a:p>
            <a:r>
              <a:t>Read many times in a loop:</a:t>
            </a:r>
          </a:p>
        </p:txBody>
      </p:sp>
      <p:sp>
        <p:nvSpPr>
          <p:cNvPr id="127" name="Rounded Rectangle 4"/>
          <p:cNvSpPr/>
          <p:nvPr/>
        </p:nvSpPr>
        <p:spPr>
          <a:xfrm>
            <a:off x="548640" y="1371600"/>
            <a:ext cx="10972801" cy="2331721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8" name="TextBox 5"/>
          <p:cNvSpPr txBox="1"/>
          <p:nvPr/>
        </p:nvSpPr>
        <p:spPr>
          <a:xfrm>
            <a:off x="777239" y="1463039"/>
            <a:ext cx="10515602" cy="190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import time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/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board.wait_for_button()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/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 i in range(50):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left = reflectance.get_left()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right = reflectance.get_right()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print("Left:", left, "  Right:", right)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time.sleep(0.1)</a:t>
            </a:r>
          </a:p>
        </p:txBody>
      </p:sp>
      <p:sp>
        <p:nvSpPr>
          <p:cNvPr id="129" name="TextBox 6"/>
          <p:cNvSpPr txBox="1"/>
          <p:nvPr/>
        </p:nvSpPr>
        <p:spPr>
          <a:xfrm>
            <a:off x="594360" y="3840479"/>
            <a:ext cx="10881361" cy="1059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sz="1700"/>
            </a:pPr>
            <a:r>
              <a:t>Why? See how values change as you move the robot across the line.</a:t>
            </a:r>
          </a:p>
          <a:p>
            <a:pPr>
              <a:spcBef>
                <a:spcPts val="400"/>
              </a:spcBef>
              <a:defRPr sz="400"/>
            </a:pPr>
            <a:endParaRPr/>
          </a:p>
          <a:p>
            <a:pPr>
              <a:spcBef>
                <a:spcPts val="400"/>
              </a:spcBef>
              <a:defRPr sz="1700"/>
            </a:pPr>
            <a:r>
              <a:t>time.sleep(0.1) — pause 0.1 seconds so readings aren't too fast to read.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2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What Is a Threshold?</a:t>
            </a:r>
          </a:p>
        </p:txBody>
      </p:sp>
      <p:sp>
        <p:nvSpPr>
          <p:cNvPr id="133" name="TextBox 3"/>
          <p:cNvSpPr txBox="1"/>
          <p:nvPr/>
        </p:nvSpPr>
        <p:spPr>
          <a:xfrm>
            <a:off x="594360" y="1371599"/>
            <a:ext cx="10881361" cy="3057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sz="2000" b="1">
                <a:solidFill>
                  <a:srgbClr val="1B3A5C"/>
                </a:solidFill>
              </a:defRPr>
            </a:pPr>
            <a:r>
              <a:t>Threshold: A cutoff value to decide "on line" vs. "off line"</a:t>
            </a:r>
          </a:p>
          <a:p>
            <a:pPr>
              <a:spcBef>
                <a:spcPts val="400"/>
              </a:spcBef>
              <a:defRPr sz="400"/>
            </a:pPr>
            <a:endParaRPr/>
          </a:p>
          <a:p>
            <a:pPr>
              <a:spcBef>
                <a:spcPts val="400"/>
              </a:spcBef>
              <a:defRPr sz="2000" b="1">
                <a:solidFill>
                  <a:srgbClr val="1B3A5C"/>
                </a:solidFill>
              </a:defRPr>
            </a:pPr>
            <a:r>
              <a:t>Example:</a:t>
            </a:r>
          </a:p>
          <a:p>
            <a:pPr>
              <a:spcBef>
                <a:spcPts val="400"/>
              </a:spcBef>
              <a:defRPr sz="1700"/>
            </a:pPr>
            <a:r>
              <a:t>Off line readings: 0.1, 0.2, 0.15, 0.25</a:t>
            </a:r>
          </a:p>
          <a:p>
            <a:pPr>
              <a:spcBef>
                <a:spcPts val="400"/>
              </a:spcBef>
              <a:defRPr sz="1700"/>
            </a:pPr>
            <a:r>
              <a:t>On line readings: 0.75, 0.8, 0.85, 0.9</a:t>
            </a:r>
          </a:p>
          <a:p>
            <a:pPr>
              <a:spcBef>
                <a:spcPts val="400"/>
              </a:spcBef>
              <a:defRPr sz="1700"/>
            </a:pPr>
            <a:r>
              <a:t>Threshold = 0.5 (halfway between)</a:t>
            </a:r>
          </a:p>
          <a:p>
            <a:pPr>
              <a:spcBef>
                <a:spcPts val="400"/>
              </a:spcBef>
              <a:defRPr sz="400"/>
            </a:pPr>
            <a:endParaRPr/>
          </a:p>
          <a:p>
            <a:pPr>
              <a:spcBef>
                <a:spcPts val="400"/>
              </a:spcBef>
              <a:defRPr sz="2000" b="1">
                <a:solidFill>
                  <a:srgbClr val="1B3A5C"/>
                </a:solidFill>
              </a:defRPr>
            </a:pPr>
            <a:r>
              <a:t>Rule: If sensor &gt; threshold → on the line. If sensor &lt; threshold → off the line.</a:t>
            </a:r>
          </a:p>
          <a:p>
            <a:pPr>
              <a:spcBef>
                <a:spcPts val="400"/>
              </a:spcBef>
              <a:defRPr sz="400"/>
            </a:pPr>
            <a:endParaRPr/>
          </a:p>
          <a:p>
            <a:pPr>
              <a:spcBef>
                <a:spcPts val="400"/>
              </a:spcBef>
              <a:defRPr sz="2000" b="1">
                <a:solidFill>
                  <a:srgbClr val="1B3A5C"/>
                </a:solidFill>
              </a:defRPr>
            </a:pPr>
            <a:r>
              <a:t>Important: The threshold depends on YOUR surface and tape. Calibrate!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6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Calibration Exercise</a:t>
            </a:r>
          </a:p>
        </p:txBody>
      </p:sp>
      <p:sp>
        <p:nvSpPr>
          <p:cNvPr id="137" name="TextBox 3"/>
          <p:cNvSpPr txBox="1"/>
          <p:nvPr/>
        </p:nvSpPr>
        <p:spPr>
          <a:xfrm>
            <a:off x="594360" y="1371599"/>
            <a:ext cx="10881361" cy="2799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sz="2000" b="1">
                <a:solidFill>
                  <a:srgbClr val="1B3A5C"/>
                </a:solidFill>
              </a:defRPr>
            </a:pPr>
            <a:r>
              <a:t>Your task:</a:t>
            </a:r>
          </a:p>
          <a:p>
            <a:pPr>
              <a:spcBef>
                <a:spcPts val="400"/>
              </a:spcBef>
              <a:defRPr sz="1700"/>
            </a:pPr>
            <a:r>
              <a:t>Place robot on WHITE surface → record sensor values</a:t>
            </a:r>
          </a:p>
          <a:p>
            <a:pPr>
              <a:spcBef>
                <a:spcPts val="400"/>
              </a:spcBef>
              <a:defRPr sz="1700"/>
            </a:pPr>
            <a:r>
              <a:t>Place robot on BLACK line → record sensor values</a:t>
            </a:r>
          </a:p>
          <a:p>
            <a:pPr>
              <a:spcBef>
                <a:spcPts val="400"/>
              </a:spcBef>
              <a:defRPr sz="1700"/>
            </a:pPr>
            <a:r>
              <a:t>Place robot on EDGE of line → record sensor values</a:t>
            </a:r>
          </a:p>
          <a:p>
            <a:pPr>
              <a:spcBef>
                <a:spcPts val="400"/>
              </a:spcBef>
              <a:defRPr sz="1700"/>
            </a:pPr>
            <a:r>
              <a:t>Calculate your threshold (halfway between off-line and on-line averages)</a:t>
            </a:r>
          </a:p>
          <a:p>
            <a:pPr>
              <a:spcBef>
                <a:spcPts val="400"/>
              </a:spcBef>
              <a:defRPr sz="400"/>
            </a:pPr>
            <a:endParaRPr/>
          </a:p>
          <a:p>
            <a:pPr>
              <a:spcBef>
                <a:spcPts val="400"/>
              </a:spcBef>
              <a:defRPr sz="1700"/>
            </a:pPr>
            <a:r>
              <a:t>Why calibrate? Different surfaces, tape colors, and lighting conditions give different values.</a:t>
            </a:r>
          </a:p>
          <a:p>
            <a:pPr>
              <a:spcBef>
                <a:spcPts val="400"/>
              </a:spcBef>
              <a:defRPr sz="400"/>
            </a:pPr>
            <a:endParaRPr/>
          </a:p>
          <a:p>
            <a:pPr>
              <a:spcBef>
                <a:spcPts val="400"/>
              </a:spcBef>
              <a:defRPr sz="1700"/>
            </a:pPr>
            <a:r>
              <a:t>Save your threshold! You'll use it for the rest of Module 2.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0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Your Turn!</a:t>
            </a:r>
          </a:p>
        </p:txBody>
      </p:sp>
      <p:sp>
        <p:nvSpPr>
          <p:cNvPr id="141" name="TextBox 3"/>
          <p:cNvSpPr txBox="1"/>
          <p:nvPr/>
        </p:nvSpPr>
        <p:spPr>
          <a:xfrm>
            <a:off x="594360" y="1371599"/>
            <a:ext cx="10881361" cy="3675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sz="2000" b="1">
                <a:solidFill>
                  <a:srgbClr val="1B3A5C"/>
                </a:solidFill>
              </a:defRPr>
            </a:pPr>
            <a:r>
              <a:t>Activity:</a:t>
            </a:r>
          </a:p>
          <a:p>
            <a:pPr>
              <a:spcBef>
                <a:spcPts val="400"/>
              </a:spcBef>
              <a:defRPr sz="1700"/>
            </a:pPr>
            <a:r>
              <a:t>Create sensor_test.py</a:t>
            </a:r>
          </a:p>
          <a:p>
            <a:pPr>
              <a:spcBef>
                <a:spcPts val="400"/>
              </a:spcBef>
              <a:defRPr sz="1700"/>
            </a:pPr>
            <a:r>
              <a:t>Write the continuous reading program</a:t>
            </a:r>
          </a:p>
          <a:p>
            <a:pPr>
              <a:spcBef>
                <a:spcPts val="400"/>
              </a:spcBef>
              <a:defRPr sz="1700"/>
            </a:pPr>
            <a:r>
              <a:t>Collect calibration data for 3 positions</a:t>
            </a:r>
          </a:p>
          <a:p>
            <a:pPr>
              <a:spcBef>
                <a:spcPts val="400"/>
              </a:spcBef>
              <a:defRPr sz="1700"/>
            </a:pPr>
            <a:r>
              <a:t>Record in your worksheet</a:t>
            </a:r>
          </a:p>
          <a:p>
            <a:pPr>
              <a:spcBef>
                <a:spcPts val="400"/>
              </a:spcBef>
              <a:defRPr sz="1700"/>
            </a:pPr>
            <a:r>
              <a:t>Determine your threshold value</a:t>
            </a:r>
          </a:p>
          <a:p>
            <a:pPr>
              <a:spcBef>
                <a:spcPts val="400"/>
              </a:spcBef>
              <a:defRPr sz="400"/>
            </a:pPr>
            <a:endParaRPr/>
          </a:p>
          <a:p>
            <a:pPr>
              <a:spcBef>
                <a:spcPts val="400"/>
              </a:spcBef>
              <a:defRPr sz="2000" b="1">
                <a:solidFill>
                  <a:srgbClr val="1B3A5C"/>
                </a:solidFill>
              </a:defRPr>
            </a:pPr>
            <a:r>
              <a:t>Checkpoints:</a:t>
            </a:r>
          </a:p>
          <a:p>
            <a:pPr>
              <a:spcBef>
                <a:spcPts val="400"/>
              </a:spcBef>
              <a:defRPr sz="1700"/>
            </a:pPr>
            <a:r>
              <a:t>Can you read sensor values?</a:t>
            </a:r>
          </a:p>
          <a:p>
            <a:pPr>
              <a:spcBef>
                <a:spcPts val="400"/>
              </a:spcBef>
              <a:defRPr sz="1700"/>
            </a:pPr>
            <a:r>
              <a:t>Do white and black give different numbers?</a:t>
            </a:r>
          </a:p>
          <a:p>
            <a:pPr>
              <a:spcBef>
                <a:spcPts val="400"/>
              </a:spcBef>
              <a:defRPr sz="1700"/>
            </a:pPr>
            <a:r>
              <a:t>Did you find a good threshold?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4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Connection to Next Lesson</a:t>
            </a:r>
          </a:p>
        </p:txBody>
      </p:sp>
      <p:sp>
        <p:nvSpPr>
          <p:cNvPr id="145" name="TextBox 3"/>
          <p:cNvSpPr txBox="1"/>
          <p:nvPr/>
        </p:nvSpPr>
        <p:spPr>
          <a:xfrm>
            <a:off x="594360" y="1371599"/>
            <a:ext cx="10881361" cy="3184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sz="2000" b="1">
                <a:solidFill>
                  <a:srgbClr val="1B3A5C"/>
                </a:solidFill>
              </a:defRPr>
            </a:pPr>
            <a:r>
              <a:t>What you did today:</a:t>
            </a:r>
          </a:p>
          <a:p>
            <a:pPr>
              <a:spcBef>
                <a:spcPts val="400"/>
              </a:spcBef>
              <a:defRPr sz="1700"/>
            </a:pPr>
            <a:r>
              <a:t>Learned how reflectance sensors work</a:t>
            </a:r>
          </a:p>
          <a:p>
            <a:pPr>
              <a:spcBef>
                <a:spcPts val="400"/>
              </a:spcBef>
              <a:defRPr sz="1700"/>
            </a:pPr>
            <a:r>
              <a:t>Read sensor values in Python</a:t>
            </a:r>
          </a:p>
          <a:p>
            <a:pPr>
              <a:spcBef>
                <a:spcPts val="400"/>
              </a:spcBef>
              <a:defRPr sz="1700"/>
            </a:pPr>
            <a:r>
              <a:t>Calibrated your sensors and chose a threshold</a:t>
            </a:r>
          </a:p>
          <a:p>
            <a:pPr>
              <a:spcBef>
                <a:spcPts val="400"/>
              </a:spcBef>
              <a:defRPr sz="400"/>
            </a:pPr>
            <a:endParaRPr/>
          </a:p>
          <a:p>
            <a:pPr>
              <a:spcBef>
                <a:spcPts val="400"/>
              </a:spcBef>
              <a:defRPr sz="2000" b="1">
                <a:solidFill>
                  <a:srgbClr val="1B3A5C"/>
                </a:solidFill>
              </a:defRPr>
            </a:pPr>
            <a:r>
              <a:t>Next lesson (Lesson 2):</a:t>
            </a:r>
          </a:p>
          <a:p>
            <a:pPr>
              <a:spcBef>
                <a:spcPts val="400"/>
              </a:spcBef>
              <a:defRPr sz="1700"/>
            </a:pPr>
            <a:r>
              <a:t>Use a while loop to keep the robot driving</a:t>
            </a:r>
          </a:p>
          <a:p>
            <a:pPr>
              <a:spcBef>
                <a:spcPts val="400"/>
              </a:spcBef>
              <a:defRPr sz="1700"/>
            </a:pPr>
            <a:r>
              <a:t>Stop when the sensor detects the line</a:t>
            </a:r>
          </a:p>
          <a:p>
            <a:pPr>
              <a:spcBef>
                <a:spcPts val="400"/>
              </a:spcBef>
              <a:defRPr sz="1700"/>
            </a:pPr>
            <a:r>
              <a:t>First time the robot uses sensors to control its behavior!</a:t>
            </a:r>
          </a:p>
          <a:p>
            <a:pPr>
              <a:spcBef>
                <a:spcPts val="400"/>
              </a:spcBef>
              <a:defRPr sz="400"/>
            </a:pPr>
            <a:endParaRPr/>
          </a:p>
          <a:p>
            <a:pPr>
              <a:spcBef>
                <a:spcPts val="400"/>
              </a:spcBef>
              <a:defRPr sz="2000" b="1">
                <a:solidFill>
                  <a:srgbClr val="1B3A5C"/>
                </a:solidFill>
              </a:defRPr>
            </a:pPr>
            <a:r>
              <a:t>Save your calibration data — you'll need it!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751</Words>
  <Application>Microsoft Macintosh PowerPoint</Application>
  <PresentationFormat>Custom</PresentationFormat>
  <Paragraphs>117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Miller, Bradley</cp:lastModifiedBy>
  <cp:revision>1</cp:revision>
  <dcterms:modified xsi:type="dcterms:W3CDTF">2026-09-06T18:48:58Z</dcterms:modified>
</cp:coreProperties>
</file>