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594360" y="457200"/>
            <a:ext cx="1088136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594360" y="109728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Proportional Control Review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594360" y="2926079"/>
            <a:ext cx="10881361" cy="64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Before we move on, let's make sure we REALLY understand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what proportional control is doing — not just the code, but the idea.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2"/>
          <p:cNvSpPr txBox="1"/>
          <p:nvPr/>
        </p:nvSpPr>
        <p:spPr>
          <a:xfrm>
            <a:off x="594360" y="109727"/>
            <a:ext cx="3556755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Shower Analogy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594360" y="822960"/>
            <a:ext cx="108813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333333"/>
                </a:solidFill>
              </a:defRPr>
            </a:lvl1pPr>
          </a:lstStyle>
          <a:p>
            <a:pPr/>
            <a:r>
              <a:t>Proportional control is something you already do every day.</a:t>
            </a:r>
          </a:p>
        </p:txBody>
      </p:sp>
      <p:graphicFrame>
        <p:nvGraphicFramePr>
          <p:cNvPr id="102" name="Table 4"/>
          <p:cNvGraphicFramePr/>
          <p:nvPr/>
        </p:nvGraphicFramePr>
        <p:xfrm>
          <a:off x="548640" y="1371600"/>
          <a:ext cx="10515601" cy="21945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How you feel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What you do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Water is WAY too cold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Very uncomfortable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Turn knob a LOT toward hot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Water is a little too cold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Slightly uncomfortable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Turn knob a LITTLE toward hot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Water is just right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Comfortable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Do nothing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Water is a little too hot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Slightly uncomfortable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Turn knob a LITTLE toward cold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Water is WAY too hot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Very uncomfortable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Turn knob a LOT toward cold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03" name="TextBox 5"/>
          <p:cNvSpPr txBox="1"/>
          <p:nvPr/>
        </p:nvSpPr>
        <p:spPr>
          <a:xfrm>
            <a:off x="594360" y="4114800"/>
            <a:ext cx="10881361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1B3A5C"/>
                </a:solidFill>
              </a:defRPr>
            </a:pPr>
            <a:r>
              <a:t>The key idea:  How much you turn the knob depends on how far off the temperature is.</a:t>
            </a:r>
          </a:p>
          <a:p>
            <a:pPr>
              <a:defRPr b="1">
                <a:solidFill>
                  <a:srgbClr val="1B3A5C"/>
                </a:solidFill>
              </a:defRPr>
            </a:pPr>
            <a:r>
              <a:t>A little off?  Small adjustment.     Way off?  Big adjustment.</a:t>
            </a:r>
          </a:p>
          <a:p>
            <a:pPr>
              <a:defRPr b="1">
                <a:solidFill>
                  <a:srgbClr val="1B3A5C"/>
                </a:solidFill>
              </a:defRPr>
            </a:pPr>
            <a:r>
              <a:t>That is proportional control.  The response is PROPORTIONAL to the error.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2"/>
          <p:cNvSpPr txBox="1"/>
          <p:nvPr/>
        </p:nvSpPr>
        <p:spPr>
          <a:xfrm>
            <a:off x="594360" y="109727"/>
            <a:ext cx="628487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Same Idea, Applied to the Robot</a:t>
            </a:r>
          </a:p>
        </p:txBody>
      </p:sp>
      <p:grpSp>
        <p:nvGrpSpPr>
          <p:cNvPr id="109" name="Rounded Rectangle 3"/>
          <p:cNvGrpSpPr/>
          <p:nvPr/>
        </p:nvGrpSpPr>
        <p:grpSpPr>
          <a:xfrm>
            <a:off x="548640" y="914400"/>
            <a:ext cx="10058401" cy="1391920"/>
            <a:chOff x="0" y="0"/>
            <a:chExt cx="10058400" cy="1391919"/>
          </a:xfrm>
        </p:grpSpPr>
        <p:sp>
          <p:nvSpPr>
            <p:cNvPr id="107" name="Rounded Rectangle"/>
            <p:cNvSpPr/>
            <p:nvPr/>
          </p:nvSpPr>
          <p:spPr>
            <a:xfrm>
              <a:off x="0" y="0"/>
              <a:ext cx="10058400" cy="139192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8" name="White surface              LINE              White surface…"/>
            <p:cNvSpPr txBox="1"/>
            <p:nvPr/>
          </p:nvSpPr>
          <p:spPr>
            <a:xfrm>
              <a:off x="1463734" y="196850"/>
              <a:ext cx="7176652" cy="1043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White surface              LINE              White surface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A         B         C         D         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(far       (a bit    (on the   (a bit    (far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left)       left)     edge)    right)    right)</a:t>
              </a:r>
            </a:p>
          </p:txBody>
        </p:sp>
      </p:grpSp>
      <p:graphicFrame>
        <p:nvGraphicFramePr>
          <p:cNvPr id="110" name="Table 4"/>
          <p:cNvGraphicFramePr/>
          <p:nvPr/>
        </p:nvGraphicFramePr>
        <p:xfrm>
          <a:off x="548640" y="2926079"/>
          <a:ext cx="10515601" cy="20848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Sensor reads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How far off?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Robot does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A  (far left of line)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Very far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Steer HARD toward line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B  (a little left)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A little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Steer gently toward line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C  (on the edge)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Perfect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Drive straight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D  (a little right)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A little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Steer gently away from line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E  (far right of line)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Very far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Steer HARD away from line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11" name="TextBox 5"/>
          <p:cNvSpPr txBox="1"/>
          <p:nvPr/>
        </p:nvSpPr>
        <p:spPr>
          <a:xfrm>
            <a:off x="594360" y="548640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Same principle as the shower:  bigger error = bigger correction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2"/>
          <p:cNvSpPr txBox="1"/>
          <p:nvPr/>
        </p:nvSpPr>
        <p:spPr>
          <a:xfrm>
            <a:off x="594360" y="109727"/>
            <a:ext cx="286381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What is "Error"?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594360" y="822960"/>
            <a:ext cx="108813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333333"/>
                </a:solidFill>
              </a:defRPr>
            </a:lvl1pPr>
          </a:lstStyle>
          <a:p>
            <a:pPr/>
            <a:r>
              <a:t>Error = how far am I from where I want to be?</a:t>
            </a:r>
          </a:p>
        </p:txBody>
      </p:sp>
      <p:grpSp>
        <p:nvGrpSpPr>
          <p:cNvPr id="118" name="Rounded Rectangle 4"/>
          <p:cNvGrpSpPr/>
          <p:nvPr/>
        </p:nvGrpSpPr>
        <p:grpSpPr>
          <a:xfrm>
            <a:off x="548640" y="1371600"/>
            <a:ext cx="7315201" cy="609600"/>
            <a:chOff x="0" y="0"/>
            <a:chExt cx="7315200" cy="6096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7315200" cy="6096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error = setpoint - sensor_reading"/>
            <p:cNvSpPr txBox="1"/>
            <p:nvPr/>
          </p:nvSpPr>
          <p:spPr>
            <a:xfrm>
              <a:off x="1113380" y="135890"/>
              <a:ext cx="5134160" cy="383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spcBef>
                  <a:spcPts val="100"/>
                </a:spcBef>
                <a:defRPr sz="2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error = setpoint - sensor_reading</a:t>
              </a:r>
            </a:p>
          </p:txBody>
        </p:sp>
      </p:grpSp>
      <p:grpSp>
        <p:nvGrpSpPr>
          <p:cNvPr id="121" name="Rounded Rectangle 5"/>
          <p:cNvGrpSpPr/>
          <p:nvPr/>
        </p:nvGrpSpPr>
        <p:grpSpPr>
          <a:xfrm>
            <a:off x="548640" y="2286000"/>
            <a:ext cx="10058401" cy="2120900"/>
            <a:chOff x="0" y="0"/>
            <a:chExt cx="10058400" cy="21209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10058400" cy="21209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0.0       0.2       0.4    0.5    0.6       0.8       1.0…"/>
            <p:cNvSpPr txBox="1"/>
            <p:nvPr/>
          </p:nvSpPr>
          <p:spPr>
            <a:xfrm>
              <a:off x="770201" y="243839"/>
              <a:ext cx="8563718" cy="167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0.0       0.2       0.4    0.5    0.6       0.8       1.0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|——white----|---------|---*---|---------|----black------|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                    setpoint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Sensor reads 0.2:  error = 0.5 - 0.2 = +0.3   (steer toward line --&gt;)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Sensor reads 0.5:  error = 0.5 - 0.5 =  0.0   (perfect, go straight)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Sensor reads 0.8:  error = 0.5 - 0.8 = -0.3   (&lt;-- steer away from line)</a:t>
              </a:r>
            </a:p>
          </p:txBody>
        </p:sp>
      </p:grpSp>
      <p:sp>
        <p:nvSpPr>
          <p:cNvPr id="122" name="TextBox 6"/>
          <p:cNvSpPr txBox="1"/>
          <p:nvPr/>
        </p:nvSpPr>
        <p:spPr>
          <a:xfrm>
            <a:off x="594360" y="5029199"/>
            <a:ext cx="10881361" cy="675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>
                <a:solidFill>
                  <a:srgbClr val="333333"/>
                </a:solidFill>
              </a:defRPr>
            </a:pPr>
            <a:r>
              <a:t>  •  The SIGN  (+/-)  tells you WHICH DIRECTION to steer</a:t>
            </a:r>
          </a:p>
          <a:p>
            <a:pPr>
              <a:spcBef>
                <a:spcPts val="400"/>
              </a:spcBef>
              <a:defRPr b="1">
                <a:solidFill>
                  <a:srgbClr val="333333"/>
                </a:solidFill>
              </a:defRPr>
            </a:pPr>
            <a:r>
              <a:t>  •  The SIZE  (big/small)  tells you HOW MUCH to steer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2"/>
          <p:cNvSpPr txBox="1"/>
          <p:nvPr/>
        </p:nvSpPr>
        <p:spPr>
          <a:xfrm>
            <a:off x="594360" y="109727"/>
            <a:ext cx="209823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What is Kp?</a:t>
            </a:r>
          </a:p>
        </p:txBody>
      </p:sp>
      <p:sp>
        <p:nvSpPr>
          <p:cNvPr id="126" name="TextBox 3"/>
          <p:cNvSpPr txBox="1"/>
          <p:nvPr/>
        </p:nvSpPr>
        <p:spPr>
          <a:xfrm>
            <a:off x="594360" y="82296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pPr/>
            <a:r>
              <a:t>Kp controls how aggressively the robot reacts.  Think of Kp as the robot's personality:</a:t>
            </a:r>
          </a:p>
        </p:txBody>
      </p:sp>
      <p:graphicFrame>
        <p:nvGraphicFramePr>
          <p:cNvPr id="127" name="Table 4"/>
          <p:cNvGraphicFramePr/>
          <p:nvPr/>
        </p:nvGraphicFramePr>
        <p:xfrm>
          <a:off x="548640" y="1371600"/>
          <a:ext cx="10515601" cy="16459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Kp value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Personality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Low  (0.1)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😴  </a:t>
                      </a:r>
                      <a:r>
                        <a:t>"Lazy robot"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Barely reacts, drifts off the line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Medium  (0.5)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🙂  </a:t>
                      </a:r>
                      <a:r>
                        <a:t>"Calm robot"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Smooth, steady corrections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High  (2.0)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😰  </a:t>
                      </a:r>
                      <a:r>
                        <a:t>"Nervous robot"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Overreacts, zigzags wildly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pSp>
        <p:nvGrpSpPr>
          <p:cNvPr id="130" name="Rounded Rectangle 5"/>
          <p:cNvGrpSpPr/>
          <p:nvPr/>
        </p:nvGrpSpPr>
        <p:grpSpPr>
          <a:xfrm>
            <a:off x="2986124" y="3633216"/>
            <a:ext cx="5486401" cy="609601"/>
            <a:chOff x="0" y="0"/>
            <a:chExt cx="5486400" cy="609600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5486400" cy="6096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correction = error * Kp"/>
            <p:cNvSpPr txBox="1"/>
            <p:nvPr/>
          </p:nvSpPr>
          <p:spPr>
            <a:xfrm>
              <a:off x="961104" y="135890"/>
              <a:ext cx="3609912" cy="383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spcBef>
                  <a:spcPts val="100"/>
                </a:spcBef>
                <a:defRPr sz="2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correction = error * Kp</a:t>
              </a:r>
            </a:p>
          </p:txBody>
        </p:sp>
      </p:grpSp>
      <p:sp>
        <p:nvSpPr>
          <p:cNvPr id="131" name="TextBox 6"/>
          <p:cNvSpPr txBox="1"/>
          <p:nvPr/>
        </p:nvSpPr>
        <p:spPr>
          <a:xfrm>
            <a:off x="594360" y="3840479"/>
            <a:ext cx="1088136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Same error, different Kp:</a:t>
            </a:r>
          </a:p>
        </p:txBody>
      </p:sp>
      <p:graphicFrame>
        <p:nvGraphicFramePr>
          <p:cNvPr id="132" name="Table 7"/>
          <p:cNvGraphicFramePr/>
          <p:nvPr/>
        </p:nvGraphicFramePr>
        <p:xfrm>
          <a:off x="548640" y="4297679"/>
          <a:ext cx="10515601" cy="104241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Kp = 0.1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Kp = 0.5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Kp = 2.0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+0.3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0.03  (tiny steer)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0.15  (moderate)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0.60  (HUGE steer)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-0.3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-0.03  (tiny steer)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-0.15  (moderate)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333333"/>
                          </a:solidFill>
                        </a:rPr>
                        <a:t>-0.60  (HUGE steer)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33" name="TextBox 8"/>
          <p:cNvSpPr txBox="1"/>
          <p:nvPr/>
        </p:nvSpPr>
        <p:spPr>
          <a:xfrm>
            <a:off x="594360" y="5394959"/>
            <a:ext cx="108813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Kp is a volume knob for the correction.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"/>
          <p:cNvSpPr txBox="1"/>
          <p:nvPr/>
        </p:nvSpPr>
        <p:spPr>
          <a:xfrm>
            <a:off x="594360" y="109727"/>
            <a:ext cx="672818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What Does This Look Like on the Track?</a:t>
            </a:r>
          </a:p>
        </p:txBody>
      </p:sp>
      <p:sp>
        <p:nvSpPr>
          <p:cNvPr id="137" name="TextBox 3"/>
          <p:cNvSpPr txBox="1"/>
          <p:nvPr/>
        </p:nvSpPr>
        <p:spPr>
          <a:xfrm>
            <a:off x="594360" y="1005839"/>
            <a:ext cx="1088136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B3A5C"/>
                </a:solidFill>
              </a:defRPr>
            </a:lvl1pPr>
          </a:lstStyle>
          <a:p>
            <a:pPr/>
            <a:r>
              <a:t>Kp too low (0.1)  —  "Lazy robot"</a:t>
            </a:r>
          </a:p>
        </p:txBody>
      </p:sp>
      <p:grpSp>
        <p:nvGrpSpPr>
          <p:cNvPr id="140" name="Rounded Rectangle 4"/>
          <p:cNvGrpSpPr/>
          <p:nvPr/>
        </p:nvGrpSpPr>
        <p:grpSpPr>
          <a:xfrm>
            <a:off x="548640" y="1325880"/>
            <a:ext cx="7315201" cy="947420"/>
            <a:chOff x="0" y="0"/>
            <a:chExt cx="7315200" cy="947419"/>
          </a:xfrm>
        </p:grpSpPr>
        <p:sp>
          <p:nvSpPr>
            <p:cNvPr id="138" name="Rounded Rectangle"/>
            <p:cNvSpPr/>
            <p:nvPr/>
          </p:nvSpPr>
          <p:spPr>
            <a:xfrm>
              <a:off x="0" y="0"/>
              <a:ext cx="7315200" cy="94742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9" name="Line:   ~~~~~~~~~~~~~~~~~~~~~~~~~~~~…"/>
            <p:cNvSpPr txBox="1"/>
            <p:nvPr/>
          </p:nvSpPr>
          <p:spPr>
            <a:xfrm>
              <a:off x="1448715" y="152399"/>
              <a:ext cx="4463490" cy="688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Line:   ~~~~~~~~~~~~~~~~~~~~~~~~~~~~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Robot:  ~~~~~~~~~~~~~~~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            ~~~~~~~  (drifts off)</a:t>
              </a:r>
            </a:p>
          </p:txBody>
        </p:sp>
      </p:grpSp>
      <p:sp>
        <p:nvSpPr>
          <p:cNvPr id="141" name="TextBox 5"/>
          <p:cNvSpPr txBox="1"/>
          <p:nvPr/>
        </p:nvSpPr>
        <p:spPr>
          <a:xfrm>
            <a:off x="8275319" y="1371600"/>
            <a:ext cx="310896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Robot reacts too slowly, drifts off on curves</a:t>
            </a:r>
          </a:p>
        </p:txBody>
      </p:sp>
      <p:sp>
        <p:nvSpPr>
          <p:cNvPr id="142" name="TextBox 6"/>
          <p:cNvSpPr txBox="1"/>
          <p:nvPr/>
        </p:nvSpPr>
        <p:spPr>
          <a:xfrm>
            <a:off x="594360" y="2514600"/>
            <a:ext cx="10881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B3A5C"/>
                </a:solidFill>
              </a:defRPr>
            </a:lvl1pPr>
          </a:lstStyle>
          <a:p>
            <a:pPr/>
            <a:r>
              <a:t>Kp just right (0.5)  —  "Calm robot"</a:t>
            </a:r>
          </a:p>
        </p:txBody>
      </p:sp>
      <p:grpSp>
        <p:nvGrpSpPr>
          <p:cNvPr id="145" name="Rounded Rectangle 7"/>
          <p:cNvGrpSpPr/>
          <p:nvPr/>
        </p:nvGrpSpPr>
        <p:grpSpPr>
          <a:xfrm>
            <a:off x="548640" y="2834639"/>
            <a:ext cx="7315201" cy="716281"/>
            <a:chOff x="0" y="0"/>
            <a:chExt cx="7315200" cy="716280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7315200" cy="716281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Line:   ~~~~~~~~~~~~~~~~~~~~~~~~~~~~…"/>
            <p:cNvSpPr txBox="1"/>
            <p:nvPr/>
          </p:nvSpPr>
          <p:spPr>
            <a:xfrm>
              <a:off x="1300101" y="138429"/>
              <a:ext cx="4760718" cy="485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Line:   ~~~~~~~~~~~~~~~~~~~~~~~~~~~~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Robot:  ~~~~~~~~~~~~~~~~~~~~~~~~~~~~  (smooth!)</a:t>
              </a:r>
            </a:p>
          </p:txBody>
        </p:sp>
      </p:grpSp>
      <p:sp>
        <p:nvSpPr>
          <p:cNvPr id="146" name="TextBox 8"/>
          <p:cNvSpPr txBox="1"/>
          <p:nvPr/>
        </p:nvSpPr>
        <p:spPr>
          <a:xfrm>
            <a:off x="8275319" y="2880360"/>
            <a:ext cx="3108962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Robot follows smoothly with small adjustments</a:t>
            </a:r>
          </a:p>
        </p:txBody>
      </p:sp>
      <p:sp>
        <p:nvSpPr>
          <p:cNvPr id="147" name="TextBox 9"/>
          <p:cNvSpPr txBox="1"/>
          <p:nvPr/>
        </p:nvSpPr>
        <p:spPr>
          <a:xfrm>
            <a:off x="594360" y="4023359"/>
            <a:ext cx="10881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B3A5C"/>
                </a:solidFill>
              </a:defRPr>
            </a:lvl1pPr>
          </a:lstStyle>
          <a:p>
            <a:pPr/>
            <a:r>
              <a:t>Kp too high (2.0)  —  "Nervous robot"</a:t>
            </a:r>
          </a:p>
        </p:txBody>
      </p:sp>
      <p:grpSp>
        <p:nvGrpSpPr>
          <p:cNvPr id="150" name="Rounded Rectangle 10"/>
          <p:cNvGrpSpPr/>
          <p:nvPr/>
        </p:nvGrpSpPr>
        <p:grpSpPr>
          <a:xfrm>
            <a:off x="548640" y="4343400"/>
            <a:ext cx="7315201" cy="716281"/>
            <a:chOff x="0" y="0"/>
            <a:chExt cx="7315200" cy="716280"/>
          </a:xfrm>
        </p:grpSpPr>
        <p:sp>
          <p:nvSpPr>
            <p:cNvPr id="148" name="Rounded Rectangle"/>
            <p:cNvSpPr/>
            <p:nvPr/>
          </p:nvSpPr>
          <p:spPr>
            <a:xfrm>
              <a:off x="0" y="0"/>
              <a:ext cx="7315200" cy="716281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Line:   ~~~~~~~~~~~~~~~~~~~~~~~~~~~~…"/>
            <p:cNvSpPr txBox="1"/>
            <p:nvPr/>
          </p:nvSpPr>
          <p:spPr>
            <a:xfrm>
              <a:off x="1399177" y="138429"/>
              <a:ext cx="4562566" cy="485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Line:   ~~~~~~~~~~~~~~~~~~~~~~~~~~~~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3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Robot:  ~/\/\/\/\/\/\/\/\/\/\/\/\~  (zigzag!)</a:t>
              </a:r>
            </a:p>
          </p:txBody>
        </p:sp>
      </p:grpSp>
      <p:sp>
        <p:nvSpPr>
          <p:cNvPr id="151" name="TextBox 11"/>
          <p:cNvSpPr txBox="1"/>
          <p:nvPr/>
        </p:nvSpPr>
        <p:spPr>
          <a:xfrm>
            <a:off x="8275319" y="4389120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Robot overcorrects, oscillates wildly</a:t>
            </a:r>
          </a:p>
        </p:txBody>
      </p:sp>
      <p:sp>
        <p:nvSpPr>
          <p:cNvPr id="152" name="TextBox 12"/>
          <p:cNvSpPr txBox="1"/>
          <p:nvPr/>
        </p:nvSpPr>
        <p:spPr>
          <a:xfrm>
            <a:off x="594360" y="5577840"/>
            <a:ext cx="10881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B3A5C"/>
                </a:solidFill>
              </a:defRPr>
            </a:lvl1pPr>
          </a:lstStyle>
          <a:p>
            <a:pPr/>
            <a:r>
              <a:t>The goal of tuning: find the Kp where the robot follows smoothly without oscillating.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2"/>
          <p:cNvSpPr txBox="1"/>
          <p:nvPr/>
        </p:nvSpPr>
        <p:spPr>
          <a:xfrm>
            <a:off x="594360" y="109727"/>
            <a:ext cx="607413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Four Steps — Every Single Loop</a:t>
            </a:r>
          </a:p>
        </p:txBody>
      </p:sp>
      <p:sp>
        <p:nvSpPr>
          <p:cNvPr id="156" name="TextBox 3"/>
          <p:cNvSpPr txBox="1"/>
          <p:nvPr/>
        </p:nvSpPr>
        <p:spPr>
          <a:xfrm>
            <a:off x="594360" y="82296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pPr/>
            <a:r>
              <a:t>The control loop does the same four steps, hundreds of times per second:</a:t>
            </a:r>
          </a:p>
        </p:txBody>
      </p:sp>
      <p:grpSp>
        <p:nvGrpSpPr>
          <p:cNvPr id="159" name="Rounded Rectangle 4"/>
          <p:cNvGrpSpPr/>
          <p:nvPr/>
        </p:nvGrpSpPr>
        <p:grpSpPr>
          <a:xfrm>
            <a:off x="548640" y="1463039"/>
            <a:ext cx="10058401" cy="1676401"/>
            <a:chOff x="0" y="0"/>
            <a:chExt cx="10058400" cy="1676400"/>
          </a:xfrm>
        </p:grpSpPr>
        <p:sp>
          <p:nvSpPr>
            <p:cNvPr id="157" name="Rounded Rectangle"/>
            <p:cNvSpPr/>
            <p:nvPr/>
          </p:nvSpPr>
          <p:spPr>
            <a:xfrm>
              <a:off x="0" y="0"/>
              <a:ext cx="10058400" cy="16764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8" name="+---&gt; 1. READ SENSOR ----&gt; 2. CALCULATE ERROR ---+…"/>
            <p:cNvSpPr txBox="1"/>
            <p:nvPr/>
          </p:nvSpPr>
          <p:spPr>
            <a:xfrm>
              <a:off x="1890524" y="218439"/>
              <a:ext cx="6323073" cy="1285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+---&gt; 1. READ SENSOR ----&gt; 2. CALCULATE ERROR ---+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|       (where am I?)        (how far off?)     |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|                                               |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+--- 4. SET MOTORS &lt;---- 3. CALC CORRECTION ----+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6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(adjust steering)     (how much to fix?)</a:t>
              </a:r>
            </a:p>
          </p:txBody>
        </p:sp>
      </p:grpSp>
      <p:sp>
        <p:nvSpPr>
          <p:cNvPr id="160" name="TextBox 5"/>
          <p:cNvSpPr txBox="1"/>
          <p:nvPr/>
        </p:nvSpPr>
        <p:spPr>
          <a:xfrm>
            <a:off x="594360" y="320040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Trace it with real numbers:</a:t>
            </a:r>
          </a:p>
        </p:txBody>
      </p:sp>
      <p:grpSp>
        <p:nvGrpSpPr>
          <p:cNvPr id="163" name="Rounded Rectangle 6"/>
          <p:cNvGrpSpPr/>
          <p:nvPr/>
        </p:nvGrpSpPr>
        <p:grpSpPr>
          <a:xfrm>
            <a:off x="548640" y="3657600"/>
            <a:ext cx="10058401" cy="2120900"/>
            <a:chOff x="0" y="0"/>
            <a:chExt cx="10058400" cy="2120900"/>
          </a:xfrm>
        </p:grpSpPr>
        <p:sp>
          <p:nvSpPr>
            <p:cNvPr id="161" name="Rounded Rectangle"/>
            <p:cNvSpPr/>
            <p:nvPr/>
          </p:nvSpPr>
          <p:spPr>
            <a:xfrm>
              <a:off x="0" y="0"/>
              <a:ext cx="10058400" cy="21209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1. Read sensor:          sensor_value = 0.2…"/>
            <p:cNvSpPr txBox="1"/>
            <p:nvPr/>
          </p:nvSpPr>
          <p:spPr>
            <a:xfrm>
              <a:off x="1341794" y="243839"/>
              <a:ext cx="7420532" cy="167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1. Read sensor:          sensor_value = 0.2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2. Calculate error:      error = 0.5 - 0.2 = +0.3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3. Calculate correction: correction = 0.3 * 0.5 = 0.15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4. Set motors:           arcade(0.3, 0.15)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              --&gt; left motor  = 0.3 + 0.15 = 0.45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              --&gt; right motor = 0.3 - 0.15 = 0.15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              --&gt; robot steers right, toward the line</a:t>
              </a:r>
            </a:p>
          </p:txBody>
        </p:sp>
      </p:grpSp>
      <p:sp>
        <p:nvSpPr>
          <p:cNvPr id="164" name="TextBox 7"/>
          <p:cNvSpPr txBox="1"/>
          <p:nvPr/>
        </p:nvSpPr>
        <p:spPr>
          <a:xfrm>
            <a:off x="594360" y="5902612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Then it does it again.  And again.  And again.  Hundreds of times per second.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"/>
          <p:cNvSpPr txBox="1"/>
          <p:nvPr/>
        </p:nvSpPr>
        <p:spPr>
          <a:xfrm>
            <a:off x="594360" y="109727"/>
            <a:ext cx="377444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Let's Trace It Together</a:t>
            </a:r>
          </a:p>
        </p:txBody>
      </p:sp>
      <p:sp>
        <p:nvSpPr>
          <p:cNvPr id="168" name="TextBox 3"/>
          <p:cNvSpPr txBox="1"/>
          <p:nvPr/>
        </p:nvSpPr>
        <p:spPr>
          <a:xfrm>
            <a:off x="594360" y="822960"/>
            <a:ext cx="108813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Settings:  setpoint = 0.5     Kp = 0.5     base_effort = 0.3</a:t>
            </a:r>
          </a:p>
        </p:txBody>
      </p:sp>
      <p:graphicFrame>
        <p:nvGraphicFramePr>
          <p:cNvPr id="169" name="Table 4"/>
          <p:cNvGraphicFramePr/>
          <p:nvPr/>
        </p:nvGraphicFramePr>
        <p:xfrm>
          <a:off x="548640" y="1371600"/>
          <a:ext cx="10515601" cy="21945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error = 0.5 - 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correction = error * 0.5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Left motor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Right motor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Which way?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0.6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?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70" name="TextBox 5"/>
          <p:cNvSpPr txBox="1"/>
          <p:nvPr/>
        </p:nvSpPr>
        <p:spPr>
          <a:xfrm>
            <a:off x="594360" y="3840479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Work through each row — calculate error, correction, and motor values.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594360" y="109727"/>
            <a:ext cx="316801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Answers Revealed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594360" y="822960"/>
            <a:ext cx="108813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Settings:  setpoint = 0.5     Kp = 0.5     base_effort = 0.3</a:t>
            </a:r>
          </a:p>
        </p:txBody>
      </p:sp>
      <p:graphicFrame>
        <p:nvGraphicFramePr>
          <p:cNvPr id="175" name="Table 4"/>
          <p:cNvGraphicFramePr/>
          <p:nvPr/>
        </p:nvGraphicFramePr>
        <p:xfrm>
          <a:off x="548640" y="1371600"/>
          <a:ext cx="10515601" cy="21945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correction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Left motor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Right motor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Which way?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 0.0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 0.0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Straight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+0.3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+0.15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Steer right (toward line)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-0.3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-0.15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Steer left (away from line)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+0.4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+0.20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0.50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0.10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Steer hard right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0.6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-0.1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-0.05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0.35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333333"/>
                          </a:solidFill>
                        </a:rPr>
                        <a:t>Gentle steer left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76" name="TextBox 5"/>
          <p:cNvSpPr txBox="1"/>
          <p:nvPr/>
        </p:nvSpPr>
        <p:spPr>
          <a:xfrm>
            <a:off x="594360" y="3840479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Notice:  bigger error → bigger correction → bigger difference between motors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2"/>
          <p:cNvSpPr txBox="1"/>
          <p:nvPr/>
        </p:nvSpPr>
        <p:spPr>
          <a:xfrm>
            <a:off x="594360" y="109727"/>
            <a:ext cx="4932125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Two Sensors — Even Simpler</a:t>
            </a:r>
          </a:p>
        </p:txBody>
      </p:sp>
      <p:grpSp>
        <p:nvGrpSpPr>
          <p:cNvPr id="182" name="Rounded Rectangle 3"/>
          <p:cNvGrpSpPr/>
          <p:nvPr/>
        </p:nvGrpSpPr>
        <p:grpSpPr>
          <a:xfrm>
            <a:off x="518685" y="914400"/>
            <a:ext cx="9249630" cy="609600"/>
            <a:chOff x="0" y="0"/>
            <a:chExt cx="9249628" cy="609600"/>
          </a:xfrm>
        </p:grpSpPr>
        <p:sp>
          <p:nvSpPr>
            <p:cNvPr id="180" name="Rounded Rectangle"/>
            <p:cNvSpPr/>
            <p:nvPr/>
          </p:nvSpPr>
          <p:spPr>
            <a:xfrm>
              <a:off x="29953" y="0"/>
              <a:ext cx="9144001" cy="6096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1" name="error = left_sensor - right_sensor     # No setpoint needed!"/>
            <p:cNvSpPr txBox="1"/>
            <p:nvPr/>
          </p:nvSpPr>
          <p:spPr>
            <a:xfrm>
              <a:off x="0" y="135890"/>
              <a:ext cx="9249629" cy="383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spcBef>
                  <a:spcPts val="100"/>
                </a:spcBef>
                <a:defRPr sz="2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error = left_sensor - right_sensor     # No setpoint needed!</a:t>
              </a:r>
            </a:p>
          </p:txBody>
        </p:sp>
      </p:grpSp>
      <p:grpSp>
        <p:nvGrpSpPr>
          <p:cNvPr id="185" name="Rounded Rectangle 4"/>
          <p:cNvGrpSpPr/>
          <p:nvPr/>
        </p:nvGrpSpPr>
        <p:grpSpPr>
          <a:xfrm>
            <a:off x="548640" y="2011679"/>
            <a:ext cx="10058401" cy="1587501"/>
            <a:chOff x="0" y="0"/>
            <a:chExt cx="10058400" cy="1587500"/>
          </a:xfrm>
        </p:grpSpPr>
        <p:sp>
          <p:nvSpPr>
            <p:cNvPr id="183" name="Rounded Rectangle"/>
            <p:cNvSpPr/>
            <p:nvPr/>
          </p:nvSpPr>
          <p:spPr>
            <a:xfrm>
              <a:off x="0" y="0"/>
              <a:ext cx="10058400" cy="1587500"/>
            </a:xfrm>
            <a:prstGeom prst="roundRect">
              <a:avLst>
                <a:gd name="adj" fmla="val 16667"/>
              </a:avLst>
            </a:prstGeom>
            <a:solidFill>
              <a:srgbClr val="F0F0F0"/>
            </a:solidFill>
            <a:ln w="12700" cap="flat">
              <a:solidFill>
                <a:srgbClr val="9999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4" name="Centered:              Drifted left:           Drifted right:…"/>
            <p:cNvSpPr txBox="1"/>
            <p:nvPr/>
          </p:nvSpPr>
          <p:spPr>
            <a:xfrm>
              <a:off x="1113157" y="205739"/>
              <a:ext cx="7877806" cy="122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Centered:              Drifted left:           Drifted right: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[L]  LINE  [R]         [L]  LINE       [R]     [L]       LINE  [R]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0.5        0.5         0.8        0.2          0.2             0.8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error = 0.0            error = +0.6            error = -0.6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5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"Go straight"          "Steer left"            "Steer right"</a:t>
              </a:r>
            </a:p>
          </p:txBody>
        </p:sp>
      </p:grpSp>
      <p:sp>
        <p:nvSpPr>
          <p:cNvPr id="186" name="TextBox 5"/>
          <p:cNvSpPr txBox="1"/>
          <p:nvPr/>
        </p:nvSpPr>
        <p:spPr>
          <a:xfrm>
            <a:off x="594360" y="411480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Why two sensors are better:</a:t>
            </a:r>
          </a:p>
        </p:txBody>
      </p:sp>
      <p:sp>
        <p:nvSpPr>
          <p:cNvPr id="187" name="TextBox 6"/>
          <p:cNvSpPr txBox="1"/>
          <p:nvPr/>
        </p:nvSpPr>
        <p:spPr>
          <a:xfrm>
            <a:off x="594360" y="4571999"/>
            <a:ext cx="10881361" cy="94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333333"/>
                </a:solidFill>
              </a:defRPr>
            </a:pPr>
            <a:r>
              <a:t>  •  One sensor:  follows the EDGE of the line, can only see one side</a:t>
            </a:r>
          </a:p>
          <a:p>
            <a:pPr>
              <a:spcBef>
                <a:spcPts val="400"/>
              </a:spcBef>
              <a:defRPr sz="1700">
                <a:solidFill>
                  <a:srgbClr val="333333"/>
                </a:solidFill>
              </a:defRPr>
            </a:pPr>
            <a:r>
              <a:t>  •  Two sensors:  follows the CENTER of the line, can see BOTH sides</a:t>
            </a:r>
          </a:p>
          <a:p>
            <a:pPr>
              <a:spcBef>
                <a:spcPts val="400"/>
              </a:spcBef>
              <a:defRPr sz="1700">
                <a:solidFill>
                  <a:srgbClr val="333333"/>
                </a:solidFill>
              </a:defRPr>
            </a:pPr>
            <a:r>
              <a:t>  •  No setpoint variable needed — the difference IS the error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2"/>
          <p:cNvSpPr txBox="1"/>
          <p:nvPr/>
        </p:nvSpPr>
        <p:spPr>
          <a:xfrm>
            <a:off x="594360" y="109727"/>
            <a:ext cx="614021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Big Picture — Why This Matters</a:t>
            </a:r>
          </a:p>
        </p:txBody>
      </p:sp>
      <p:sp>
        <p:nvSpPr>
          <p:cNvPr id="191" name="TextBox 3"/>
          <p:cNvSpPr txBox="1"/>
          <p:nvPr/>
        </p:nvSpPr>
        <p:spPr>
          <a:xfrm>
            <a:off x="594360" y="82296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pPr/>
            <a:r>
              <a:t>Proportional control is not just a robotics trick.  It is everywhere:</a:t>
            </a:r>
          </a:p>
        </p:txBody>
      </p:sp>
      <p:graphicFrame>
        <p:nvGraphicFramePr>
          <p:cNvPr id="192" name="Table 4"/>
          <p:cNvGraphicFramePr/>
          <p:nvPr/>
        </p:nvGraphicFramePr>
        <p:xfrm>
          <a:off x="548640" y="1371600"/>
          <a:ext cx="10515601" cy="19202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Setpoint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Correction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Shower temperature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Desired temp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Your skin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Turn the knob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Cruise control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Set speed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Speedometer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Throttle up/down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Line-following robot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0.5 (edge)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Reflectance sensor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Steer left/right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Thermostat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72°F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Thermometer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solidFill>
                            <a:srgbClr val="333333"/>
                          </a:solidFill>
                        </a:rPr>
                        <a:t>Heat on/off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93" name="TextBox 5"/>
          <p:cNvSpPr txBox="1"/>
          <p:nvPr/>
        </p:nvSpPr>
        <p:spPr>
          <a:xfrm>
            <a:off x="594360" y="3474720"/>
            <a:ext cx="108813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The same pattern every time:</a:t>
            </a:r>
          </a:p>
        </p:txBody>
      </p:sp>
      <p:sp>
        <p:nvSpPr>
          <p:cNvPr id="194" name="TextBox 6"/>
          <p:cNvSpPr txBox="1"/>
          <p:nvPr/>
        </p:nvSpPr>
        <p:spPr>
          <a:xfrm>
            <a:off x="594360" y="3931920"/>
            <a:ext cx="10881361" cy="1051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2000">
                <a:solidFill>
                  <a:srgbClr val="333333"/>
                </a:solidFill>
              </a:defRPr>
            </a:pPr>
            <a:r>
              <a:t>  •  1.  Measure where you are</a:t>
            </a:r>
          </a:p>
          <a:p>
            <a:pPr>
              <a:spcBef>
                <a:spcPts val="400"/>
              </a:spcBef>
              <a:defRPr b="1" sz="2000">
                <a:solidFill>
                  <a:srgbClr val="333333"/>
                </a:solidFill>
              </a:defRPr>
            </a:pPr>
            <a:r>
              <a:t>  •  2.  Calculate how far off you are  (error)</a:t>
            </a:r>
          </a:p>
          <a:p>
            <a:pPr>
              <a:spcBef>
                <a:spcPts val="400"/>
              </a:spcBef>
              <a:defRPr b="1" sz="2000">
                <a:solidFill>
                  <a:srgbClr val="333333"/>
                </a:solidFill>
              </a:defRPr>
            </a:pPr>
            <a:r>
              <a:t>  •  3.  Respond proportionally</a:t>
            </a:r>
          </a:p>
        </p:txBody>
      </p:sp>
      <p:sp>
        <p:nvSpPr>
          <p:cNvPr id="195" name="TextBox 7"/>
          <p:cNvSpPr txBox="1"/>
          <p:nvPr/>
        </p:nvSpPr>
        <p:spPr>
          <a:xfrm>
            <a:off x="594360" y="5212079"/>
            <a:ext cx="1088136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1B3A5C"/>
                </a:solidFill>
              </a:defRPr>
            </a:lvl1pPr>
          </a:lstStyle>
          <a:p>
            <a:pPr/>
            <a:r>
              <a:t>You now understand one of the most important ideas in engineering.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-1" y="0"/>
            <a:ext cx="12191697" cy="6858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2"/>
          <p:cNvSpPr txBox="1"/>
          <p:nvPr/>
        </p:nvSpPr>
        <p:spPr>
          <a:xfrm>
            <a:off x="594360" y="109727"/>
            <a:ext cx="668889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Quick Check — Can You Answer These?</a:t>
            </a:r>
          </a:p>
        </p:txBody>
      </p:sp>
      <p:sp>
        <p:nvSpPr>
          <p:cNvPr id="199" name="TextBox 3"/>
          <p:cNvSpPr txBox="1"/>
          <p:nvPr/>
        </p:nvSpPr>
        <p:spPr>
          <a:xfrm>
            <a:off x="594360" y="914400"/>
            <a:ext cx="10881361" cy="372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1.  The sensor reads 0.3 and the setpoint is 0.5.  What is the error?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     Is it positive or negative?  Which way should the robot steer?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2.  Two students both have error = 0.3.  Student A uses Kp = 0.2,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     Student B uses Kp = 1.0.  Whose robot steers harder?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     Whose robot is more likely to oscillate?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3.  Your robot is zigzagging wildly.  Should you increase or decrease Kp?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4.  Your robot slowly drifts off the line on curves.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     Should you increase or decrease Kp?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5.  Why can't we use straight() and turn() for line following?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     What makes arcade() different?</a:t>
            </a:r>
          </a:p>
        </p:txBody>
      </p:sp>
      <p:sp>
        <p:nvSpPr>
          <p:cNvPr id="200" name="TextBox 4"/>
          <p:cNvSpPr txBox="1"/>
          <p:nvPr/>
        </p:nvSpPr>
        <p:spPr>
          <a:xfrm>
            <a:off x="594360" y="557784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Discuss with a partner, then we will go through them together.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