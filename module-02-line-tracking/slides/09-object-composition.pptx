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27432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77239" y="457199"/>
            <a:ext cx="2547899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A0C4E8"/>
                </a:solidFill>
              </a:defRPr>
            </a:lvl1pPr>
          </a:lstStyle>
          <a:p>
            <a:pPr/>
            <a:r>
              <a:t>Module 2: Line Tracking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77239" y="914400"/>
            <a:ext cx="8548228" cy="58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800">
                <a:solidFill>
                  <a:srgbClr val="FFFFFF"/>
                </a:solidFill>
              </a:defRPr>
            </a:lvl1pPr>
          </a:lstStyle>
          <a:p>
            <a:pPr/>
            <a:r>
              <a:t>Lesson 9: Object Composition — LineTrack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777239" y="3108960"/>
            <a:ext cx="5099992" cy="169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200">
                <a:solidFill>
                  <a:srgbClr val="1B3A5C"/>
                </a:solidFill>
              </a:defRPr>
            </a:pPr>
            <a:r>
              <a:t>Learning Objectives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Understand object composition (one class using another)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Build a LineTrack class that uses LineSensor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Create methods for line following and turning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Test classes with a simple main program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6903719" y="3108960"/>
            <a:ext cx="3399041" cy="1351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200">
                <a:solidFill>
                  <a:srgbClr val="1B3A5C"/>
                </a:solidFill>
              </a:defRPr>
            </a:pPr>
            <a:r>
              <a:t>Agenda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Object composition concept  (10 min)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Building LineTrack  (20 min)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Testing and practice  (15 min)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From Messy Code to Clean Code</a:t>
            </a:r>
          </a:p>
        </p:txBody>
      </p:sp>
      <p:sp>
        <p:nvSpPr>
          <p:cNvPr id="102" name="TextBox 3"/>
          <p:cNvSpPr txBox="1"/>
          <p:nvPr/>
        </p:nvSpPr>
        <p:spPr>
          <a:xfrm>
            <a:off x="594360" y="1188719"/>
            <a:ext cx="5394961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700">
                <a:solidFill>
                  <a:srgbClr val="1B3A5C"/>
                </a:solidFill>
              </a:defRPr>
            </a:lvl1pPr>
          </a:lstStyle>
          <a:p>
            <a:pPr/>
            <a:r>
              <a:t>Lesson 7 (50+ lines, everything mixed together):</a:t>
            </a:r>
          </a:p>
        </p:txBody>
      </p:sp>
      <p:sp>
        <p:nvSpPr>
          <p:cNvPr id="103" name="Rounded Rectangle 4"/>
          <p:cNvSpPr/>
          <p:nvPr/>
        </p:nvSpPr>
        <p:spPr>
          <a:xfrm>
            <a:off x="548640" y="1737360"/>
            <a:ext cx="5486401" cy="320040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5"/>
          <p:cNvSpPr txBox="1"/>
          <p:nvPr/>
        </p:nvSpPr>
        <p:spPr>
          <a:xfrm>
            <a:off x="777239" y="1828799"/>
            <a:ext cx="3571806" cy="2110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while True: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left  = reflectance.get_left()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right = reflectance.get_right()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left &gt; 0.5 and right &gt; 0.5: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drivetrain.stop()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drivetrain.turn(180)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time.sleep(0.3)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error = left - right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# ... more code ...</a:t>
            </a:r>
          </a:p>
        </p:txBody>
      </p:sp>
      <p:sp>
        <p:nvSpPr>
          <p:cNvPr id="105" name="TextBox 6"/>
          <p:cNvSpPr txBox="1"/>
          <p:nvPr/>
        </p:nvSpPr>
        <p:spPr>
          <a:xfrm>
            <a:off x="6629400" y="1188719"/>
            <a:ext cx="5212081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700">
                <a:solidFill>
                  <a:srgbClr val="1B3A5C"/>
                </a:solidFill>
              </a:defRPr>
            </a:lvl1pPr>
          </a:lstStyle>
          <a:p>
            <a:pPr/>
            <a:r>
              <a:t>What we want (3 lines!):</a:t>
            </a:r>
          </a:p>
        </p:txBody>
      </p:sp>
      <p:sp>
        <p:nvSpPr>
          <p:cNvPr id="106" name="Rounded Rectangle 7"/>
          <p:cNvSpPr/>
          <p:nvPr/>
        </p:nvSpPr>
        <p:spPr>
          <a:xfrm>
            <a:off x="6583680" y="1737360"/>
            <a:ext cx="5303521" cy="146304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8"/>
          <p:cNvSpPr txBox="1"/>
          <p:nvPr/>
        </p:nvSpPr>
        <p:spPr>
          <a:xfrm>
            <a:off x="6812279" y="1828799"/>
            <a:ext cx="2779197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tracker = LineTrack()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tracker.track_until_cross()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tracker.turn_right()</a:t>
            </a:r>
          </a:p>
        </p:txBody>
      </p:sp>
      <p:sp>
        <p:nvSpPr>
          <p:cNvPr id="108" name="TextBox 9"/>
          <p:cNvSpPr txBox="1"/>
          <p:nvPr/>
        </p:nvSpPr>
        <p:spPr>
          <a:xfrm>
            <a:off x="594360" y="5486399"/>
            <a:ext cx="545012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200">
                <a:solidFill>
                  <a:srgbClr val="2E75B6"/>
                </a:solidFill>
              </a:defRPr>
            </a:lvl1pPr>
          </a:lstStyle>
          <a:p>
            <a:pPr/>
            <a:r>
              <a:t>Classes hide complexity behind simple names.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What Is Object Composition?</a:t>
            </a:r>
          </a:p>
        </p:txBody>
      </p:sp>
      <p:sp>
        <p:nvSpPr>
          <p:cNvPr id="112" name="TextBox 3"/>
          <p:cNvSpPr txBox="1"/>
          <p:nvPr/>
        </p:nvSpPr>
        <p:spPr>
          <a:xfrm>
            <a:off x="594360" y="1371600"/>
            <a:ext cx="10881361" cy="4092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Composition: One class contains and uses another class’s object.</a:t>
            </a:r>
          </a:p>
          <a:p>
            <a:pPr>
              <a:spcBef>
                <a:spcPts val="600"/>
              </a:spcBef>
            </a:pPr>
            <a:endParaRPr b="1" sz="2200">
              <a:solidFill>
                <a:srgbClr val="1B3A5C"/>
              </a:solidFill>
            </a:endParaRPr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Real-world analogy: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A car HAS AN engine and HAS wheels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The car doesn’t build the engine — it uses one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The car delegates “go fast” to the engine</a:t>
            </a:r>
          </a:p>
          <a:p>
            <a:pPr>
              <a:spcBef>
                <a:spcPts val="600"/>
              </a:spcBef>
            </a:pPr>
            <a:endParaRPr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In our code: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LineTrack HAS A LineSensor and HAS A DifferentialDrive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LineTrack delegates “check sensor” to LineSensor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LineTrack.__init__()</a:t>
            </a:r>
          </a:p>
        </p:txBody>
      </p:sp>
      <p:sp>
        <p:nvSpPr>
          <p:cNvPr id="116" name="Rounded Rectangle 3"/>
          <p:cNvSpPr/>
          <p:nvPr/>
        </p:nvSpPr>
        <p:spPr>
          <a:xfrm>
            <a:off x="548640" y="1371600"/>
            <a:ext cx="10972801" cy="22860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TextBox 4"/>
          <p:cNvSpPr txBox="1"/>
          <p:nvPr/>
        </p:nvSpPr>
        <p:spPr>
          <a:xfrm>
            <a:off x="777239" y="1463039"/>
            <a:ext cx="7633927" cy="129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 LineTrack: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def __init__(self):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self.sensor     = LineSensor()       # Create a LineSensor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self.drivetrain = DifferentialDrive.get_default_differential_drive()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self.base_effort = 0.4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self.Kp          = 0.5</a:t>
            </a:r>
          </a:p>
        </p:txBody>
      </p:sp>
      <p:sp>
        <p:nvSpPr>
          <p:cNvPr id="118" name="TextBox 5"/>
          <p:cNvSpPr txBox="1"/>
          <p:nvPr/>
        </p:nvSpPr>
        <p:spPr>
          <a:xfrm>
            <a:off x="594360" y="3931920"/>
            <a:ext cx="10881361" cy="2860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self.sensor = LineSensor()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Creates a LineSensor object and stores it inside LineTrack.</a:t>
            </a:r>
          </a:p>
          <a:p>
            <a:pPr>
              <a:spcBef>
                <a:spcPts val="600"/>
              </a:spcBef>
            </a:pPr>
            <a:endParaRPr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Now LineTrack can call: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self.sensor.get_error()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self.sensor.is_at_cross()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self.sensor.is_off_line()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track_until_cross()</a:t>
            </a:r>
          </a:p>
        </p:txBody>
      </p:sp>
      <p:sp>
        <p:nvSpPr>
          <p:cNvPr id="122" name="Rounded Rectangle 3"/>
          <p:cNvSpPr/>
          <p:nvPr/>
        </p:nvSpPr>
        <p:spPr>
          <a:xfrm>
            <a:off x="548640" y="1371600"/>
            <a:ext cx="9144001" cy="27432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TextBox 4"/>
          <p:cNvSpPr txBox="1"/>
          <p:nvPr/>
        </p:nvSpPr>
        <p:spPr>
          <a:xfrm>
            <a:off x="777239" y="1463039"/>
            <a:ext cx="6147785" cy="150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track_until_cross(self):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while not self.sensor.is_at_cross():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error = self.sensor.get_error()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left  = self.base_effort - error * self.Kp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self.drivetrain.arcade(self.base_effort, -correction)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self.drivetrain.stop()</a:t>
            </a:r>
          </a:p>
        </p:txBody>
      </p:sp>
      <p:sp>
        <p:nvSpPr>
          <p:cNvPr id="124" name="TextBox 5"/>
          <p:cNvSpPr txBox="1"/>
          <p:nvPr/>
        </p:nvSpPr>
        <p:spPr>
          <a:xfrm>
            <a:off x="594360" y="4389120"/>
            <a:ext cx="10881361" cy="2111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while not self.sensor.is_at_cross():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Keep following while NOT at a cross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When cross detected → loop exits → stop</a:t>
            </a:r>
          </a:p>
          <a:p>
            <a:pPr>
              <a:spcBef>
                <a:spcPts val="600"/>
              </a:spcBef>
            </a:pPr>
            <a:endParaRPr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>
                <a:solidFill>
                  <a:srgbClr val="2E75B6"/>
                </a:solidFill>
              </a:defRPr>
            </a:pPr>
            <a:r>
              <a:t>Uses LineSensor methods for ALL sensor work.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turn_right() and turn_left()</a:t>
            </a:r>
          </a:p>
        </p:txBody>
      </p:sp>
      <p:sp>
        <p:nvSpPr>
          <p:cNvPr id="128" name="Rounded Rectangle 3"/>
          <p:cNvSpPr/>
          <p:nvPr/>
        </p:nvSpPr>
        <p:spPr>
          <a:xfrm>
            <a:off x="548640" y="1371600"/>
            <a:ext cx="8686801" cy="36576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4"/>
          <p:cNvSpPr txBox="1"/>
          <p:nvPr/>
        </p:nvSpPr>
        <p:spPr>
          <a:xfrm>
            <a:off x="777239" y="1463039"/>
            <a:ext cx="4166262" cy="190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turn_right(self):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Drive forward to clear intersection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self.drivetrain.straight(5, 0.4)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Turn right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self.drivetrain.turn(60, 0.4)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Keep turning until line is found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while self.sensor.is_off_line():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Self.drivetrain.arcade(0, 0.4)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self.drivetrain.stop()</a:t>
            </a:r>
          </a:p>
        </p:txBody>
      </p:sp>
      <p:sp>
        <p:nvSpPr>
          <p:cNvPr id="130" name="TextBox 5"/>
          <p:cNvSpPr txBox="1"/>
          <p:nvPr/>
        </p:nvSpPr>
        <p:spPr>
          <a:xfrm>
            <a:off x="594360" y="5303520"/>
            <a:ext cx="10881361" cy="993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>
                <a:solidFill>
                  <a:srgbClr val="1B3A5C"/>
                </a:solidFill>
              </a:defRPr>
            </a:pPr>
            <a:r>
              <a:t>Three phases: Clear intersection → start turning → find line again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turn_left() is the same but with opposite motor directions.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Using LineTrack in a Main Program</a:t>
            </a:r>
          </a:p>
        </p:txBody>
      </p:sp>
      <p:sp>
        <p:nvSpPr>
          <p:cNvPr id="134" name="Rounded Rectangle 3"/>
          <p:cNvSpPr/>
          <p:nvPr/>
        </p:nvSpPr>
        <p:spPr>
          <a:xfrm>
            <a:off x="548640" y="1371600"/>
            <a:ext cx="7772401" cy="41148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4"/>
          <p:cNvSpPr txBox="1"/>
          <p:nvPr/>
        </p:nvSpPr>
        <p:spPr>
          <a:xfrm>
            <a:off x="777239" y="1463039"/>
            <a:ext cx="3571806" cy="170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board   = Board.get_default_board()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tracker = LineTrack()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board.wait_for_button()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tracker.track_until_cross()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tracker.turn_right()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tracker.track_until_cross()</a:t>
            </a:r>
          </a:p>
        </p:txBody>
      </p:sp>
      <p:sp>
        <p:nvSpPr>
          <p:cNvPr id="136" name="TextBox 5"/>
          <p:cNvSpPr txBox="1"/>
          <p:nvPr/>
        </p:nvSpPr>
        <p:spPr>
          <a:xfrm>
            <a:off x="8458200" y="1371600"/>
            <a:ext cx="3474720" cy="1821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1700">
                <a:solidFill>
                  <a:srgbClr val="1B3A5C"/>
                </a:solidFill>
              </a:defRPr>
            </a:pPr>
            <a:r>
              <a:t>The main program is clean and readable.</a:t>
            </a:r>
          </a:p>
          <a:p>
            <a:pPr>
              <a:spcBef>
                <a:spcPts val="600"/>
              </a:spcBef>
            </a:pPr>
            <a:endParaRPr b="1" sz="1700">
              <a:solidFill>
                <a:srgbClr val="1B3A5C"/>
              </a:solidFill>
            </a:endParaR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All complex sensor/motor code is hidden inside the classes.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The Building Block Pattern</a:t>
            </a:r>
          </a:p>
        </p:txBody>
      </p:sp>
      <p:sp>
        <p:nvSpPr>
          <p:cNvPr id="140" name="Rounded Rectangle 3"/>
          <p:cNvSpPr/>
          <p:nvPr/>
        </p:nvSpPr>
        <p:spPr>
          <a:xfrm>
            <a:off x="1828800" y="1371600"/>
            <a:ext cx="8229600" cy="36576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4"/>
          <p:cNvSpPr txBox="1"/>
          <p:nvPr/>
        </p:nvSpPr>
        <p:spPr>
          <a:xfrm>
            <a:off x="2057399" y="1463039"/>
            <a:ext cx="5743859" cy="2517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LineSensor          DifferentialDrive</a:t>
            </a:r>
          </a:p>
          <a:p>
            <a:pPr>
              <a:spcBef>
                <a:spcPts val="100"/>
              </a:spcBef>
              <a:defRPr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\                  /</a:t>
            </a:r>
          </a:p>
          <a:p>
            <a:pPr>
              <a:spcBef>
                <a:spcPts val="100"/>
              </a:spcBef>
              <a:defRPr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\                /</a:t>
            </a:r>
          </a:p>
          <a:p>
            <a:pPr>
              <a:spcBef>
                <a:spcPts val="100"/>
              </a:spcBef>
              <a:defRPr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└───────┬───────┘</a:t>
            </a:r>
          </a:p>
          <a:p>
            <a:pPr>
              <a:spcBef>
                <a:spcPts val="100"/>
              </a:spcBef>
              <a:defRPr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↓</a:t>
            </a:r>
          </a:p>
          <a:p>
            <a:pPr>
              <a:spcBef>
                <a:spcPts val="100"/>
              </a:spcBef>
              <a:defRPr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LineTrack</a:t>
            </a:r>
          </a:p>
          <a:p>
            <a:pPr>
              <a:spcBef>
                <a:spcPts val="100"/>
              </a:spcBef>
              <a:defRPr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↓</a:t>
            </a:r>
          </a:p>
          <a:p>
            <a:pPr>
              <a:spcBef>
                <a:spcPts val="100"/>
              </a:spcBef>
              <a:defRPr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Main Program</a:t>
            </a:r>
          </a:p>
        </p:txBody>
      </p:sp>
      <p:sp>
        <p:nvSpPr>
          <p:cNvPr id="142" name="TextBox 5"/>
          <p:cNvSpPr txBox="1"/>
          <p:nvPr/>
        </p:nvSpPr>
        <p:spPr>
          <a:xfrm>
            <a:off x="594360" y="5303520"/>
            <a:ext cx="10881361" cy="1064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Each layer builds on the layer below.</a:t>
            </a:r>
          </a:p>
          <a:p>
            <a:pPr>
              <a:spcBef>
                <a:spcPts val="600"/>
              </a:spcBef>
              <a:defRPr b="1" sz="2000">
                <a:solidFill>
                  <a:srgbClr val="2E75B6"/>
                </a:solidFill>
              </a:defRPr>
            </a:pPr>
            <a:r>
              <a:t>This is how professional software is built!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Your Turn!</a:t>
            </a:r>
          </a:p>
        </p:txBody>
      </p:sp>
      <p:sp>
        <p:nvSpPr>
          <p:cNvPr id="146" name="TextBox 3"/>
          <p:cNvSpPr txBox="1"/>
          <p:nvPr/>
        </p:nvSpPr>
        <p:spPr>
          <a:xfrm>
            <a:off x="594360" y="1371600"/>
            <a:ext cx="5852161" cy="2885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Exercise 1: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Build LineTrack and test each method</a:t>
            </a:r>
          </a:p>
          <a:p>
            <a:pPr lvl="1"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track_until_cross() — does it follow and stop?</a:t>
            </a:r>
          </a:p>
          <a:p>
            <a:pPr lvl="1"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turn_right() — does it turn and find the line?</a:t>
            </a:r>
          </a:p>
          <a:p>
            <a:pPr>
              <a:spcBef>
                <a:spcPts val="600"/>
              </a:spcBef>
            </a:pPr>
            <a:endParaRPr sz="17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Exercise 2 (Challenge):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Chain multiple maneuvers</a:t>
            </a:r>
          </a:p>
        </p:txBody>
      </p:sp>
      <p:sp>
        <p:nvSpPr>
          <p:cNvPr id="147" name="Rounded Rectangle 4"/>
          <p:cNvSpPr/>
          <p:nvPr/>
        </p:nvSpPr>
        <p:spPr>
          <a:xfrm>
            <a:off x="6583680" y="2286000"/>
            <a:ext cx="5303521" cy="164592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5"/>
          <p:cNvSpPr txBox="1"/>
          <p:nvPr/>
        </p:nvSpPr>
        <p:spPr>
          <a:xfrm>
            <a:off x="6812279" y="2377439"/>
            <a:ext cx="4356793" cy="87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i in range(4):</a:t>
            </a:r>
          </a:p>
          <a:p>
            <a:pPr>
              <a:spcBef>
                <a:spcPts val="100"/>
              </a:spcBef>
              <a:defRPr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tracker.track_until_cross()</a:t>
            </a:r>
          </a:p>
          <a:p>
            <a:pPr>
              <a:spcBef>
                <a:spcPts val="100"/>
              </a:spcBef>
              <a:defRPr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tracker.turn_right()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Connection to Final Project</a:t>
            </a:r>
          </a:p>
        </p:txBody>
      </p:sp>
      <p:sp>
        <p:nvSpPr>
          <p:cNvPr id="152" name="TextBox 3"/>
          <p:cNvSpPr txBox="1"/>
          <p:nvPr/>
        </p:nvSpPr>
        <p:spPr>
          <a:xfrm>
            <a:off x="594360" y="1371600"/>
            <a:ext cx="10881361" cy="3400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You now have two reusable classes: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LineSensor — reads and interprets sensors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LineTrack — follows lines and handles intersections</a:t>
            </a:r>
          </a:p>
          <a:p>
            <a:pPr>
              <a:spcBef>
                <a:spcPts val="600"/>
              </a:spcBef>
            </a:pPr>
            <a:endParaRPr sz="20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Next (Lesson 10 — Final Project):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Follow circle → detect cross → reverse → repeat 4 times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Uses BOTH classes together</a:t>
            </a:r>
          </a:p>
          <a:p>
            <a:pPr>
              <a:spcBef>
                <a:spcPts val="600"/>
              </a:spcBef>
              <a:defRPr b="1" sz="2000">
                <a:solidFill>
                  <a:srgbClr val="2E75B6"/>
                </a:solidFill>
              </a:defRPr>
            </a:pPr>
            <a:r>
              <a:t>The capstone of Module 2!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