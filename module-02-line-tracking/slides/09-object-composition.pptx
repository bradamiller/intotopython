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2: Line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Lesson 9: Object Composition — LineTrack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Understand object composition (one class using another)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 a LineTrack class that uses LineSensor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Create methods for line following and turning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Test classes with a simple main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5029200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Object composition concept  (10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Building LineTrack  (20 min)</a:t>
            </a: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Testing and practice 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Messy Code to Clean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3A5C"/>
                </a:solidFill>
                <a:latin typeface="Calibri"/>
              </a:defRPr>
            </a:pPr>
            <a:r>
              <a:t>Lesson 7 (50+ lines, everything mixed together):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32004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3017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while True: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left  = reflectance.get_left()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right = reflectance.get_right()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if left &gt; 0.5 and right &gt; 0.5: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drivetrain.stop()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drivetrain.turn(180)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else: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error = left -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# ... more code 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1887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1B3A5C"/>
                </a:solidFill>
                <a:latin typeface="Calibri"/>
              </a:defRPr>
            </a:pPr>
            <a:r>
              <a:t>What we want (3 lines!):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737360"/>
            <a:ext cx="5303520" cy="146304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49377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48640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75B6"/>
                </a:solidFill>
                <a:latin typeface="Calibri"/>
              </a:defRPr>
            </a:pPr>
            <a:r>
              <a:t>Classes hide complexity behind simple names.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Is Object Composition?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Composition: One class contains and uses another class’s object.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Real-world analogy: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A car HAS AN engine and HAS wheels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car doesn’t build the engine — it uses one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The car delegates “go fast” to the engine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In our code: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LineTrack HAS A LineSensor and HAS A DifferentialDrive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LineTrack delegates “check sensor” to LineSensor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LineTrack.__init__()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0972800" cy="22860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class LineTrack: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def __init__(self):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self.sensor     = LineSensor()       # Create a LineSensor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self.drivetrain = DifferentialDrive.get_default_differential_drive()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self.base_effort = 0.4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self.Kp          = 0.5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self.sensor = LineSensor()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Creates a LineSensor object and stores it inside LineTrack.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Now LineTrack can call: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self.sensor.get_error()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self.sensor.is_at_cross()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self.sensor.is_off_line()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track_until_cross()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9144000" cy="27432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77824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track_until_cross(self):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not self.sensor.is_at_cross():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error = self.sensor.get_error()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left  = self.base_effort - error * self.Kp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self.drivetrain.arcade(self.base_effort, -correction)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/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self.drivetrain.stop()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while not self.sensor.is_at_cross():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Keep following while NOT at a cross</a:t>
            </a:r>
          </a:p>
          <a:p>
            <a:pPr lvl="1"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When cross detected → loop exits → stop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800" b="1">
                <a:solidFill>
                  <a:srgbClr val="2E75B6"/>
                </a:solidFill>
                <a:latin typeface="Calibri"/>
              </a:defRPr>
            </a:pPr>
            <a:r>
              <a:t>Uses LineSensor methods for ALL sensor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turn_right() and turn_left()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8686800" cy="3657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83210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def turn_right(self):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Drive forward to clear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self.drivetrain.arcade(self.base_effort, 0)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Turn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self.drivetrain.arcade(0, 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time.sleep(0.3)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# Keep turning until line is found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while self.sensor.is_off_line():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pass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self.drivetrain.stop()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Three phases: Clear intersection → start turning → find line again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turn_left() is the same but with opposite motor directions.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Using LineTrack in a Main Program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7772400" cy="41148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7406640" cy="3931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   = Board.get_default_board()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 = LineTrack()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board.wait_for_button()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print("Cross found!")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print("Turned right!")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print("Done!")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3716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1700" b="1">
                <a:solidFill>
                  <a:srgbClr val="1B3A5C"/>
                </a:solidFill>
                <a:latin typeface="Calibri"/>
              </a:defRPr>
            </a:pPr>
            <a:r>
              <a:t>The main program is clean and readable.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All complex sensor/motor code is hidden inside the classes.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Building Block Pattern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8229600" cy="365760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1463040"/>
            <a:ext cx="78638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LineSensor          DifferentialDrive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\                      /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\                    /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└───────┬───────┘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     ↓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 LineTrack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     ↓</a:t>
            </a:r>
          </a:p>
          <a:p>
            <a:pPr>
              <a:spcAft>
                <a:spcPts val="100"/>
              </a:spcAft>
              <a:defRPr sz="2000">
                <a:solidFill>
                  <a:srgbClr val="333333"/>
                </a:solidFill>
                <a:latin typeface="Courier New"/>
              </a:defRPr>
            </a:pPr>
            <a:r>
              <a:t>        Main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Each layer builds on the layer below.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This is how professional software is built!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1: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Build LineTrack and test each method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track_until_cross() — does it follow and stop?</a:t>
            </a:r>
          </a:p>
          <a:p>
            <a:pPr lvl="1">
              <a:spcAft>
                <a:spcPts val="600"/>
              </a:spcAft>
              <a:defRPr sz="1700" b="0">
                <a:solidFill>
                  <a:srgbClr val="333333"/>
                </a:solidFill>
                <a:latin typeface="Calibri"/>
              </a:defRPr>
            </a:pPr>
            <a:r>
              <a:t>turn_right() — does it turn and find the line?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Exercise 2 (Challenge):</a:t>
            </a:r>
          </a:p>
          <a:p>
            <a:pPr>
              <a:spcAft>
                <a:spcPts val="600"/>
              </a:spcAft>
              <a:defRPr sz="1800" b="0">
                <a:solidFill>
                  <a:srgbClr val="333333"/>
                </a:solidFill>
                <a:latin typeface="Calibri"/>
              </a:defRPr>
            </a:pPr>
            <a:r>
              <a:t>Chain multiple maneuvers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0" y="228600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2377440"/>
            <a:ext cx="49377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i in range(4):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You now have two reusable classes: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LineSensor — reads and interprets sensors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LineTrack — follows lines and handles intersections</a:t>
            </a:r>
          </a:p>
          <a:p>
            <a:pPr>
              <a:spcAft>
                <a:spcPts val="600"/>
              </a:spcAft>
              <a:defRPr sz="18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200" b="1">
                <a:solidFill>
                  <a:srgbClr val="1B3A5C"/>
                </a:solidFill>
                <a:latin typeface="Calibri"/>
              </a:defRPr>
            </a:pPr>
            <a:r>
              <a:t>Next (Lesson 10 — Final Project):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Follow circle → detect cross → reverse → repeat 4 times</a:t>
            </a:r>
          </a:p>
          <a:p>
            <a:pPr>
              <a:spcAft>
                <a:spcPts val="6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Uses BOTH classes together</a:t>
            </a:r>
          </a:p>
          <a:p>
            <a:pPr>
              <a:spcAft>
                <a:spcPts val="600"/>
              </a:spcAft>
              <a:defRPr sz="2000" b="1">
                <a:solidFill>
                  <a:srgbClr val="2E75B6"/>
                </a:solidFill>
                <a:latin typeface="Calibri"/>
              </a:defRPr>
            </a:pPr>
            <a:r>
              <a:t>The capstone of Module 2!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