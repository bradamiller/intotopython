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27432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457199"/>
            <a:ext cx="254789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A0C4E8"/>
                </a:solidFill>
              </a:defRPr>
            </a:lvl1pPr>
          </a:lstStyle>
          <a:p>
            <a:pPr/>
            <a:r>
              <a:t>Module 2: Line Tracking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77239" y="914400"/>
            <a:ext cx="7749938" cy="601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Lesson 2: Drive to the Edge and Stop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77239" y="3108960"/>
            <a:ext cx="4765103" cy="180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400">
                <a:solidFill>
                  <a:srgbClr val="1B3A5C"/>
                </a:solidFill>
              </a:defRPr>
            </a:pPr>
            <a:r>
              <a:t>Learning Objectives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Write while loops in Python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Use comparison operators (&lt;, &gt;, ==)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Combine sensor reading with a while loop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Program the robot to drive until a condition is met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6903719" y="3108960"/>
            <a:ext cx="3779266" cy="1437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400">
                <a:solidFill>
                  <a:srgbClr val="1B3A5C"/>
                </a:solidFill>
              </a:defRPr>
            </a:pPr>
            <a:r>
              <a:t>Agenda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while loops explained  (10 min)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Guided practice: drive to edge  (15 min)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Independent practice  (20 min)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594360" y="1371600"/>
            <a:ext cx="10881361" cy="3832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Last lesson: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We read sensor values, but the robot just sat still.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Today's goal: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Make the robot drive forward AND check the sensor continuously.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When it detects the line — stop!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Question:</a:t>
            </a:r>
          </a:p>
          <a:p>
            <a:pPr>
              <a:spcBef>
                <a:spcPts val="600"/>
              </a:spcBef>
              <a:defRPr b="1" sz="2000">
                <a:solidFill>
                  <a:srgbClr val="2E75B6"/>
                </a:solidFill>
              </a:defRPr>
            </a:pPr>
            <a:r>
              <a:t>"How do we repeat ‘drive and check’ without knowing how many times?"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for Loop vs. while Loop</a:t>
            </a:r>
          </a:p>
        </p:txBody>
      </p:sp>
      <p:sp>
        <p:nvSpPr>
          <p:cNvPr id="106" name="TextBox 3"/>
          <p:cNvSpPr txBox="1"/>
          <p:nvPr/>
        </p:nvSpPr>
        <p:spPr>
          <a:xfrm>
            <a:off x="594360" y="1280160"/>
            <a:ext cx="518077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for loop (Module 1):  Repeat a FIXED number of times</a:t>
            </a:r>
          </a:p>
        </p:txBody>
      </p:sp>
      <p:sp>
        <p:nvSpPr>
          <p:cNvPr id="107" name="Rounded Rectangle 4"/>
          <p:cNvSpPr/>
          <p:nvPr/>
        </p:nvSpPr>
        <p:spPr>
          <a:xfrm>
            <a:off x="548640" y="1828800"/>
            <a:ext cx="5486401" cy="155448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5"/>
          <p:cNvSpPr txBox="1"/>
          <p:nvPr/>
        </p:nvSpPr>
        <p:spPr>
          <a:xfrm>
            <a:off x="777239" y="1965960"/>
            <a:ext cx="4692128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i in range(4):    # Always runs 4 times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drivetrain.straight(30)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drivetrain.turn(90)</a:t>
            </a:r>
          </a:p>
        </p:txBody>
      </p:sp>
      <p:sp>
        <p:nvSpPr>
          <p:cNvPr id="109" name="TextBox 6"/>
          <p:cNvSpPr txBox="1"/>
          <p:nvPr/>
        </p:nvSpPr>
        <p:spPr>
          <a:xfrm>
            <a:off x="6446519" y="1280160"/>
            <a:ext cx="515488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while loop (NEW):  Repeat UNTIL a condition changes</a:t>
            </a:r>
          </a:p>
        </p:txBody>
      </p:sp>
      <p:sp>
        <p:nvSpPr>
          <p:cNvPr id="110" name="Rounded Rectangle 7"/>
          <p:cNvSpPr/>
          <p:nvPr/>
        </p:nvSpPr>
        <p:spPr>
          <a:xfrm>
            <a:off x="6400800" y="1828800"/>
            <a:ext cx="5486400" cy="155448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8"/>
          <p:cNvSpPr txBox="1"/>
          <p:nvPr/>
        </p:nvSpPr>
        <p:spPr>
          <a:xfrm>
            <a:off x="6629400" y="1965960"/>
            <a:ext cx="4905522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left &lt; 0.5:    # Runs until left &gt;= 0.5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drivetrain.set_effort(0.3, 0.3)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left = reflectance.get_left()</a:t>
            </a:r>
          </a:p>
        </p:txBody>
      </p:sp>
      <p:sp>
        <p:nvSpPr>
          <p:cNvPr id="112" name="TextBox 9"/>
          <p:cNvSpPr txBox="1"/>
          <p:nvPr/>
        </p:nvSpPr>
        <p:spPr>
          <a:xfrm>
            <a:off x="594360" y="3840479"/>
            <a:ext cx="1088136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2E75B6"/>
                </a:solidFill>
              </a:defRPr>
            </a:lvl1pPr>
          </a:lstStyle>
          <a:p>
            <a:pPr/>
            <a:r>
              <a:t>Key difference:  for = fixed count.     while = until something happens.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while Loop Syntax</a:t>
            </a:r>
          </a:p>
        </p:txBody>
      </p:sp>
      <p:sp>
        <p:nvSpPr>
          <p:cNvPr id="116" name="Rounded Rectangle 3"/>
          <p:cNvSpPr/>
          <p:nvPr/>
        </p:nvSpPr>
        <p:spPr>
          <a:xfrm>
            <a:off x="548640" y="1371600"/>
            <a:ext cx="6858001" cy="18288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4"/>
          <p:cNvSpPr txBox="1"/>
          <p:nvPr/>
        </p:nvSpPr>
        <p:spPr>
          <a:xfrm>
            <a:off x="777239" y="1508760"/>
            <a:ext cx="4905523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condition: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code that runs while condition is True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code stops when condition becomes False</a:t>
            </a:r>
          </a:p>
        </p:txBody>
      </p:sp>
      <p:sp>
        <p:nvSpPr>
          <p:cNvPr id="118" name="TextBox 5"/>
          <p:cNvSpPr txBox="1"/>
          <p:nvPr/>
        </p:nvSpPr>
        <p:spPr>
          <a:xfrm>
            <a:off x="594360" y="3566159"/>
            <a:ext cx="10881361" cy="1838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1B3A5C"/>
                </a:solidFill>
              </a:defRPr>
            </a:pPr>
            <a:r>
              <a:t>Rules: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Colon : after the condition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Indented body (same as for)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Condition is checked BEFORE each iteration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Loop exits when condition is False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Comparison Operators</a:t>
            </a:r>
          </a:p>
        </p:txBody>
      </p:sp>
      <p:graphicFrame>
        <p:nvGraphicFramePr>
          <p:cNvPr id="122" name="Table 3"/>
          <p:cNvGraphicFramePr/>
          <p:nvPr/>
        </p:nvGraphicFramePr>
        <p:xfrm>
          <a:off x="914400" y="1371600"/>
          <a:ext cx="10058400" cy="268833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Operator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`&lt;`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Less than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0.2 &lt; 0.5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True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`&gt;`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Greater than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0.8 &gt; 0.5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True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`==`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Equal to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4 == 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True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`!=`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Not equal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3 != 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True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`&lt;=`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Less or equal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5 &lt;= 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True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`&gt;=`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Greater or equal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0.6 &gt;= 0.5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True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23" name="TextBox 4"/>
          <p:cNvSpPr txBox="1"/>
          <p:nvPr/>
        </p:nvSpPr>
        <p:spPr>
          <a:xfrm>
            <a:off x="594360" y="4846320"/>
            <a:ext cx="108813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2E75B6"/>
                </a:solidFill>
              </a:defRPr>
            </a:lvl1pPr>
          </a:lstStyle>
          <a:p>
            <a:pPr/>
            <a:r>
              <a:t>For sensors:  left &lt; 0.5  means “sensor is on white (below threshold)”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Drive to the Edge</a:t>
            </a:r>
          </a:p>
        </p:txBody>
      </p:sp>
      <p:sp>
        <p:nvSpPr>
          <p:cNvPr id="127" name="Rounded Rectangle 3"/>
          <p:cNvSpPr/>
          <p:nvPr/>
        </p:nvSpPr>
        <p:spPr>
          <a:xfrm>
            <a:off x="548640" y="1371600"/>
            <a:ext cx="5486401" cy="41148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4"/>
          <p:cNvSpPr txBox="1"/>
          <p:nvPr/>
        </p:nvSpPr>
        <p:spPr>
          <a:xfrm>
            <a:off x="777239" y="1508760"/>
            <a:ext cx="4798825" cy="258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threshold = 0.5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board.wait_for_button()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left = reflectance.get_left()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left &lt; threshold: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drivetrain.set_effort(0.3, 0.3)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left = reflectance.get_left()  # UPDATE!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drivetrain.stop()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print("Line detected!")</a:t>
            </a:r>
          </a:p>
        </p:txBody>
      </p:sp>
      <p:sp>
        <p:nvSpPr>
          <p:cNvPr id="129" name="TextBox 5"/>
          <p:cNvSpPr txBox="1"/>
          <p:nvPr/>
        </p:nvSpPr>
        <p:spPr>
          <a:xfrm>
            <a:off x="6446519" y="1371600"/>
            <a:ext cx="5394962" cy="2085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1B3A5C"/>
                </a:solidFill>
              </a:defRPr>
            </a:pPr>
            <a:r>
              <a:t>Step by step: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1. Read sensor before entering loop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2. While on white (below threshold) → drive forward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3. Update sensor reading EVERY iteration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4. When sensor hits line (above threshold) → loop exits → stop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CRITICAL — Update Inside the Loop!</a:t>
            </a:r>
          </a:p>
        </p:txBody>
      </p:sp>
      <p:sp>
        <p:nvSpPr>
          <p:cNvPr id="133" name="TextBox 3"/>
          <p:cNvSpPr txBox="1"/>
          <p:nvPr/>
        </p:nvSpPr>
        <p:spPr>
          <a:xfrm>
            <a:off x="594360" y="1280160"/>
            <a:ext cx="1135519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177B41"/>
                </a:solidFill>
              </a:defRPr>
            </a:lvl1pPr>
          </a:lstStyle>
          <a:p>
            <a:pPr/>
            <a:r>
              <a:t>CORRECT:</a:t>
            </a:r>
          </a:p>
        </p:txBody>
      </p:sp>
      <p:sp>
        <p:nvSpPr>
          <p:cNvPr id="134" name="Rounded Rectangle 4"/>
          <p:cNvSpPr/>
          <p:nvPr/>
        </p:nvSpPr>
        <p:spPr>
          <a:xfrm>
            <a:off x="548640" y="1828800"/>
            <a:ext cx="5486401" cy="155448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5"/>
          <p:cNvSpPr txBox="1"/>
          <p:nvPr/>
        </p:nvSpPr>
        <p:spPr>
          <a:xfrm>
            <a:off x="777239" y="1965960"/>
            <a:ext cx="4905523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left &lt; threshold: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drivetrain.set_effort(0.3, 0.3)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left = reflectance.get_left()  # Updates!</a:t>
            </a:r>
          </a:p>
        </p:txBody>
      </p:sp>
      <p:sp>
        <p:nvSpPr>
          <p:cNvPr id="136" name="TextBox 6"/>
          <p:cNvSpPr txBox="1"/>
          <p:nvPr/>
        </p:nvSpPr>
        <p:spPr>
          <a:xfrm>
            <a:off x="6446519" y="1280160"/>
            <a:ext cx="104585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C00000"/>
                </a:solidFill>
              </a:defRPr>
            </a:lvl1pPr>
          </a:lstStyle>
          <a:p>
            <a:pPr/>
            <a:r>
              <a:t>WRONG:</a:t>
            </a:r>
          </a:p>
        </p:txBody>
      </p:sp>
      <p:sp>
        <p:nvSpPr>
          <p:cNvPr id="137" name="Rounded Rectangle 7"/>
          <p:cNvSpPr/>
          <p:nvPr/>
        </p:nvSpPr>
        <p:spPr>
          <a:xfrm>
            <a:off x="6400800" y="1828800"/>
            <a:ext cx="5486400" cy="155448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8"/>
          <p:cNvSpPr txBox="1"/>
          <p:nvPr/>
        </p:nvSpPr>
        <p:spPr>
          <a:xfrm>
            <a:off x="6629400" y="1965960"/>
            <a:ext cx="4478733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left &lt; threshold: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drivetrain.set_effort(0.3, 0.3)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left never changes → infinite loop!</a:t>
            </a:r>
          </a:p>
        </p:txBody>
      </p:sp>
      <p:sp>
        <p:nvSpPr>
          <p:cNvPr id="139" name="TextBox 9"/>
          <p:cNvSpPr txBox="1"/>
          <p:nvPr/>
        </p:nvSpPr>
        <p:spPr>
          <a:xfrm>
            <a:off x="594360" y="3840479"/>
            <a:ext cx="1088136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1B3A5C"/>
                </a:solidFill>
              </a:defRPr>
            </a:lvl1pPr>
          </a:lstStyle>
          <a:p>
            <a:pPr/>
            <a:r>
              <a:t>Rule: Always update the variable you’re checking inside the while loop!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set_effort vs. straight</a:t>
            </a:r>
          </a:p>
        </p:txBody>
      </p:sp>
      <p:sp>
        <p:nvSpPr>
          <p:cNvPr id="143" name="TextBox 3"/>
          <p:cNvSpPr txBox="1"/>
          <p:nvPr/>
        </p:nvSpPr>
        <p:spPr>
          <a:xfrm>
            <a:off x="594360" y="1371600"/>
            <a:ext cx="10881361" cy="3832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drivetrain.straight(30)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Drives exactly 30 cm, then stops.  BLOCKS until done.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drivetrain.set_effort(0.3, 0.3)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Sets motor power and returns IMMEDIATELY.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2E75B6"/>
                </a:solidFill>
              </a:defRPr>
            </a:pPr>
            <a:r>
              <a:t>Why set_effort?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We need to check the sensor continuously.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straight() would drive the whole distance before we could check!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Your Turn!</a:t>
            </a:r>
          </a:p>
        </p:txBody>
      </p:sp>
      <p:sp>
        <p:nvSpPr>
          <p:cNvPr id="147" name="TextBox 3"/>
          <p:cNvSpPr txBox="1"/>
          <p:nvPr/>
        </p:nvSpPr>
        <p:spPr>
          <a:xfrm>
            <a:off x="594360" y="1371600"/>
            <a:ext cx="5852161" cy="3266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Exercise: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Place robot inside the taped circle.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Program it to: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Wait for button press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Drive forward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Stop when it detects the line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>
                <a:solidFill>
                  <a:srgbClr val="2E75B6"/>
                </a:solidFill>
              </a:defRPr>
            </a:pPr>
            <a:r>
              <a:t>Starter code provided — fill in the missing parts.</a:t>
            </a:r>
          </a:p>
        </p:txBody>
      </p:sp>
      <p:sp>
        <p:nvSpPr>
          <p:cNvPr id="148" name="TextBox 4"/>
          <p:cNvSpPr txBox="1"/>
          <p:nvPr/>
        </p:nvSpPr>
        <p:spPr>
          <a:xfrm>
            <a:off x="6903719" y="1371600"/>
            <a:ext cx="4480562" cy="1793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Checkpoints: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Robot drives forward?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Robot stops at the line?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Print shows sensor values?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Connection to Next Lesson</a:t>
            </a:r>
          </a:p>
        </p:txBody>
      </p:sp>
      <p:sp>
        <p:nvSpPr>
          <p:cNvPr id="152" name="TextBox 3"/>
          <p:cNvSpPr txBox="1"/>
          <p:nvPr/>
        </p:nvSpPr>
        <p:spPr>
          <a:xfrm>
            <a:off x="594360" y="1371600"/>
            <a:ext cx="10881361" cy="378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Today: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Robot drives to the edge and STOPS.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Next lesson (Lesson 3):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Robot drives to the edge and TURNS AROUND!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if/else statements — making decisions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“Bounce driving” — robot bounces between edges of the circle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Preview:</a:t>
            </a:r>
          </a:p>
        </p:txBody>
      </p:sp>
      <p:sp>
        <p:nvSpPr>
          <p:cNvPr id="153" name="Rounded Rectangle 4"/>
          <p:cNvSpPr/>
          <p:nvPr/>
        </p:nvSpPr>
        <p:spPr>
          <a:xfrm>
            <a:off x="2488136" y="5065967"/>
            <a:ext cx="6858001" cy="155448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5"/>
          <p:cNvSpPr txBox="1"/>
          <p:nvPr/>
        </p:nvSpPr>
        <p:spPr>
          <a:xfrm>
            <a:off x="2716735" y="5203127"/>
            <a:ext cx="5332312" cy="98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left &gt; threshold: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drivetrain.turn(180)  # Turn around!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else: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drivetrain.set_effort(0.3, 0.3)  # Keep going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